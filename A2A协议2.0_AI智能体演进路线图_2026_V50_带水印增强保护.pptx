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5" d="100"/>
          <a:sy n="125" d="100"/>
        </p:scale>
        <p:origin x="326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 i="0">
                <a:solidFill>
                  <a:srgbClr val="00C8FF"/>
                </a:solidFill>
                <a:latin typeface="微软雅黑"/>
              </a:defRPr>
            </a:pPr>
            <a:r>
              <a:t>【A2A协议与AI智能体生态】PPT完整升级内容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7765" y="3017520"/>
            <a:ext cx="56316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 i="0">
                <a:solidFill>
                  <a:srgbClr val="B4B4B4"/>
                </a:solidFill>
                <a:latin typeface="微软雅黑"/>
              </a:defRPr>
            </a:pPr>
            <a:r>
              <a:t>版本：</a:t>
            </a:r>
            <a:r>
              <a:rPr lang="en-US"/>
              <a:t>V50.0</a:t>
            </a:r>
            <a:r>
              <a:t> | 更新日期：</a:t>
            </a:r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8</a:t>
            </a:r>
            <a:r>
              <a:rPr lang="zh-CN" altLang="en-US"/>
              <a:t>月</a:t>
            </a:r>
            <a:r>
              <a:t> | 基于2026年最新AI技术演进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008CBE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═══════════════════════════════════════════════════════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 i="0">
                <a:solidFill>
                  <a:srgbClr val="969696"/>
                </a:solidFill>
                <a:latin typeface="微软雅黑"/>
              </a:defRPr>
            </a:pPr>
            <a:r>
              <a:t>© 2026 A2A协议联盟 | 版权所有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5135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1: A2A</a:t>
            </a:r>
            <a:r>
              <a:rPr lang="zh-CN" altLang="en-US"/>
              <a:t>协议核心架构演进（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1E64B4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914828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主题赛道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相关方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AI大模型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核心技术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技术要点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应用场景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商业价值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）智能体互联标准化（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A2A v1.0</a:t>
                      </a:r>
                      <a:r>
                        <a:rPr lang="zh-CN" altLang="en-US"/>
                        <a:t>落地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Linux</a:t>
                      </a:r>
                      <a:r>
                        <a:rPr lang="zh-CN" altLang="en-US"/>
                        <a:t>基金会（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AAIF</a:t>
                      </a:r>
                      <a:r>
                        <a:rPr lang="zh-CN" altLang="en-US"/>
                        <a:t>治理委员会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250+</a:t>
                      </a:r>
                      <a:r>
                        <a:rPr lang="zh-CN" altLang="en-US"/>
                        <a:t>成员企业（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150+</a:t>
                      </a:r>
                      <a:r>
                        <a:rPr lang="zh-CN" altLang="en-US"/>
                        <a:t>支持组织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（1）GPT-5.6 Sol（2）Qwen3.8（3）Gemini 3.7 Flash（4）GLM-5.3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（1）A2A v1.0</a:t>
                      </a:r>
                      <a:r>
                        <a:rPr lang="zh-CN" altLang="en-US"/>
                        <a:t>签名</a:t>
                      </a:r>
                      <a:r>
                        <a:rPr lang="en-US"/>
                        <a:t>Agent Card（2）MCP</a:t>
                      </a:r>
                      <a:r>
                        <a:rPr lang="zh-CN" altLang="en-US"/>
                        <a:t>工具互联（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）多协议绑定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（1）GitHub 22K+ Stars（2）5</a:t>
                      </a:r>
                      <a:r>
                        <a:rPr lang="zh-CN" altLang="en-US"/>
                        <a:t>语言</a:t>
                      </a:r>
                      <a:r>
                        <a:rPr lang="en-US"/>
                        <a:t>SDK</a:t>
                      </a:r>
                      <a:r>
                        <a:rPr lang="zh-CN" altLang="en-US"/>
                        <a:t>覆盖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）加密身份验证（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）企业多租户（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）版本协商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）多智能体协作（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）企业流程自动化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市场</a:t>
                      </a:r>
                      <a:r>
                        <a:rPr lang="en-US" altLang="zh-CN"/>
                        <a:t>9000</a:t>
                      </a:r>
                      <a:r>
                        <a:rPr lang="zh-CN" altLang="en-US"/>
                        <a:t>亿美元（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）中国核心产业</a:t>
                      </a:r>
                      <a:r>
                        <a:rPr lang="en-US" altLang="zh-CN"/>
                        <a:t>1.2</a:t>
                      </a:r>
                      <a:r>
                        <a:rPr lang="zh-CN" altLang="en-US"/>
                        <a:t>万亿元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）智能体互联规模化（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）国标</a:t>
                      </a:r>
                      <a:r>
                        <a:rPr lang="en-US" altLang="zh-CN"/>
                        <a:t>GB/Z 185</a:t>
                      </a:r>
                      <a:r>
                        <a:rPr lang="zh-CN" altLang="en-US"/>
                        <a:t>落地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AAIF</a:t>
                      </a:r>
                      <a:r>
                        <a:rPr lang="zh-CN" altLang="en-US"/>
                        <a:t>技术委员会（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）中国电子技术标准化研究院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500+</a:t>
                      </a:r>
                      <a:r>
                        <a:rPr lang="zh-CN" altLang="en-US"/>
                        <a:t>成员企业（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200+</a:t>
                      </a:r>
                      <a:r>
                        <a:rPr lang="zh-CN" altLang="en-US"/>
                        <a:t>试点企业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）下一代旗舰模型（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2M+</a:t>
                      </a:r>
                      <a:r>
                        <a:rPr lang="zh-CN" altLang="en-US"/>
                        <a:t>上下文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）信任链标准</a:t>
                      </a:r>
                      <a:r>
                        <a:rPr lang="en-US" altLang="zh-CN"/>
                        <a:t>RFC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）级联幻觉检测（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）跨域发现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）互联延迟</a:t>
                      </a:r>
                      <a:r>
                        <a:rPr lang="en-US" altLang="zh-CN"/>
                        <a:t>&lt;50ms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）可用性</a:t>
                      </a:r>
                      <a:r>
                        <a:rPr lang="en-US" altLang="zh-CN"/>
                        <a:t>99.9%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）智能体身份码体系（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）能力描述标准化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）工业制造（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）金融服务（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）政务治理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）智能体市场超千亿（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）互联服务收入翻倍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）跨行业智能体网络（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/>
                        <a:t>A2A+MCP</a:t>
                      </a:r>
                      <a:r>
                        <a:rPr lang="zh-CN" altLang="en-US"/>
                        <a:t>深度融合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AAIF</a:t>
                      </a:r>
                      <a:r>
                        <a:rPr lang="zh-CN" altLang="en-US"/>
                        <a:t>标准工作组（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）行业联盟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1000+</a:t>
                      </a:r>
                      <a:r>
                        <a:rPr lang="zh-CN" altLang="en-US"/>
                        <a:t>成员企业（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500+</a:t>
                      </a:r>
                      <a:r>
                        <a:rPr lang="zh-CN" altLang="en-US"/>
                        <a:t>应用案例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）多模态原生模型（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）端云协同推理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）智能体支付协议</a:t>
                      </a:r>
                      <a:r>
                        <a:rPr lang="en-US" altLang="zh-CN"/>
                        <a:t>AP2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）安全沙箱（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）联邦认证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）互联延迟</a:t>
                      </a:r>
                      <a:r>
                        <a:rPr lang="en-US" altLang="zh-CN"/>
                        <a:t>&lt;30ms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）并发</a:t>
                      </a:r>
                      <a:r>
                        <a:rPr lang="en-US" altLang="zh-CN"/>
                        <a:t>10</a:t>
                      </a:r>
                      <a:r>
                        <a:rPr lang="zh-CN" altLang="en-US"/>
                        <a:t>万</a:t>
                      </a:r>
                      <a:r>
                        <a:rPr lang="en-US" altLang="zh-CN"/>
                        <a:t>+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）分布式信任机制（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）动态能力协商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）智慧城市（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）医疗协作（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）供应链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）智能体经济初具规模（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）跨行业协作收入占比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）智能体自治网络（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）去中心化治理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AAIF</a:t>
                      </a:r>
                      <a:r>
                        <a:rPr lang="zh-CN" altLang="en-US"/>
                        <a:t>治理委员会（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）开源社区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2000+</a:t>
                      </a:r>
                      <a:r>
                        <a:rPr lang="zh-CN" altLang="en-US"/>
                        <a:t>成员企业（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1000+</a:t>
                      </a:r>
                      <a:r>
                        <a:rPr lang="zh-CN" altLang="en-US"/>
                        <a:t>应用案例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）自主进化模型（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）持续学习框架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）智能体间信任链（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）自愈网络（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）动态路由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）互联延迟</a:t>
                      </a:r>
                      <a:r>
                        <a:rPr lang="en-US" altLang="zh-CN"/>
                        <a:t>&lt;20ms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）并发</a:t>
                      </a:r>
                      <a:r>
                        <a:rPr lang="en-US" altLang="zh-CN"/>
                        <a:t>100</a:t>
                      </a:r>
                      <a:r>
                        <a:rPr lang="zh-CN" altLang="en-US"/>
                        <a:t>万</a:t>
                      </a:r>
                      <a:r>
                        <a:rPr lang="en-US" altLang="zh-CN"/>
                        <a:t>+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）零知识证明认证（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）智能体信誉评分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）全自动工厂（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）无人零售（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）智慧交通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）智能体自治市场超</a:t>
                      </a:r>
                      <a:r>
                        <a:rPr lang="en-US" altLang="zh-CN"/>
                        <a:t>5000</a:t>
                      </a:r>
                      <a:r>
                        <a:rPr lang="zh-CN" altLang="en-US"/>
                        <a:t>亿（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）运维成本降</a:t>
                      </a:r>
                      <a:r>
                        <a:rPr lang="en-US" altLang="zh-CN"/>
                        <a:t>60%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）全球智能体互联网（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A2A</a:t>
                      </a:r>
                      <a:r>
                        <a:rPr lang="zh-CN" altLang="en-US"/>
                        <a:t>成为基础设施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）国际标准化组织（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）各国监管机构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5000+</a:t>
                      </a:r>
                      <a:r>
                        <a:rPr lang="zh-CN" altLang="en-US"/>
                        <a:t>成员企业（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）覆盖全行业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）通用智能体基座（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）跨模态统一架构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）全球互操作标准（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）量子安全通信（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）边缘智能体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）互联延迟</a:t>
                      </a:r>
                      <a:r>
                        <a:rPr lang="en-US" altLang="zh-CN"/>
                        <a:t>&lt;10ms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）全球覆盖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）统一身份体系（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）跨域无缝协作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）全行业智能体化（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）人机共生社会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）智能体经济超万亿（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）占</a:t>
                      </a:r>
                      <a:r>
                        <a:rPr lang="en-US" altLang="zh-CN"/>
                        <a:t>GDP</a:t>
                      </a:r>
                      <a:r>
                        <a:rPr lang="zh-CN" altLang="en-US"/>
                        <a:t>比重</a:t>
                      </a:r>
                      <a:r>
                        <a:rPr lang="en-US" altLang="zh-CN"/>
                        <a:t>5%+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）智能体社会融合（只作为参考依据）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）全球治理机构（只作为参考依据）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）全行业覆盖（只作为参考依据）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）超级智能体（只作为参考依据）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）自进化架构（只作为参考依据）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）实时全球互联（只作为参考依据）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）完全自治（只作为参考依据）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）全场景覆盖（只作为参考依据）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）智能体主导经济（只作为参考依据）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）智能体文明雏形（只作为参考依据）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）人机共治委员会（只作为参考依据）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）全球协作网络（只作为参考依据）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）意识级模型（只作为参考依据）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）量子互联（只作为参考依据）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）零延迟协作（只作为参考依据）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）自我治理（只作为参考依据）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）全维度服务（只作为参考依据）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）智能体经济主体（只作为参考依据）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）智能体生态成熟（只作为参考依据）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）自治治理体系（只作为参考依据）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）全物种互联（只作为参考依据）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）通用超级智能（只作为参考依据）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）生物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数字融合（只作为参考依据）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）无限扩展（只作为参考依据）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）完全可信（只作为参考依据）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）全领域渗透（只作为参考依据）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）经济结构重塑（只作为参考依据）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）智能体全球化（只作为参考依据）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）全球统一治理（只作为参考依据）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）无边界协作（只作为参考依据）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）超越人类认知（只作为参考依据）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）全息互联（只作为参考依据）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）瞬时响应（只作为参考依据）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）绝对安全（只作为参考依据）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）全时空服务（只作为参考依据）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）新经济范式（只作为参考依据）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）智能体纪元（只作为参考依据）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）人机命运共同体（只作为参考依据）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）全宇宙互联（只作为参考依据）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）终极智能形态（只作为参考依据）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）意识互联（只作为参考依据）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）无限可能（只作为参考依据）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）完美信任（只作为参考依据）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）全维度存在（只作为参考依据）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）文明跃迁（只作为参考依据）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0246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2: </a:t>
            </a:r>
            <a:r>
              <a:rPr lang="zh-CN" altLang="en-US"/>
              <a:t>价值维度评估体系（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3296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161156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评估维度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指标体系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权重分配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评估方法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评分标准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结果应用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优化策略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预期收益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）技术创新（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）商业落地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）基准测试得分（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）上下文长度（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）实测验证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）技术</a:t>
                      </a:r>
                      <a:r>
                        <a:rPr lang="en-US" altLang="zh-CN"/>
                        <a:t>30%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）商业</a:t>
                      </a:r>
                      <a:r>
                        <a:rPr lang="en-US" altLang="zh-CN"/>
                        <a:t>40%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）生态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）基准测试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实测（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）第三方审计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）厂商官方发布（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）独立评测机构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（1）GPQA 90+</a:t>
                      </a:r>
                      <a:r>
                        <a:rPr lang="zh-CN" altLang="en-US"/>
                        <a:t>为优（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/>
                        <a:t>SWE-bench 85+</a:t>
                      </a:r>
                      <a:r>
                        <a:rPr lang="zh-CN" altLang="en-US"/>
                        <a:t>为优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）模型选型决策（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）投资方向判断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）持续迭代机制（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）季度复评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ROI 20%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）选型准确率提升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）智能体协作效率（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）安全合规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）互联成功率（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）任务完成率（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）安全事件数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）效率</a:t>
                      </a:r>
                      <a:r>
                        <a:rPr lang="en-US" altLang="zh-CN"/>
                        <a:t>35%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</a:t>
                      </a:r>
                      <a:r>
                        <a:rPr lang="en-US" altLang="zh-CN"/>
                        <a:t>35%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）成本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A2A</a:t>
                      </a:r>
                      <a:r>
                        <a:rPr lang="zh-CN" altLang="en-US"/>
                        <a:t>互联实测（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）红队测试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AAIF</a:t>
                      </a:r>
                      <a:r>
                        <a:rPr lang="zh-CN" altLang="en-US"/>
                        <a:t>认证数据（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）企业部署反馈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）互联成功率</a:t>
                      </a:r>
                      <a:r>
                        <a:rPr lang="en-US" altLang="zh-CN"/>
                        <a:t>99%+</a:t>
                      </a:r>
                      <a:r>
                        <a:rPr lang="zh-CN" altLang="en-US"/>
                        <a:t>为优（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）零安全事件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）部署优先级排序（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）合规审查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）动态权重调整（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）年度标准更新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）部署效率提升</a:t>
                      </a:r>
                      <a:r>
                        <a:rPr lang="en-US" altLang="zh-CN"/>
                        <a:t>40%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）合规成本降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）跨行业价值（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）可持续性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）行业渗透率（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）碳足迹（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）用户满意度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）价值</a:t>
                      </a:r>
                      <a:r>
                        <a:rPr lang="en-US" altLang="zh-CN"/>
                        <a:t>40%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）可持续</a:t>
                      </a:r>
                      <a:r>
                        <a:rPr lang="en-US" altLang="zh-CN"/>
                        <a:t>30%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）创新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）行业调研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碳审计（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NPS</a:t>
                      </a:r>
                      <a:r>
                        <a:rPr lang="zh-CN" altLang="en-US"/>
                        <a:t>调查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）行业协会数据（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ESG</a:t>
                      </a:r>
                      <a:r>
                        <a:rPr lang="zh-CN" altLang="en-US"/>
                        <a:t>报告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）渗透率</a:t>
                      </a:r>
                      <a:r>
                        <a:rPr lang="en-US" altLang="zh-CN"/>
                        <a:t>50%+</a:t>
                      </a:r>
                      <a:r>
                        <a:rPr lang="zh-CN" altLang="en-US"/>
                        <a:t>为优（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）碳中和达标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）行业推广策略（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）绿色认证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）行业定制评估（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）季度碳追踪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）行业收入增长</a:t>
                      </a:r>
                      <a:r>
                        <a:rPr lang="en-US" altLang="zh-CN"/>
                        <a:t>50%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）碳减排</a:t>
                      </a:r>
                      <a:r>
                        <a:rPr lang="en-US" altLang="zh-CN"/>
                        <a:t>20%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）自治能力（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）社会影响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）自治等级（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）就业影响（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）公平性指标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</a:t>
                      </a:r>
                      <a:r>
                        <a:rPr lang="en-US" altLang="zh-CN"/>
                        <a:t>30%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）社会</a:t>
                      </a:r>
                      <a:r>
                        <a:rPr lang="en-US" altLang="zh-CN"/>
                        <a:t>40%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）经济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）自治等级认证（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）社会影响评估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）国际认证机构（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）社会学研究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L4</a:t>
                      </a:r>
                      <a:r>
                        <a:rPr lang="zh-CN" altLang="en-US"/>
                        <a:t>自治为优（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）正面社会影响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）政策制定参考（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）伦理审查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）伦理框架迭代（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）年度社会审计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）社会接受度提升（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）政策风险降低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）全球竞争力（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）文明贡献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）全球份额（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）标准话语权（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）文明指数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）竞争力</a:t>
                      </a:r>
                      <a:r>
                        <a:rPr lang="en-US" altLang="zh-CN"/>
                        <a:t>40%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）标准</a:t>
                      </a:r>
                      <a:r>
                        <a:rPr lang="en-US" altLang="zh-CN"/>
                        <a:t>30%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）文明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）全球对标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标准贡献度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）国际组织数据（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）学术研究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）全球份额</a:t>
                      </a:r>
                      <a:r>
                        <a:rPr lang="en-US" altLang="zh-CN"/>
                        <a:t>30%+</a:t>
                      </a:r>
                      <a:r>
                        <a:rPr lang="zh-CN" altLang="en-US"/>
                        <a:t>为优（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）标准主导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）国家战略参考（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）国际谈判依据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）五年战略规划（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）动态对标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）国际地位提升（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）标准主导权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）智能体成熟度（只作为参考依据）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）综合成熟度指数（只作为参考依据）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）均衡权重（只作为参考依据）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）全自动评估（只作为参考依据）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）全球数据湖（只作为参考依据）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）全球治理（只作为参考依据）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）文明级收益（只作为参考依据）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）生态健康度（只作为参考依据）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）生态多样性指数（只作为参考依据）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）生态优先（只作为参考依据）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）实时监测（只作为参考依据）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）全链路数据（只作为参考依据）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）生态保护（只作为参考依据）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）自适应调整（只作为参考依据）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）可持续收益（只作为参考依据）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）人机协同度（只作为参考依据）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）协同效率指数（只作为参考依据）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）协同优先（只作为参考依据）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）行为分析（只作为参考依据）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）全维度数据（只作为参考依据）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）协同标准（只作为参考依据）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）协同优化（只作为参考依据）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）持续进化（只作为参考依据）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）协同红利（只作为参考依据）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）文明融合度（只作为参考依据）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）融合指数（只作为参考依据）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）融合优先（只作为参考依据）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）全息评估（只作为参考依据）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）全时空数据（只作为参考依据）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）融合标准（只作为参考依据）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）文明规划（只作为参考依据）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）文明跃迁收益（只作为参考依据）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）终极价值（只作为参考依据）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）终极价值指数（只作为参考依据）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）价值优先（只作为参考依据）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）全知评估（只作为参考依据）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）全维度数据（只作为参考依据）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）文明决策（只作为参考依据）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）无限收益（只作为参考依据）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5598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3: </a:t>
            </a:r>
            <a:r>
              <a:rPr lang="zh-CN" altLang="en-US"/>
              <a:t>安全组件体系（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3296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036577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安全领域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组件类型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防护层级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加密算法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认证标准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合规要求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监控体系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应急响应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安全审计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）智能体安全（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）数据安全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）签名</a:t>
                      </a:r>
                      <a:r>
                        <a:rPr lang="en-US" altLang="zh-CN"/>
                        <a:t>Agent Card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）信任链验证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）通信层（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）数据层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AES-256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）国密</a:t>
                      </a:r>
                      <a:r>
                        <a:rPr lang="en-US" altLang="zh-CN"/>
                        <a:t>SM4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RSA-4096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（1）AAIF</a:t>
                      </a:r>
                      <a:r>
                        <a:rPr lang="zh-CN" altLang="en-US"/>
                        <a:t>安全标准（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）国标</a:t>
                      </a:r>
                      <a:r>
                        <a:rPr lang="en-US"/>
                        <a:t>GB/Z 185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）智能体互联国标（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）数据安全法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）级联幻觉检测（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）异常行为分析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）伪造智能体拦截（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）实时告警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）全链路审计（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）季度安全评估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）信任链安全（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）隐私计算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）零知识证明（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）联邦认证（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）安全沙箱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）身份层（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）传输层（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）计算层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）后量子加密（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）同态加密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（1）AAIF</a:t>
                      </a:r>
                      <a:r>
                        <a:rPr lang="zh-CN" altLang="en-US"/>
                        <a:t>信任链</a:t>
                      </a:r>
                      <a:r>
                        <a:rPr lang="en-US"/>
                        <a:t>RFC（2）ISO 27001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）个人信息保护法（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）智能体行为规范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）实时信任评分（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）威胁情报共享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）自动隔离（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）秒级响应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）持续审计（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）合规自动化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）跨域安全（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）供应链安全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）跨域认证网关（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）供应链溯源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）边界层（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）供应链层（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）运行时层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）量子密钥分发（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）格密码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）跨域互认标准（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）供应链安全标准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）关键信息基础设施保护（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）跨境数据规则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）全域态势感知（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威胁狩猎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）自动修复（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）分钟级恢复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）供应链全审计（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）年度红蓝对抗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）自治安全（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）伦理安全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）自治行为约束（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）伦理审查引擎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）决策层（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）行为层（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）伦理层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）全同态加密（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）安全多方计算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）自治安全标准（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伦理准则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）智能体行为监管（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）伦理审查制度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）行为预测（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）伦理风险预警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）自动干预（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）人类否决权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）行为全记录（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）伦理审计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）全球安全治理（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）量子安全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）全球安全联盟（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）量子安全基础设施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）量子层（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）文明层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）量子加密全覆盖（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）抗量子算法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）全球安全公约（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）量子安全标准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安全条约（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）量子安全法规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）全球威胁情报（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）量子安全监测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）全球协同响应（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）秒级处置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）全球审计互认（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）实时合规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）自免疫安全（只作为参考依据）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）自免疫系统（只作为参考依据）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）全层级（只作为参考依据）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）未知算法（只作为参考依据）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）自进化标准（只作为参考依据）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）自治法规（只作为参考依据）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）全知监控（只作为参考依据）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）自愈响应（只作为参考依据）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）自审计（只作为参考依据）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）生态安全（只作为参考依据）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）生态免疫系统（只作为参考依据）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）生态层（只作为参考依据）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）生物加密（只作为参考依据）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）生态法规（只作为参考依据）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）生态监测（只作为参考依据）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）生态自愈（只作为参考依据）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）生态审计（只作为参考依据）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）文明安全（只作为参考依据）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）文明防护体系（只作为参考依据）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）文明层（只作为参考依据）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）意识加密（只作为参考依据）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）文明公约（只作为参考依据）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）文明监测（只作为参考依据）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）文明守护（只作为参考依据）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）文明审计（只作为参考依据）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）绝对安全（只作为参考依据）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）绝对防护体系（只作为参考依据）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）完美加密（只作为参考依据）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）绝对法规（只作为参考依据）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）全知感知（只作为参考依据）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）瞬时响应（只作为参考依据）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）完美审计（只作为参考依据）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）安全纪元（只作为参考依据）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）终极安全体系（只作为参考依据）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）全时空（只作为参考依据）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）终极加密（只作为参考依据）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）终极法规（只作为参考依据）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）全维度感知（只作为参考依据）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）完美守护（只作为参考依据）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）终极审计（只作为参考依据）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5598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4: </a:t>
            </a:r>
            <a:r>
              <a:rPr lang="zh-CN" altLang="en-US"/>
              <a:t>部署策略规划（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1E64B4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594950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部署模式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架构设计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基础设施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网络架构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数据存储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容灾方案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性能优化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成本控制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扩展策略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（1）AI</a:t>
                      </a:r>
                      <a:r>
                        <a:rPr lang="zh-CN" altLang="en-US"/>
                        <a:t>云（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）混合部署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）智能体原生架构（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）微服务化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）智算</a:t>
                      </a:r>
                      <a:r>
                        <a:rPr lang="en-US" altLang="zh-CN"/>
                        <a:t>2185 </a:t>
                      </a:r>
                      <a:r>
                        <a:rPr lang="en-US"/>
                        <a:t>EFLOPS（2）42</a:t>
                      </a:r>
                      <a:r>
                        <a:rPr lang="zh-CN" altLang="en-US"/>
                        <a:t>个万卡集群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）多地多活（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SD-WAN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）分布式存储（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）对象存储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）两地三中心（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RPO&lt;1min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）峰谷定价优化（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）弹性伸缩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）按需计费（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）资源池化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）水平扩展（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）智能调度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）边缘智能体（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）端云协同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云协同架构（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）轻量化部署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）边缘节点</a:t>
                      </a:r>
                      <a:r>
                        <a:rPr lang="en-US" altLang="zh-CN"/>
                        <a:t>10</a:t>
                      </a:r>
                      <a:r>
                        <a:rPr lang="zh-CN" altLang="en-US"/>
                        <a:t>万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5G</a:t>
                      </a:r>
                      <a:r>
                        <a:rPr lang="zh-CN" altLang="en-US"/>
                        <a:t>专网覆盖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）确定性网络（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TSN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）边缘缓存（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）数据分级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）边缘自治（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）云端接管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）边缘推理加速（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）模型压缩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）边缘计算降本</a:t>
                      </a:r>
                      <a:r>
                        <a:rPr lang="en-US" altLang="zh-CN"/>
                        <a:t>40%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）带宽优化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）边缘节点弹性（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）智能路由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）联邦部署（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）隐私计算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）联邦学习架构（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）数据不出域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）联邦节点</a:t>
                      </a:r>
                      <a:r>
                        <a:rPr lang="en-US" altLang="zh-CN"/>
                        <a:t>1000+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）可信执行环境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）加密通信（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）零信任网络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）联邦数据湖（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）密态存储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）联邦容灾（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）跨域恢复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）安全聚合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）隐私计算降本（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）合规成本优化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）联邦扩展（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）动态加入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）自治部署（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）自运维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）自治运维架构（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）意图驱动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）自治数据中心（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）绿色能源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）自组网（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）卫星互联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）自治数据管理（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）智能分层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）自愈系统（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）零人工干预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）自优化调度（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）预测性扩容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）自治运维降本</a:t>
                      </a:r>
                      <a:r>
                        <a:rPr lang="en-US" altLang="zh-CN"/>
                        <a:t>60%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）能效优化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）自扩展（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）智能规划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）全球部署（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）星际预备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）全球统一架构（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）星际兼容设计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）全球数据中心（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）太空节点预备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）全球骨干网（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）卫星星座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）全球数据湖（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）星际存储预备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）全球容灾（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）星际备份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）全球调度（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）星际延迟优化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）全球资源池（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）成本最优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）全球扩展（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）星际扩展预备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）星际部署（只作为参考依据）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）星际架构（只作为参考依据）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）太空基础设施（只作为参考依据）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）星际网络（只作为参考依据）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）星际存储（只作为参考依据）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）星际容灾（只作为参考依据）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）星际成本（只作为参考依据）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）星际扩展（只作为参考依据）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）全息部署（只作为参考依据）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）全息架构（只作为参考依据）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）全息基础设施（只作为参考依据）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）全息网络（只作为参考依据）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）全息存储（只作为参考依据）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）全息容灾（只作为参考依据）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）全息成本（只作为参考依据）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）全息扩展（只作为参考依据）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）意识部署（只作为参考依据）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）意识架构（只作为参考依据）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）意识基础设施（只作为参考依据）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）意识网络（只作为参考依据）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）意识存储（只作为参考依据）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）意识容灾（只作为参考依据）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）意识成本（只作为参考依据）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）意识扩展（只作为参考依据）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）维度部署（只作为参考依据）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）维度架构（只作为参考依据）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）维度基础设施（只作为参考依据）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）维度网络（只作为参考依据）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）维度存储（只作为参考依据）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）维度容灾（只作为参考依据）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）维度成本（只作为参考依据）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）维度扩展（只作为参考依据）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）终极部署（只作为参考依据）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）终极架构（只作为参考依据）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）终极基础设施（只作为参考依据）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）终极网络（只作为参考依据）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）终极存储（只作为参考依据）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）终极容灾（只作为参考依据）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）终极成本（只作为参考依据）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）终极扩展（只作为参考依据）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8098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5: AI</a:t>
            </a:r>
            <a:r>
              <a:rPr lang="zh-CN" altLang="en-US"/>
              <a:t>创造能力演进（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643296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570701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能力维度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推理能力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学习能力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创造能力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协作能力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决策能力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进化能力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）认知升维（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）多模态融合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）世界模型崛起（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）深度逻辑推理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sv-SE"/>
                        <a:t>（1）Qwen3.8 2.4T（2）GPT-5.6 Sol（3）Gemini 3.7 Flash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GPQA 94.6%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SWE-bench 94.6%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1M</a:t>
                      </a:r>
                      <a:r>
                        <a:rPr lang="zh-CN" altLang="en-US"/>
                        <a:t>上下文增量学习（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）持续微调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）多模态内容生成（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）代码自动生成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（1）A2A+MCP</a:t>
                      </a:r>
                      <a:r>
                        <a:rPr lang="zh-CN" altLang="en-US"/>
                        <a:t>多智能体（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）人机协同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）数据驱动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）多目标优化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）自我纠错（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）参数优化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）具身创造（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）物理世界交互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）具身智能模型（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）物理仿真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）具身大模型（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）多模态感知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）物理推理（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）因果推断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）具身持续学习（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）技能迁移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）物理世界创造（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）机器人设计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）人机物协同（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）具身协作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）物理决策（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）安全约束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）具身进化（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）技能积累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）科学发现（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）自主研究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）科学大模型（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）假设生成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）科学推理模型（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）实验设计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）定理证明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）自主文献学习（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）知识图谱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）科学发现（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）新材料设计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）科研协作（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）跨学科协同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）科学决策（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）实验优化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）科学进化（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）范式突破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）艺术创造（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）文化生成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）艺术大模型（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）风格融合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）审美推理模型（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）情感计算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）审美推理（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）文化理解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）风格学习（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）文化传承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）原创艺术（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）文化创新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）人机共创（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）文化协作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）审美决策（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）文化判断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）艺术进化（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）风格演变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）通用创造（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）全维度创新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）通用创造模型（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）跨域迁移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）全模态理解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）元学习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）终身学习（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）自主进化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）全维度创造（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）文明级创新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）全智能体协作（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）人机共生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）通用决策（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）价值对齐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）自主进化（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）文明贡献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）超级创造模型（只作为参考依据）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）超级推理（只作为参考依据）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）超级学习（只作为参考依据）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）超级决策（只作为参考依据）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）无限创造模型（只作为参考依据）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）无限推理（只作为参考依据）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）无限学习（只作为参考依据）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）无限决策（只作为参考依据）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）意识创造模型（只作为参考依据）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）意识推理（只作为参考依据）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）意识学习（只作为参考依据）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）意识决策（只作为参考依据）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）维度创造模型（只作为参考依据）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）维度推理（只作为参考依据）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）维度学习（只作为参考依据）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）维度决策（只作为参考依据）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）终极创造模型（只作为参考依据）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）终极推理（只作为参考依据）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）终极学习（只作为参考依据）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）终极决策（只作为参考依据）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5598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6: </a:t>
            </a:r>
            <a:r>
              <a:rPr lang="zh-CN" altLang="en-US"/>
              <a:t>性能指标体系（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3296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632397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指标类别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响应时间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吞吐量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召回率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F1分数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资源利用率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可用性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年度停机时间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）基础指标（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）实测验证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（1）&lt;100ms（2）P99&lt;200ms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（1）10K QPS（2）</a:t>
                      </a:r>
                      <a:r>
                        <a:rPr lang="zh-CN" altLang="en-US"/>
                        <a:t>峰值</a:t>
                      </a:r>
                      <a:r>
                        <a:rPr lang="en-US" altLang="zh-CN"/>
                        <a:t>50</a:t>
                      </a:r>
                      <a:r>
                        <a:rPr lang="en-US"/>
                        <a:t>K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（1）95%（GPQA 94.6%）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）行业基准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92%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）持续优化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70%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）弹性调度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SLA</a:t>
                      </a:r>
                      <a:r>
                        <a:rPr lang="zh-CN" altLang="en-US"/>
                        <a:t>保障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）约</a:t>
                      </a:r>
                      <a:r>
                        <a:rPr lang="en-US" altLang="zh-CN"/>
                        <a:t>8.8</a:t>
                      </a:r>
                      <a:r>
                        <a:rPr lang="zh-CN" altLang="en-US"/>
                        <a:t>小时（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）目标</a:t>
                      </a:r>
                      <a:r>
                        <a:rPr lang="en-US" altLang="zh-CN"/>
                        <a:t>&lt;4</a:t>
                      </a:r>
                      <a:r>
                        <a:rPr lang="zh-CN" altLang="en-US"/>
                        <a:t>小时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）智能体指标（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）互联性能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（1）&lt;50ms（2）P99&lt;100ms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（1）50K QPS（2）</a:t>
                      </a:r>
                      <a:r>
                        <a:rPr lang="zh-CN" altLang="en-US"/>
                        <a:t>峰值</a:t>
                      </a:r>
                      <a:r>
                        <a:rPr lang="en-US" altLang="zh-CN"/>
                        <a:t>200</a:t>
                      </a:r>
                      <a:r>
                        <a:rPr lang="en-US"/>
                        <a:t>K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97%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）互联成功率</a:t>
                      </a:r>
                      <a:r>
                        <a:rPr lang="en-US" altLang="zh-CN"/>
                        <a:t>99%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93%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）任务完成率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）端到端优化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75%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）智能调度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）多活保障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）约</a:t>
                      </a:r>
                      <a:r>
                        <a:rPr lang="en-US" altLang="zh-CN"/>
                        <a:t>4.4</a:t>
                      </a:r>
                      <a:r>
                        <a:rPr lang="zh-CN" altLang="en-US"/>
                        <a:t>小时（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）目标</a:t>
                      </a:r>
                      <a:r>
                        <a:rPr lang="en-US" altLang="zh-CN"/>
                        <a:t>&lt;2</a:t>
                      </a:r>
                      <a:r>
                        <a:rPr lang="zh-CN" altLang="en-US"/>
                        <a:t>小时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）边缘指标（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）实时性能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（1）&lt;30ms（2）P99&lt;60ms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（1）100K QPS（2）</a:t>
                      </a:r>
                      <a:r>
                        <a:rPr lang="zh-CN" altLang="en-US"/>
                        <a:t>峰值</a:t>
                      </a:r>
                      <a:r>
                        <a:rPr lang="en-US" altLang="zh-CN"/>
                        <a:t>500</a:t>
                      </a:r>
                      <a:r>
                        <a:rPr lang="en-US"/>
                        <a:t>K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98%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）边缘推理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）实时处理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96%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）边缘优化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80%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）边缘调度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99.99%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）边缘自治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）约</a:t>
                      </a:r>
                      <a:r>
                        <a:rPr lang="en-US" altLang="zh-CN"/>
                        <a:t>53</a:t>
                      </a:r>
                      <a:r>
                        <a:rPr lang="zh-CN" altLang="en-US"/>
                        <a:t>分钟（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）目标</a:t>
                      </a:r>
                      <a:r>
                        <a:rPr lang="en-US" altLang="zh-CN"/>
                        <a:t>&lt;30</a:t>
                      </a:r>
                      <a:r>
                        <a:rPr lang="zh-CN" altLang="en-US"/>
                        <a:t>分钟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）自治指标（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（1）&lt;20ms（2）P99&lt;40ms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（1）500K QPS（2）</a:t>
                      </a:r>
                      <a:r>
                        <a:rPr lang="zh-CN" altLang="en-US"/>
                        <a:t>峰值</a:t>
                      </a:r>
                      <a:r>
                        <a:rPr lang="en-US" altLang="zh-CN"/>
                        <a:t>2</a:t>
                      </a:r>
                      <a:r>
                        <a:rPr lang="en-US"/>
                        <a:t>M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）自治决策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97%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）自学习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98%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85%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）自治调度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99.995%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）约</a:t>
                      </a:r>
                      <a:r>
                        <a:rPr lang="en-US" altLang="zh-CN"/>
                        <a:t>26</a:t>
                      </a:r>
                      <a:r>
                        <a:rPr lang="zh-CN" altLang="en-US"/>
                        <a:t>分钟（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）目标</a:t>
                      </a:r>
                      <a:r>
                        <a:rPr lang="en-US" altLang="zh-CN"/>
                        <a:t>&lt;15</a:t>
                      </a:r>
                      <a:r>
                        <a:rPr lang="zh-CN" altLang="en-US"/>
                        <a:t>分钟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）全球指标（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）极致性能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（1）&lt;10ms（2）P99&lt;20ms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（1）1M QPS（2）</a:t>
                      </a:r>
                      <a:r>
                        <a:rPr lang="zh-CN" altLang="en-US"/>
                        <a:t>峰值</a:t>
                      </a:r>
                      <a:r>
                        <a:rPr lang="en-US" altLang="zh-CN"/>
                        <a:t>10</a:t>
                      </a:r>
                      <a:r>
                        <a:rPr lang="en-US"/>
                        <a:t>M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）全球一致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98%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）全球覆盖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）全球调度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99.999%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）全球容灾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）约</a:t>
                      </a:r>
                      <a:r>
                        <a:rPr lang="en-US" altLang="zh-CN"/>
                        <a:t>5</a:t>
                      </a:r>
                      <a:r>
                        <a:rPr lang="zh-CN" altLang="en-US"/>
                        <a:t>分钟（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）目标</a:t>
                      </a:r>
                      <a:r>
                        <a:rPr lang="en-US" altLang="zh-CN"/>
                        <a:t>&lt;3</a:t>
                      </a:r>
                      <a:r>
                        <a:rPr lang="zh-CN" altLang="en-US"/>
                        <a:t>分钟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）星际指标（只作为参考依据）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&lt;5ms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10M QPS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99.5%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95%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99.9999%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&lt;1</a:t>
                      </a:r>
                      <a:r>
                        <a:rPr lang="zh-CN" altLang="en-US"/>
                        <a:t>分钟（只作为参考依据）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）全息指标（只作为参考依据）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&lt;1ms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100M QPS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99.99%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98%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100%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）零停机（只作为参考依据）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）意识指标（只作为参考依据）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）瞬时（只作为参考依据）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）永恒（只作为参考依据）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）维度指标（只作为参考依据）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）超光速（只作为参考依据）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）永恒（只作为参考依据）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）终极指标（只作为参考依据）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）永恒（只作为参考依据）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5598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7: </a:t>
            </a:r>
            <a:r>
              <a:rPr lang="zh-CN" altLang="en-US"/>
              <a:t>生态系统建设（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1E64B4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360612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生态角色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合作伙伴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开发者社区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开源项目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标准制定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产业联盟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培训体系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孵化加速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生态价值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）基础构建（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）标准引领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150+</a:t>
                      </a:r>
                      <a:r>
                        <a:rPr lang="zh-CN" altLang="en-US"/>
                        <a:t>组织（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250+AAIF</a:t>
                      </a:r>
                      <a:r>
                        <a:rPr lang="zh-CN" altLang="en-US"/>
                        <a:t>成员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（1）22K+ GitHub Stars（2）5</a:t>
                      </a:r>
                      <a:r>
                        <a:rPr lang="zh-CN" altLang="en-US"/>
                        <a:t>语言</a:t>
                      </a:r>
                      <a:r>
                        <a:rPr lang="en-US"/>
                        <a:t>SDK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A2A</a:t>
                      </a:r>
                      <a:r>
                        <a:rPr lang="zh-CN" altLang="en-US"/>
                        <a:t>协议开源（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MCP</a:t>
                      </a:r>
                      <a:r>
                        <a:rPr lang="zh-CN" altLang="en-US"/>
                        <a:t>生态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）国标</a:t>
                      </a:r>
                      <a:r>
                        <a:rPr lang="en-US"/>
                        <a:t>GB/Z 185（2）AAIF</a:t>
                      </a:r>
                      <a:r>
                        <a:rPr lang="zh-CN" altLang="en-US"/>
                        <a:t>标准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AAIF</a:t>
                      </a:r>
                      <a:r>
                        <a:rPr lang="zh-CN" altLang="en-US"/>
                        <a:t>联盟（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）行业工作组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）初级培训（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）认证体系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）创业孵化（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）加速器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）中国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核心产业</a:t>
                      </a:r>
                      <a:r>
                        <a:rPr lang="en-US" altLang="zh-CN"/>
                        <a:t>1.2</a:t>
                      </a:r>
                      <a:r>
                        <a:rPr lang="zh-CN" altLang="en-US"/>
                        <a:t>万亿元（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）生态初具规模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）规模扩展（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）行业渗透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500+</a:t>
                      </a:r>
                      <a:r>
                        <a:rPr lang="zh-CN" altLang="en-US"/>
                        <a:t>组织（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）行业全覆盖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（1）50K+ Stars（2）10</a:t>
                      </a:r>
                      <a:r>
                        <a:rPr lang="zh-CN" altLang="en-US"/>
                        <a:t>语言</a:t>
                      </a:r>
                      <a:r>
                        <a:rPr lang="en-US"/>
                        <a:t>SDK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）行业解决方案开源（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）工具链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）国际互认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）行业联盟（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）跨行业协作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）中级培训（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）行业认证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）行业孵化（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）产业基金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）生态价值翻倍（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）行业收入占比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）全球协作（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）开放治理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1000+</a:t>
                      </a:r>
                      <a:r>
                        <a:rPr lang="zh-CN" altLang="en-US"/>
                        <a:t>组织（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）全球覆盖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（1）100K+ Stars（2）</a:t>
                      </a:r>
                      <a:r>
                        <a:rPr lang="zh-CN" altLang="en-US"/>
                        <a:t>全球社区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）全球开源项目（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）治理框架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）治理规范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）全球联盟（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）治理委员会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）高级培训（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）全球认证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）全球孵化（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）跨境加速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）全球生态价值（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）开放治理成熟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）自治生态（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）自组织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）自治组织（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）自治理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）自治社区（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）自贡献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）自治开源（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）自维护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）自进化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）自治联盟（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）自协调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）自治培训（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）自认证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）自治孵化（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）自加速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）自治生态价值（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）自组织成熟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）文明生态（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）共生体系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）全物种协作（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）人机共生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）全维度社区（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）全参与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）文明级开源（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）全共享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）全治理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）文明联盟（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）全协作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）文明培训（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）全认证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）文明孵化（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）全加速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）文明生态价值（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）共生成熟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）超级生态（只作为参考依据）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）超级社区（只作为参考依据）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）超级开源（只作为参考依据）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）超级联盟（只作为参考依据）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）超级培训（只作为参考依据）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）超级孵化（只作为参考依据）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）超级价值（只作为参考依据）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）无限生态（只作为参考依据）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）无限社区（只作为参考依据）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）无限开源（只作为参考依据）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）无限联盟（只作为参考依据）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）无限培训（只作为参考依据）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）无限孵化（只作为参考依据）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）无限价值（只作为参考依据）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）意识生态（只作为参考依据）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）意识社区（只作为参考依据）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）意识开源（只作为参考依据）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）意识联盟（只作为参考依据）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）意识培训（只作为参考依据）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）意识孵化（只作为参考依据）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）意识价值（只作为参考依据）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）维度生态（只作为参考依据）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）维度社区（只作为参考依据）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）维度开源（只作为参考依据）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）维度联盟（只作为参考依据）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）维度培训（只作为参考依据）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）维度孵化（只作为参考依据）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）维度价值（只作为参考依据）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）终极生态（只作为参考依据）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）终极社区（只作为参考依据）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）终极开源（只作为参考依据）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）终极联盟（只作为参考依据）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）终极培训（只作为参考依据）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）终极孵化（只作为参考依据）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）终极价值（只作为参考依据）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5598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8: </a:t>
            </a:r>
            <a:r>
              <a:rPr lang="zh-CN" altLang="en-US"/>
              <a:t>技术方案对比（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643296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409147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方案名称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技术路线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优势特点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劣势不足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实施难度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投入成本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预期收益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推荐指数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：成熟模型（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：开源生态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（1）GPT-5.6 Sol/Qwen3.8/Gemini 3.7 Flash（2）</a:t>
                      </a:r>
                      <a:r>
                        <a:rPr lang="zh-CN" altLang="en-US"/>
                        <a:t>多模态融合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）成熟稳定（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）生态完善（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）性能领先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）创新有限（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）成本较高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）传统行业（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）企业级应用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）低（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）快速部署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）低（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）按需付费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）中等（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）稳定回报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）★★★★（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）首选方案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：智能体平台（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：边缘部署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A2A</a:t>
                      </a:r>
                      <a:r>
                        <a:rPr lang="zh-CN" altLang="en-US"/>
                        <a:t>互联平台（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）边缘智能体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）协作效率（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）低延迟（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）可扩展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）标准演进中（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）边缘运维复杂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）制造业（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）零售业（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）物流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）需集成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）基础设施投入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）效率提升</a:t>
                      </a:r>
                      <a:r>
                        <a:rPr lang="en-US" altLang="zh-CN"/>
                        <a:t>40%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）★★★★★（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）强烈推荐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：联邦智能（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：隐私计算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）联邦学习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智能体（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）隐私计算平台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）数据不出域（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）合规性强（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）跨域协作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）性能损耗（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）技术复杂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）金融（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）医疗（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）政务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）需专业团队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）安全投入大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）合规收益显著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）★★★★（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）合规首选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：自治系统（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：具身智能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）自治运维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智能体（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）具身智能平台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）自运维（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）物理交互（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）全场景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）安全风险（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）伦理挑战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）工厂（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）仓储（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）服务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）需安全框架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）硬件投入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）极高（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）人力替代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）★★★★（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）战略投入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）方案</a:t>
                      </a:r>
                      <a:r>
                        <a:rPr lang="en-US"/>
                        <a:t>A：</a:t>
                      </a:r>
                      <a:r>
                        <a:rPr lang="zh-CN" altLang="en-US"/>
                        <a:t>全球平台（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）方案</a:t>
                      </a:r>
                      <a:r>
                        <a:rPr lang="en-US"/>
                        <a:t>B：</a:t>
                      </a:r>
                      <a:r>
                        <a:rPr lang="zh-CN" altLang="en-US"/>
                        <a:t>通用智能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）全球智能体平台（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）通用智能体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）全球覆盖（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）通用能力（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）文明级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）治理复杂（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）对齐挑战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）全行业（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）全场景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）极高（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）全球协调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）极高（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）战略级投入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）极高（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）文明级收益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）★★★★★（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）终极方案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）超级方案（只作为参考依据）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）超级智能路线（只作为参考依据）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）超级优势（只作为参考依据）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）未知风险（只作为参考依据）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）全场景（只作为参考依据）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）无限方案（只作为参考依据）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）无限智能路线（只作为参考依据）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）无限优势（只作为参考依据）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）未知风险（只作为参考依据）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）意识方案（只作为参考依据）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）意识智能路线（只作为参考依据）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）意识优势（只作为参考依据）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）未知风险（只作为参考依据）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）全时空（只作为参考依据）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）维度方案（只作为参考依据）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）维度智能路线（只作为参考依据）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）维度优势（只作为参考依据）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）未知风险（只作为参考依据）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）终极方案（只作为参考依据）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）终极智能路线（只作为参考依据）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）终极优势（只作为参考依据）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）未知风险（只作为参考依据）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）全时空（只作为参考依据）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00447" y="45720"/>
            <a:ext cx="55435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64B4FF"/>
                </a:solidFill>
                <a:latin typeface="微软雅黑"/>
              </a:defRPr>
            </a:pPr>
            <a:r>
              <a:t>【AI能力全景图】</a:t>
            </a:r>
            <a:r>
              <a:rPr lang="zh-CN" altLang="en-US"/>
              <a:t>截止</a:t>
            </a:r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8</a:t>
            </a:r>
            <a:r>
              <a:rPr lang="zh-CN" altLang="en-US"/>
              <a:t>月</a:t>
            </a:r>
            <a:r>
              <a:rPr lang="en-US" altLang="zh-CN"/>
              <a:t>29</a:t>
            </a:r>
            <a:r>
              <a:rPr lang="zh-CN" altLang="en-US"/>
              <a:t>日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5852160" cy="267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【AI已具备的核心能力】</a:t>
            </a:r>
            <a:br/>
            <a:br/>
            <a:r>
              <a:t>【1. 核心范式转变】</a:t>
            </a:r>
            <a:br/>
            <a:r>
              <a:t>• 从Chatbot到AI Agent</a:t>
            </a:r>
            <a:br/>
            <a:r>
              <a:t>• 企业级落地，降低30%-50%人力成本</a:t>
            </a:r>
            <a:br/>
            <a:br/>
            <a:r>
              <a:t>【2. 认知与推理能力】</a:t>
            </a:r>
            <a:br/>
            <a:r>
              <a:t>• 超长上下文窗口：</a:t>
            </a:r>
            <a:r>
              <a:rPr lang="fi-FI"/>
              <a:t>1M Token+（Qwen3.8/Kimi K3）</a:t>
            </a:r>
            <a:br/>
            <a:r>
              <a:t>• 思维链推理能力</a:t>
            </a:r>
            <a:br/>
            <a:br/>
            <a:r>
              <a:t>【3. 多模态与内容生成】</a:t>
            </a:r>
            <a:br/>
            <a:r>
              <a:t>• 视频生成普及化（15秒高质量）</a:t>
            </a:r>
            <a:br/>
            <a:r>
              <a:t>• 实时交互数字人</a:t>
            </a:r>
            <a:br/>
            <a:br/>
            <a:r>
              <a:t>【4. 物理世界交互】</a:t>
            </a:r>
            <a:br/>
            <a:r>
              <a:t>• </a:t>
            </a:r>
            <a:r>
              <a:rPr lang="zh-CN" altLang="en-US"/>
              <a:t>具身智能商业化（</a:t>
            </a:r>
            <a:r>
              <a:rPr lang="en-US" altLang="zh-CN"/>
              <a:t>2026</a:t>
            </a:r>
            <a:r>
              <a:rPr lang="zh-CN" altLang="en-US"/>
              <a:t>上半年中国产量超</a:t>
            </a:r>
            <a:r>
              <a:rPr lang="en-US" altLang="zh-CN"/>
              <a:t>4</a:t>
            </a:r>
            <a:r>
              <a:rPr lang="zh-CN" altLang="en-US"/>
              <a:t>万台）</a:t>
            </a:r>
            <a:br/>
            <a:r>
              <a:t>• 世界模型崛起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457200"/>
            <a:ext cx="5852160" cy="2670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⚠️ 【AI能力边界与短板】</a:t>
            </a:r>
            <a:br/>
            <a:br/>
            <a:r>
              <a:t>【隐性知识缺失】</a:t>
            </a:r>
            <a:br/>
            <a:r>
              <a:t>• 难以获取直觉、经验和情感判断</a:t>
            </a:r>
            <a:br/>
            <a:r>
              <a:t>• 老焊工的"手感"、医生的瞬间临床直觉</a:t>
            </a:r>
            <a:br/>
            <a:br/>
            <a:r>
              <a:t>【物理规则盲区】</a:t>
            </a:r>
            <a:br/>
            <a:r>
              <a:t>• 复杂物理世界互动仍可能出错</a:t>
            </a:r>
            <a:br/>
            <a:r>
              <a:t>• 尚未完全理解所有物理细节</a:t>
            </a:r>
            <a:br/>
            <a:br/>
            <a:r>
              <a:t>【高风险决策限制】</a:t>
            </a:r>
            <a:br/>
            <a:r>
              <a:t>• 麻醉、急诊、司法审判需人类主导</a:t>
            </a:r>
            <a:br/>
            <a:r>
              <a:t>• 生命攸关决策必须有人类把关</a:t>
            </a:r>
            <a:br/>
            <a:br/>
            <a:r>
              <a:t>【安全与幻觉风险】</a:t>
            </a:r>
            <a:br/>
            <a:r>
              <a:t>• 多步骤真实世界任务仍有失败风险</a:t>
            </a:r>
            <a:br/>
            <a:r>
              <a:t>• </a:t>
            </a:r>
            <a:r>
              <a:rPr lang="en-US" altLang="zh-CN"/>
              <a:t>AI</a:t>
            </a:r>
            <a:r>
              <a:rPr lang="zh-CN" altLang="en-US"/>
              <a:t>安全事故数量随应用增加而上升（</a:t>
            </a:r>
            <a:r>
              <a:rPr lang="en-US" altLang="zh-CN"/>
              <a:t>2025</a:t>
            </a:r>
            <a:r>
              <a:rPr lang="zh-CN" altLang="en-US"/>
              <a:t>年全球</a:t>
            </a:r>
            <a:r>
              <a:rPr lang="en-US" altLang="zh-CN"/>
              <a:t>362</a:t>
            </a:r>
            <a:r>
              <a:rPr lang="zh-CN" altLang="en-US"/>
              <a:t>起，同比</a:t>
            </a:r>
            <a:r>
              <a:rPr lang="en-US" altLang="zh-CN"/>
              <a:t>+55%</a:t>
            </a:r>
            <a:r>
              <a:rPr lang="zh-CN" altLang="en-US"/>
              <a:t>）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" y="3566160"/>
            <a:ext cx="5852160" cy="2976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【AI学习能力】</a:t>
            </a:r>
            <a:br/>
            <a:br/>
            <a:r>
              <a:t>【1. 核心学习能力】</a:t>
            </a:r>
            <a:br/>
            <a:r>
              <a:t>• </a:t>
            </a:r>
            <a:r>
              <a:rPr lang="zh-CN" altLang="en-US"/>
              <a:t>大规模增量学习（</a:t>
            </a:r>
            <a:r>
              <a:rPr lang="en-US" altLang="zh-CN"/>
              <a:t>Qwen3.8 2.4T</a:t>
            </a:r>
            <a:r>
              <a:rPr lang="zh-CN" altLang="en-US"/>
              <a:t>参数</a:t>
            </a:r>
            <a:r>
              <a:rPr lang="en-US" altLang="zh-CN"/>
              <a:t>MoE</a:t>
            </a:r>
            <a:r>
              <a:rPr lang="zh-CN" altLang="en-US"/>
              <a:t>）</a:t>
            </a:r>
            <a:br/>
            <a:r>
              <a:t>• </a:t>
            </a:r>
            <a:r>
              <a:rPr lang="en-US"/>
              <a:t>LoRA</a:t>
            </a:r>
            <a:r>
              <a:rPr lang="zh-CN" altLang="en-US"/>
              <a:t>微调技术（</a:t>
            </a:r>
            <a:r>
              <a:rPr lang="en-US"/>
              <a:t>Qwen3.8-Flash 125B</a:t>
            </a:r>
            <a:r>
              <a:rPr lang="zh-CN" altLang="en-US"/>
              <a:t>参数）</a:t>
            </a:r>
            <a:br/>
            <a:r>
              <a:t>• 跨场景知识迁移能力</a:t>
            </a:r>
            <a:br/>
            <a:br/>
            <a:r>
              <a:t>【2. 学习范式演进】</a:t>
            </a:r>
            <a:br/>
            <a:r>
              <a:t>• </a:t>
            </a:r>
            <a:r>
              <a:rPr lang="zh-CN" altLang="en-US"/>
              <a:t>世界模型崛起（智源</a:t>
            </a:r>
            <a:r>
              <a:rPr lang="en-US" altLang="zh-CN"/>
              <a:t>"</a:t>
            </a:r>
            <a:r>
              <a:rPr lang="zh-CN" altLang="en-US"/>
              <a:t>悟界</a:t>
            </a:r>
            <a:r>
              <a:rPr lang="en-US" altLang="zh-CN"/>
              <a:t>"</a:t>
            </a:r>
            <a:r>
              <a:rPr lang="zh-CN" altLang="en-US"/>
              <a:t>）</a:t>
            </a:r>
            <a:br/>
            <a:r>
              <a:t>• 下一状态预测（NSP）</a:t>
            </a:r>
            <a:br/>
            <a:r>
              <a:t>• 元学习与自我迭代（HYPERAGENTS）</a:t>
            </a:r>
            <a:br/>
            <a:br/>
            <a:r>
              <a:t>【3. 实际应用】</a:t>
            </a:r>
            <a:br/>
            <a:r>
              <a:t>• 私有化RAG知识库深度适配</a:t>
            </a:r>
            <a:br/>
            <a:r>
              <a:t>• 从"操作员"→"系统架构师"</a:t>
            </a:r>
            <a:br/>
            <a:br/>
            <a:r>
              <a:t>【4. 学习效率提升】</a:t>
            </a:r>
            <a:br/>
            <a:r>
              <a:t>• 少样本学习：用少量数据快速掌握新技能</a:t>
            </a:r>
            <a:br/>
            <a:r>
              <a:t>• 零样本学习：无需训练即可完成新任务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56616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【AI推理能力】</a:t>
            </a:r>
            <a:br/>
            <a:br/>
            <a:r>
              <a:t>【1. 推理类型】</a:t>
            </a:r>
            <a:br/>
            <a:r>
              <a:t>• 逻辑推理：基于规则和逻辑</a:t>
            </a:r>
            <a:br/>
            <a:r>
              <a:t>• 数学推理：解决数学问题</a:t>
            </a:r>
            <a:br/>
            <a:r>
              <a:t>• 科学推理：提出假设并验证</a:t>
            </a:r>
            <a:br/>
            <a:r>
              <a:t>• 深度推理：复杂问题深层推理</a:t>
            </a:r>
            <a:br/>
            <a:br/>
            <a:r>
              <a:t>【2. 推理方法】</a:t>
            </a:r>
            <a:br/>
            <a:r>
              <a:t>• 演绎/归纳/类比/溯因推理</a:t>
            </a:r>
            <a:br/>
            <a:br/>
            <a:r>
              <a:t>【3. 应用场景】</a:t>
            </a:r>
            <a:br/>
            <a:r>
              <a:t>• 问题解决｜决策支持｜知识发现｜创新创造</a:t>
            </a:r>
            <a:br/>
            <a:br/>
            <a:r>
              <a:t>【演进路径】</a:t>
            </a:r>
            <a:br/>
            <a:r>
              <a:t>简单推理 → 多步推理 → 深度逻辑推理 → 因果推理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C896FF"/>
                </a:solidFill>
                <a:latin typeface="微软雅黑"/>
              </a:defRPr>
            </a:pPr>
            <a:r>
              <a:t>【AI能力全景图】决策·协作·进化·维度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【AI决策能力】</a:t>
            </a:r>
            <a:br/>
            <a:br/>
            <a:r>
              <a:t>【1. 决策类型层面】</a:t>
            </a:r>
            <a:br/>
            <a:r>
              <a:t>• 数据驱动决策：基于历史数据</a:t>
            </a:r>
            <a:br/>
            <a:r>
              <a:t>• 智能决策：推理+预测+规划</a:t>
            </a:r>
            <a:br/>
            <a:r>
              <a:t>• 战略决策：长期规划与资源配置</a:t>
            </a:r>
            <a:br/>
            <a:br/>
            <a:r>
              <a:t>【2. 决策质量层面】</a:t>
            </a:r>
            <a:br/>
            <a:r>
              <a:t>• 高准确率：基准测试持续提升</a:t>
            </a:r>
            <a:br/>
            <a:r>
              <a:t>• 全局最优：多目标约束求解</a:t>
            </a:r>
            <a:br/>
            <a:r>
              <a:t>• 风险评估：制定应对策略</a:t>
            </a:r>
            <a:br/>
            <a:br/>
            <a:r>
              <a:t>【3. 决策速度层面】</a:t>
            </a:r>
            <a:br/>
            <a:r>
              <a:t>• 实时决策：毫秒级响应</a:t>
            </a:r>
            <a:br/>
            <a:r>
              <a:t>• 自动化流程：端到端自动化决策</a:t>
            </a:r>
            <a:br/>
            <a:br/>
            <a:r>
              <a:t>【4. 决策范围层面】</a:t>
            </a:r>
            <a:br/>
            <a:r>
              <a:t>• 单一任务：推荐、风控等</a:t>
            </a:r>
            <a:br/>
            <a:r>
              <a:t>• 复杂场景：供应链、投资、城市交通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457200"/>
            <a:ext cx="5852160" cy="31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【AI协作能力】</a:t>
            </a:r>
            <a:br/>
            <a:br/>
            <a:r>
              <a:t>【1. 核心形态】</a:t>
            </a:r>
            <a:br/>
            <a:r>
              <a:t>• 自主任务拆解与执行</a:t>
            </a:r>
            <a:br/>
            <a:r>
              <a:t>• </a:t>
            </a:r>
            <a:r>
              <a:rPr lang="zh-CN" altLang="en-US"/>
              <a:t>多智能体协作（</a:t>
            </a:r>
            <a:r>
              <a:rPr lang="en-US"/>
              <a:t>Multi-Agent，</a:t>
            </a:r>
            <a:r>
              <a:rPr lang="zh-CN" altLang="en-US"/>
              <a:t>国标</a:t>
            </a:r>
            <a:r>
              <a:rPr lang="en-US"/>
              <a:t>GB/Z 185）</a:t>
            </a:r>
            <a:br/>
            <a:r>
              <a:t>• </a:t>
            </a:r>
            <a:r>
              <a:rPr lang="en-US"/>
              <a:t>MCP+A2A</a:t>
            </a:r>
            <a:r>
              <a:rPr lang="zh-CN" altLang="en-US"/>
              <a:t>协议标准化（</a:t>
            </a:r>
            <a:r>
              <a:rPr lang="en-US"/>
              <a:t>AAIF</a:t>
            </a:r>
            <a:r>
              <a:rPr lang="zh-CN" altLang="en-US"/>
              <a:t>治理）</a:t>
            </a:r>
            <a:br/>
            <a:br/>
            <a:r>
              <a:t>【2. 技术深度】</a:t>
            </a:r>
            <a:br/>
            <a:r>
              <a:t>• 逻辑推理层深化</a:t>
            </a:r>
            <a:br/>
            <a:r>
              <a:t>• Action闭环能力</a:t>
            </a:r>
            <a:br/>
            <a:r>
              <a:t>• 洞察-决策-执行闭环</a:t>
            </a:r>
            <a:br/>
            <a:br/>
            <a:r>
              <a:t>【3. 组织融合】</a:t>
            </a:r>
            <a:br/>
            <a:r>
              <a:t>• AI协作能力成为职场硬指标</a:t>
            </a:r>
            <a:br/>
            <a:r>
              <a:t>• 绩效评估纳入AI使用效果</a:t>
            </a:r>
            <a:br/>
            <a:r>
              <a:t>• 轻量化集成与存量适配</a:t>
            </a:r>
            <a:br/>
            <a:br/>
            <a:r>
              <a:t>【4. 行业落地特征】</a:t>
            </a:r>
            <a:br/>
            <a:r>
              <a:t>• 垂直场景原生：工程监理、生产制造、财税合规</a:t>
            </a:r>
            <a:br/>
            <a:r>
              <a:t>• 绿色与算力协同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356616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【AI进化能力】</a:t>
            </a:r>
            <a:br/>
            <a:br/>
            <a:r>
              <a:t>【1. 进化机制层面】</a:t>
            </a:r>
            <a:br/>
            <a:r>
              <a:t>• 递归自改进：自动优化架构、算法</a:t>
            </a:r>
            <a:br/>
            <a:r>
              <a:t>• 持续学习：运行中不断学习新知识</a:t>
            </a:r>
            <a:br/>
            <a:r>
              <a:t>• 自我纠错：自动调整策略</a:t>
            </a:r>
            <a:br/>
            <a:br/>
            <a:r>
              <a:t>【2. 进化方向层面】</a:t>
            </a:r>
            <a:br/>
            <a:r>
              <a:t>• 能力扩展：多维度同时进化</a:t>
            </a:r>
            <a:br/>
            <a:r>
              <a:t>• 跨域迁移：跨领域能力迁移</a:t>
            </a:r>
            <a:br/>
            <a:r>
              <a:t>• 层级提升：工具→自主→通用智能体</a:t>
            </a:r>
            <a:br/>
            <a:br/>
            <a:r>
              <a:t>【3. 进化速度层面】</a:t>
            </a:r>
            <a:br/>
            <a:r>
              <a:t>• 指数加速：学习曲线陡峭</a:t>
            </a:r>
            <a:br/>
            <a:r>
              <a:t>• 自动化程度高：自主进化闭环</a:t>
            </a:r>
            <a:br/>
            <a:br/>
            <a:r>
              <a:t>【4. 进化目标层面】</a:t>
            </a:r>
            <a:br/>
            <a:r>
              <a:t>• 长期目标导向</a:t>
            </a:r>
            <a:br/>
            <a:r>
              <a:t>• 价值体系构建</a:t>
            </a:r>
            <a:br/>
            <a:br/>
            <a:r>
              <a:t>【进化路径】工具智能体 → 自主智能体 → 通用智能体 → 超级智能体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56616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【AI能力维度】</a:t>
            </a:r>
            <a:br/>
            <a:br/>
            <a:r>
              <a:t>【核心维度体系】</a:t>
            </a:r>
            <a:br/>
            <a:r>
              <a:t>• 【模型能力】语言/生成/翻译/问答</a:t>
            </a:r>
            <a:br/>
            <a:r>
              <a:t>• 【推理能力】逻辑/深度/因果推理</a:t>
            </a:r>
            <a:br/>
            <a:r>
              <a:t>• 【学习能力】增量/迁移/元学习</a:t>
            </a:r>
            <a:br/>
            <a:r>
              <a:t>• 【创造能力】内容生成/设计创新/科学发现</a:t>
            </a:r>
            <a:br/>
            <a:r>
              <a:t>• 【协作能力】人机/多智能体/跨域协作</a:t>
            </a:r>
            <a:br/>
            <a:r>
              <a:t>• 【决策能力】日常/复杂/战略决策</a:t>
            </a:r>
            <a:br/>
            <a:r>
              <a:t>• 【进化能力】自我优化/自我迭代/自我超越</a:t>
            </a:r>
            <a:br/>
            <a:br/>
            <a:r>
              <a:t>【总结】AI能力是一个多维度协同进化的综合体系，各维度相互促进、共同发展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00C8FF"/>
                </a:solidFill>
                <a:latin typeface="微软雅黑"/>
              </a:defRPr>
            </a:pPr>
            <a:r>
              <a:t>【2027年至2035年AI最新发展动态和趋势】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5852160" cy="4502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DCDCDC"/>
                </a:solidFill>
                <a:latin typeface="微软雅黑"/>
              </a:defRPr>
            </a:pPr>
            <a:r>
              <a:t>一、阶段性发展目标与里程碑</a:t>
            </a:r>
            <a:br/>
            <a:br/>
            <a:r>
              <a:t>【2027-2028年：全域普及落地期】</a:t>
            </a:r>
            <a:br/>
            <a:r>
              <a:t>• 普及率超过70%，AI从"辅助工具"向"自主主体"过渡</a:t>
            </a:r>
            <a:br/>
            <a:r>
              <a:t>• 具身智能进入规模化应用元年，L3级自动驾驶高速商用</a:t>
            </a:r>
            <a:br/>
            <a:br/>
            <a:r>
              <a:t>【2029-2032年：业态深度融合期】</a:t>
            </a:r>
            <a:br/>
            <a:r>
              <a:t>• 普及率超过90%，人机协同成为主流模式</a:t>
            </a:r>
            <a:br/>
            <a:r>
              <a:t>• L4级自动驾驶城市普及，数字员工全面替代传统办公</a:t>
            </a:r>
            <a:br/>
            <a:br/>
            <a:r>
              <a:t>【2033-2035年：全球生态引领期】</a:t>
            </a:r>
            <a:br/>
            <a:r>
              <a:t>• 普及率超95%，AI升级为通用性社会公共服务能力</a:t>
            </a:r>
            <a:br/>
            <a:r>
              <a:t>• 全面步入智能经济和智能社会发展新阶段</a:t>
            </a:r>
            <a:br/>
            <a:br/>
            <a:r>
              <a:t>二、六大核心发展趋势</a:t>
            </a:r>
            <a:br/>
            <a:br/>
            <a:r>
              <a:t>【1. 智能体与具身智能爆发】</a:t>
            </a:r>
            <a:br/>
            <a:r>
              <a:t>• 自主智能体独立完成任务</a:t>
            </a:r>
            <a:br/>
            <a:r>
              <a:t>• 机器人与AI大模型深度融合，</a:t>
            </a:r>
            <a:r>
              <a:rPr lang="en-US" altLang="zh-CN"/>
              <a:t>2030</a:t>
            </a:r>
            <a:r>
              <a:rPr lang="zh-CN" altLang="en-US"/>
              <a:t>年产业规模达</a:t>
            </a:r>
            <a:r>
              <a:rPr lang="en-US" altLang="zh-CN"/>
              <a:t>4000</a:t>
            </a:r>
            <a:r>
              <a:rPr lang="zh-CN" altLang="en-US"/>
              <a:t>亿元（只作为参考依据）</a:t>
            </a:r>
            <a:br/>
            <a:br/>
            <a:r>
              <a:t>【2. "人工智能+"重塑六大领域】</a:t>
            </a:r>
            <a:br/>
            <a:r>
              <a:t>• 产业发展｜民生福祉｜治理能力｜消费提质｜科学技术｜全球合作</a:t>
            </a:r>
            <a:br/>
            <a:br/>
            <a:r>
              <a:t>【3. 算力与能源深度绑定】</a:t>
            </a:r>
            <a:br/>
            <a:r>
              <a:t>• </a:t>
            </a:r>
            <a:r>
              <a:rPr lang="en-US" altLang="zh-CN"/>
              <a:t>AIDC</a:t>
            </a:r>
            <a:r>
              <a:rPr lang="zh-CN" altLang="en-US"/>
              <a:t>成为耗能大户，储能成为核心基础设施（</a:t>
            </a:r>
            <a:r>
              <a:rPr lang="en-US" altLang="zh-CN"/>
              <a:t>2026</a:t>
            </a:r>
            <a:r>
              <a:rPr lang="zh-CN" altLang="en-US"/>
              <a:t>年智算</a:t>
            </a:r>
            <a:r>
              <a:rPr lang="en-US" altLang="zh-CN"/>
              <a:t>2185 EFLOPS</a:t>
            </a:r>
            <a:r>
              <a:rPr lang="zh-CN" altLang="en-US"/>
              <a:t>）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0" y="457200"/>
            <a:ext cx="585216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DCDCDC"/>
                </a:solidFill>
                <a:latin typeface="微软雅黑"/>
              </a:defRPr>
            </a:pPr>
            <a:r>
              <a:t>【4. 交互方式革命】</a:t>
            </a:r>
            <a:br/>
            <a:r>
              <a:t>• 多模态与自然化交互升级</a:t>
            </a:r>
            <a:br/>
            <a:r>
              <a:t>• 语音、手势、眼动、脑机接口等自然交互</a:t>
            </a:r>
            <a:br/>
            <a:br/>
            <a:r>
              <a:t>【5. 安全与伦理同步演进】</a:t>
            </a:r>
            <a:br/>
            <a:r>
              <a:t>• 建立"以智应智"主动防御体系</a:t>
            </a:r>
            <a:br/>
            <a:r>
              <a:t>• AI安全治理与技术发展同步</a:t>
            </a:r>
            <a:br/>
            <a:br/>
            <a:r>
              <a:t>【6. 产业结构与就业形态重构】</a:t>
            </a:r>
            <a:br/>
            <a:r>
              <a:t>• 传统重复性岗位缩减30%以上</a:t>
            </a:r>
            <a:br/>
            <a:r>
              <a:t>• 催生AI训练师、提示词工程师等新职业</a:t>
            </a:r>
            <a:br/>
            <a:br/>
            <a:r>
              <a:t>三、关键技术突破方向</a:t>
            </a:r>
            <a:br/>
            <a:br/>
            <a:r>
              <a:t>【量子AI】</a:t>
            </a:r>
            <a:br/>
            <a:r>
              <a:t>• 量子计算与AI深度融合</a:t>
            </a:r>
            <a:br/>
            <a:r>
              <a:t>• 指数级加速复杂问题求解</a:t>
            </a:r>
            <a:br/>
            <a:br/>
            <a:r>
              <a:t>【神经形态计算】</a:t>
            </a:r>
            <a:br/>
            <a:r>
              <a:t>• 类脑芯片突破能效瓶颈</a:t>
            </a:r>
            <a:br/>
            <a:r>
              <a:t>• 实现低功耗边缘AI</a:t>
            </a:r>
            <a:br/>
            <a:br/>
            <a:r>
              <a:t>【脑机接口】</a:t>
            </a:r>
            <a:br/>
            <a:r>
              <a:t>• 非侵入式高带宽BCI普及</a:t>
            </a:r>
            <a:br/>
            <a:r>
              <a:t>• 实现脑-机-云融合</a:t>
            </a:r>
            <a:br/>
            <a:br/>
            <a:r>
              <a:t>四、总结与建议</a:t>
            </a:r>
            <a:br/>
            <a:br/>
            <a:r>
              <a:t>2027-2035年是AI从技术红利转化为社会红利的关键十年：</a:t>
            </a:r>
            <a:br/>
            <a:r>
              <a:t>• 个人：提升与AI协作能力，关注创造力与复杂决策能力培养</a:t>
            </a:r>
            <a:br/>
            <a:r>
              <a:t>• 企业：布局"人工智能+"战略，重构业务流程降本增效</a:t>
            </a:r>
            <a:br/>
            <a:r>
              <a:t>• 社会：建立健全AI伦理与安全治理体系</a:t>
            </a:r>
          </a:p>
        </p:txBody>
      </p:sp>
      <p:sp>
        <p:nvSpPr>
          <p:cNvPr id="6" name="TextBox 5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FF6464"/>
                </a:solidFill>
                <a:latin typeface="微软雅黑"/>
              </a:defRPr>
            </a:pPr>
            <a:r>
              <a:t>【法律声明】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【知识产权保护】</a:t>
            </a:r>
            <a:br/>
            <a:r>
              <a:t>1. 本 PPT 内容受《中华人民共和国著作权法》及相关国际公约保护；</a:t>
            </a:r>
            <a:br/>
            <a:r>
              <a:t>2. 未经本 PPT 作者书面授权，任何单位或个人不得以任何形式复制、传播、改编、翻译、汇编或用于商业目的；</a:t>
            </a:r>
            <a:br/>
            <a:r>
              <a:t>3. 擅自使用或侵权将依法追究法律责任，包括但不限于赔偿损失、承担诉讼费用等。</a:t>
            </a:r>
            <a:br/>
            <a:br/>
            <a:r>
              <a:t>【内容性质说明】</a:t>
            </a:r>
            <a:br/>
            <a:r>
              <a:t>4. 本 PPT 内容为基于截至 </a:t>
            </a:r>
            <a:r>
              <a:rPr lang="en-US" altLang="zh-CN"/>
              <a:t>2026 </a:t>
            </a:r>
            <a:r>
              <a:rPr lang="zh-CN" altLang="en-US"/>
              <a:t>年 </a:t>
            </a:r>
            <a:r>
              <a:rPr lang="en-US" altLang="zh-CN"/>
              <a:t>8 </a:t>
            </a:r>
            <a:r>
              <a:rPr lang="zh-CN" altLang="en-US"/>
              <a:t>月</a:t>
            </a:r>
            <a:r>
              <a:t>公开信息的前瞻性研究与合理推演，**不构成投资建议、商业承诺或法律保证**；</a:t>
            </a:r>
            <a:br/>
            <a:r>
              <a:t>5. 文中提及的 AI 大模型技术参数、市场规模预测、技术发展时间节点等均为理论推演，实际情况可能因多种因素而有所不同；</a:t>
            </a:r>
            <a:br/>
            <a:r>
              <a:t>6. 读者应独立判断，自行承担使用本 PPT 内容的全部风险。</a:t>
            </a:r>
            <a:br/>
            <a:br/>
            <a:r>
              <a:t>【数据准确性声明】</a:t>
            </a:r>
            <a:br/>
            <a:r>
              <a:t>7. 本 PPT 引用的数据来源于公开渠道，虽经审慎核实，但本 PPT 作者不对其准确性、完整性或时效性做出任何明示或默示的保证；</a:t>
            </a:r>
            <a:br/>
            <a:r>
              <a:t>8. 实际数据以各厂商官方发布及权威机构报告为准，本 PPT 不承担数据更新义务。</a:t>
            </a:r>
            <a:br/>
            <a:br/>
            <a:r>
              <a:t>【责任限额条款】</a:t>
            </a:r>
            <a:br/>
            <a:r>
              <a:t>9. **在任何情况下，作者对用户的最高赔偿额不超过人民币零元整（CNY 0.00）**。</a:t>
            </a:r>
            <a:br/>
            <a:br/>
            <a:r>
              <a:t>【权利保留条款】</a:t>
            </a:r>
            <a:br/>
            <a:r>
              <a:t>10. 本 PPT 作者保留随时更新、修改或撤回本 PPT 内容的权利，无需事先通知；</a:t>
            </a:r>
            <a:br/>
            <a:r>
              <a:t>11. 本声明条款的最终解释权归作者所有。</a:t>
            </a:r>
            <a:br/>
            <a:br/>
            <a:r>
              <a:t>【适用法律与争议解决】</a:t>
            </a:r>
            <a:br/>
            <a:r>
              <a:t>12. 本声明受中华人民共和国法律管辖；</a:t>
            </a:r>
            <a:br/>
            <a:r>
              <a:t>13. 如发生争议，双方应协商解决；协商不成的，由作者所在地有管辖权的人民法院管辖。</a:t>
            </a:r>
            <a:br/>
            <a:br/>
            <a:r>
              <a:t>【用户同意条款】</a:t>
            </a:r>
            <a:br/>
            <a:r>
              <a:t>14. 使用本 PPT 即视为用户已阅读、理解并同意本法律声明及免责条款的全部内容。</a:t>
            </a:r>
            <a:br/>
            <a:br/>
            <a:r>
              <a:t>© 2026 本 PPT 作者 · 版权所有</a:t>
            </a:r>
          </a:p>
        </p:txBody>
      </p:sp>
      <p:sp>
        <p:nvSpPr>
          <p:cNvPr id="5" name="TextBox 4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" name="TextBox 5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1" name="TextBox 60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FF6464"/>
                </a:solidFill>
                <a:latin typeface="微软雅黑"/>
              </a:defRPr>
            </a:pPr>
            <a:r>
              <a:t>【免责条款】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565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【风险免责条款】</a:t>
            </a:r>
            <a:br/>
            <a:r>
              <a:t>1. **不承担法律责任**：任何因使用或依赖本 PPT 内容而产生的直接或间接损失，本 PPT 作者不承担任何法律责任；</a:t>
            </a:r>
            <a:br/>
            <a:r>
              <a:t>2. **自行评估风险**：使用者应自行评估风险并独立做出决策，本 PPT 作者不对决策结果负责；</a:t>
            </a:r>
            <a:br/>
            <a:r>
              <a:t>3. **技术不确定性**：本 PPT 提及的前沿技术（量子 AI、神经形态（Neuromorphic）、脑机接口、AGI 等等）处于研究或发展阶段，其商业化落地存在重大不确定性；</a:t>
            </a:r>
            <a:br/>
            <a:r>
              <a:t>4. **进度不确定性**：技术发展存在不确定性，实际进度可能因技术瓶颈、研发投入等因素滞后于预测。</a:t>
            </a:r>
            <a:br/>
            <a:br/>
            <a:r>
              <a:t>【商业价值声明】</a:t>
            </a:r>
            <a:br/>
            <a:r>
              <a:t>5. **价值预估说明**：本 PPT 所展示的商业价值预估为基于当前市场环境的理论测算，实际商业价值实现取决于技术突破、市场接受度、竞争格局、政策环境等多种因素；</a:t>
            </a:r>
            <a:br/>
            <a:r>
              <a:t>6. **投资风险提示**：商业价值预估**不构成任何投资回报承诺**，投资有风险，决策需谨慎。</a:t>
            </a:r>
            <a:br/>
            <a:br/>
            <a:r>
              <a:t>【数据来源说明】</a:t>
            </a:r>
            <a:br/>
            <a:r>
              <a:t>• AI 大模型信息：</a:t>
            </a:r>
            <a:r>
              <a:rPr lang="en-US"/>
              <a:t>OpenAI（GPT-5.6）、Google（Gemini 3.7 Flash）、Anthropic、</a:t>
            </a:r>
            <a:r>
              <a:rPr lang="zh-CN" altLang="en-US"/>
              <a:t>阿里巴巴（</a:t>
            </a:r>
            <a:r>
              <a:rPr lang="en-US"/>
              <a:t>Qwen3.8）、</a:t>
            </a:r>
            <a:r>
              <a:rPr lang="zh-CN" altLang="en-US"/>
              <a:t>智谱 </a:t>
            </a:r>
            <a:r>
              <a:rPr lang="en-US"/>
              <a:t>AI（GLM-5.3）、DeepSeek（V4 Pro）、Kimi（K3）</a:t>
            </a:r>
            <a:r>
              <a:rPr lang="zh-CN" altLang="en-US"/>
              <a:t>等厂商官方发布</a:t>
            </a:r>
            <a:r>
              <a:t>；</a:t>
            </a:r>
            <a:br/>
            <a:r>
              <a:t>• 量子计算信息：IBM Quantum、Google Quantum AI、中科院量子信息研究院研究进展；</a:t>
            </a:r>
            <a:br/>
            <a:r>
              <a:t>• 脑机接口信息：Neuralink、Kernel、Meta Reality Labs 等企业技术路线；</a:t>
            </a:r>
            <a:br/>
            <a:r>
              <a:t>• 市场规模数据：Gartner、IDC、Statista、CB Insights 等权威机构报告；</a:t>
            </a:r>
            <a:br/>
            <a:r>
              <a:t>• 技术标准框架：ISO/IEC、NIST、OWASP、CSA 等国际标准组织规范。</a:t>
            </a:r>
            <a:br/>
            <a:br/>
            <a:r>
              <a:t>【重要风险提示】⚠️</a:t>
            </a:r>
            <a:br/>
            <a:r>
              <a:t>• 技术风险：AI 技术发展存在不确定性，实际进度可能滞后于预测；</a:t>
            </a:r>
            <a:br/>
            <a:r>
              <a:t>• 市场风险：市场接受度、竞争格局变化可能导致商业化进程不及预期；</a:t>
            </a:r>
            <a:br/>
            <a:r>
              <a:t>• 监管风险：各国 AI 监管政策可能对技术发展方向、应用场景产生重大影响；</a:t>
            </a:r>
            <a:br/>
            <a:r>
              <a:t>• 人才风险：AI 领域高端人才短缺可能限制技术研发和商业化速度；</a:t>
            </a:r>
            <a:br/>
            <a:r>
              <a:t>• 知识产权风险：技术专利布局可能影响商业化路径选择；</a:t>
            </a:r>
            <a:br/>
            <a:r>
              <a:t>• 政策风险：宏观经济政策调整可能影响市场环境和投资决策；</a:t>
            </a:r>
            <a:br/>
            <a:r>
              <a:t>• 竞争风险：行业竞争加剧可能影响市场份额和盈利能力；</a:t>
            </a:r>
            <a:br/>
            <a:r>
              <a:t>• 合规风险：需符合各国数据隐私保护法规要求。</a:t>
            </a:r>
            <a:br/>
            <a:br/>
            <a:r>
              <a:t>【水印保护声明】</a:t>
            </a:r>
            <a:br/>
            <a:r>
              <a:t>• 本 PPT 包含水印，任何去除水印的行为均属侵权。</a:t>
            </a:r>
            <a:br/>
            <a:br/>
            <a:r>
              <a:t>© 2026 本 PPT 作者 · 侵权必究</a:t>
            </a:r>
          </a:p>
        </p:txBody>
      </p:sp>
      <p:sp>
        <p:nvSpPr>
          <p:cNvPr id="5" name="TextBox 4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" name="TextBox 5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A2A协议演进路线图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1" name="TextBox 60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A2A协议演进路线图 20260829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10247</Words>
  <Application>Microsoft Office PowerPoint</Application>
  <PresentationFormat>自定义</PresentationFormat>
  <Paragraphs>917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晓冬 何</cp:lastModifiedBy>
  <cp:revision>4</cp:revision>
  <dcterms:created xsi:type="dcterms:W3CDTF">2013-01-27T09:14:16Z</dcterms:created>
  <dcterms:modified xsi:type="dcterms:W3CDTF">2026-08-30T00:50:19Z</dcterms:modified>
  <cp:category/>
</cp:coreProperties>
</file>