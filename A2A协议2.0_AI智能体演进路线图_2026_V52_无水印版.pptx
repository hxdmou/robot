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E5FA8"/>
                </a:solidFill>
                <a:latin typeface="微软雅黑"/>
              </a:rPr>
              <a:t>【A2A协议与AI智能体生态】PPT完整升级内容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版本：V52.0 | 更新日期：2026年8月29日 | 基于2026年最新AI技术演进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5FA8"/>
                </a:solidFill>
                <a:latin typeface="微软雅黑"/>
              </a:rPr>
              <a:t>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898"/>
                </a:solidFill>
                <a:latin typeface="微软雅黑"/>
              </a:rPr>
              <a:t>© 2026 A2A协议联盟 | 版权所有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37"/>
                </a:solidFill>
                <a:latin typeface="微软雅黑"/>
              </a:rPr>
              <a:t>【目录】8大项目 · 每项目4页（内容2页+细节2页）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64207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项目2: 价值维度评估体系（2026-2035·2031起只作为参考依据）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3113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项目3: 安全组件体系（2026-2035·2031起只作为参考依据）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98064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项目4: 部署策略规划（2026-2035·2031起只作为参考依据）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64992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项目5: AI创造能力演进（2026-2035·2031起只作为参考依据）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项目6: 性能指标体系（2026-2035·2031起只作为参考依据）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98848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项目7: 生态系统建设（2026-2035·2031起只作为参考依据）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6577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项目8: 技术方案对比（2026-2035·2031起只作为参考依据）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36174"/>
            <a:ext cx="11953951" cy="5805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v1.0于2026年3月12日经Linux基金会批准冻结，为首个稳定规范，稳定补丁版v1.0.1于2026年5月发布，标志智能体互联协议正式进入生产级阶段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v1.0核心特性包括签名Agent Card（加密身份验证）、企业级多租户、版本协商、多协议绑定（JSON-RPC 2.0/gRPC/HTTP+JSON REST），满足企业级部署全部要件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2026：2026年8月17-20日Google将A2A正式转入Linux基金会旗下Agentic AI Foundation（AAIF），与MCP、AGENTS.md、goose、agentgateway同归中立治理框架，消除单一厂商控制风险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2026：AAIF成员从2025年12月成立时不足50家增至250+，A2A协议获150+组织支持，GitHub 22,000+ Stars，生态规模居智能体互联协议首位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2026：SDK覆盖Python/JavaScript/Java/Go/.NET五种语言，Microsoft Azure AI Foundry、AWS Bedrock AgentCore、Google Vertex AI三大云平台原生支持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2026：华为将A2A标准化为HarmonyOS上Celia助手与应用内智能体的互联协议，IBM ACP协议已于2025年8月并入A2A，协议碎片化问题基本解决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2026：Agent Payments Protocol（AP2）获60+支付/金融机构支持，将A2A扩展至代理交易场景，智能体经济支付基础设施成型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2026：中国2026年6月26日发布《人工智能 智能体互联》系列7项国家标准（GB/Z 185.1～185.7—2026），为全球首套系统性智能体互联标准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2026：2026年7月21日AIP开源代码V2.1发布，首批智能体身份码发放（累计2000余个），美团、滴滴、神州数码、中科院软件所等签约试点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2026：AAIF安全工作组计划2026年Q3-Q4完成「智能体间信任链」标准RFC，应对级联幻觉、伪造智能体广播等链式安全风险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2026：国标GB/Z 185覆盖总体架构、身份码、身份管理、能力描述、跨域发现、协同交互、工具调用七大环节，实现智能体全生命周期标准化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2026：百余家企业参与《智能体协议共建共享联合倡议》，200多家企业开展智能体互联试点，产业落地进入快车道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2027：信任链标准RFC正式发布，签名Agent Card实现加密身份验证与版本协商全覆盖，互联延迟&lt;50ms、可用性99.9%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2027：国标GB/Z 185全面落地，智能体身份码体系覆盖200+试点企业，跨域发现成功率99%+，「一智能体一码」监管体系成型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2027：AAIF成员突破500家，行业工作组覆盖制造、金融、政务、医疗、物流五大领域，标准制定进入行业深耕期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2028：A2A+MCP深度融合形成「智能体间互联+智能体-工具互联」完整标准栈，AP2支付协议规模化商用，交易规模超千亿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2028：跨行业智能体网络成型，1000+成员企业，多模态原生模型支撑端云协同推理，互联延迟&lt;30ms、并发10万+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2028：智能体支付协议AP2与安全沙箱、联邦认证构成交易安全三件套，跨域互认标准发布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2029：智能体自治网络部署，去中心化治理机制成熟，零知识证明认证与智能体信誉评分规模化应用，覆盖90%+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2029：自愈网络与动态路由技术商用，互联延迟&lt;20ms、并发100万+，运维成本降60%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2029：智能体自治市场超5000亿，全自动工厂、无人零售、智慧交通成为标杆场景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2030：全球智能体互联网成型，A2A成为基础设施，统一身份体系与跨域无缝协作实现，覆盖全行业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2030：量子安全通信与边缘智能体规模部署，互联延迟&lt;10ms、全球覆盖，智能体经济超万亿、占GDP比重5%+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2030：国际标准化组织接管A2A治理，各国监管机构协同，全球互操作标准统一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2027-2030：智能体互联标准从RFC到国标再到国际标准的三级跃迁路径明确，中国标准话语权显著提升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2027-2030：互联延迟从&lt;50ms演进至&lt;10ms，并发从10万+演进至全球覆盖，五年性能提升10倍+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2026：A2A协议与MCP协议在AAIF屋檐下互补，MCP负责智能体-工具互联，A2A负责智能体间协作，双协议栈成为事实标准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2026：Linux基金会为AAIF提供中立治理框架，技术工作组、安全工作组、治理委员会三权分立，决策投票制确保公平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v1.0版本协商机制使不同协议版本的智能体自动协商至最优共同版本，保障向后兼容与平滑升级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2026：企业级多租户支持资源隔离与权限管理，满足SaaS服务商多客户部署需求，Azure AI Foundry企业客户超3万家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2031-2035：智能体社会融合、智能体文明雏形、生态成熟、全球化、智能体纪元等阶段（只作为参考依据）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2031-2035：意识互联、全息互联、量子互联等前瞻技术，智能体从工具演进为伙伴（只作为参考依据）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2031-2035：全球统一治理、人机命运共同体等治理形态（只作为参考依据）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2027：智能体身份码采用统一编码规则，支持全生命周期追溯与监管，为AI治理提供技术抓手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2028：分布式信任机制与动态能力协商成熟，智能体可自主发现、评估、协作，人工干预降80%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2030：A2A成为像HTTP一样的基础设施协议，全球5000+成员企业，智能体数量超人口数量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Card采用Ed25519数字签名技术，证书有效期24小时自动轮换，防重放攻击，智能体互联前必须出示可验证身份证明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多协议绑定支持JSON-RPC 2.0、gRPC、HTTP+JSON REST三种格式，企业可按现有技术栈自由选择，迁移成本降低70%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企业级多租户支持资源隔离与权限管理，满足SaaS服务商多客户部署需求，租户间数据零泄漏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版本协商机制使不同协议版本的智能体自动协商至最优共同版本，保障向后兼容，升级零中断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AAIF治理框架含技术工作组、安全工作组、治理委员会，决策采用投票制确保中立性，单一厂商无法主导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MCP协议负责智能体-工具互联，A2A负责智能体间协作，二者在AAIF屋檐下互补，双协议栈覆盖全场景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185系列标准覆盖总体架构、身份码、身份管理、能力描述、跨域发现、协同交互、工具调用七大环节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智能体身份码采用统一编码规则，实现「一智能体一码」，支持全生命周期追溯与监管，发放2000余个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AP2支付协议定义支付委托、支付凭证、支付执行三角色，保障智能体交易安全，获60+金融机构支持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信任链标准针对级联幻觉（多智能体链式错误放大）与伪造智能体广播两大风险，错误放大率降至&lt;1%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2027目标：互联延迟&lt;50ms、可用性99.9%、任务完成率95%+，万级智能体并发握手成功率99%+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2028目标：AP2交易规模超千亿、跨行业协作收入占比30%，安全沙箱与联邦认证全覆盖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2029目标：自治网络运维成本降60%、零知识证明认证覆盖90%+，智能体信誉评分规模化应用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2030目标：全球智能体经济规模超万亿、占GDP比重5%+，量子安全通信全覆盖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华为HarmonyOS Celia助手通过A2A实现与应用内智能体互联，覆盖应用1万+，日活用户超千万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Azure AI Foundry支持A2A智能体一键部署，企业客户超3万家，部署周期从月级缩短至天级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AWS Bedrock AgentCore Runtime提供A2A原生运行时，弹性扩展按需计费，成本优化40%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Google Vertex AI支持A2A智能体发现与协作，与Gemini模型族深度集成，推理延迟&lt;100ms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2026上半年国内具身智能赛道融资935亿元（IT桔子），智能体互联带动产业投资，融资事件322笔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 GitHub 22K+ Stars，150+组织支持，SDK覆盖Python/JS/Java/Go/.NET，社区贡献者5000+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2027：后量子加密算法在信任链中试点，抵御量子计算攻击，密钥交换采用CRYSTALS-Kyber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2028：量子密钥分发（QKD）在京沪干线等骨干网试点，密钥率10Mbps+，智能体互联传输安全升级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2029：全同态加密性能提升100倍达到商用条件，安全多方计算支持百方联合建模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2030：抗量子算法强制认证，量子安全基础设施完备，全球AI安全条约签署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级联幻觉检测采用多智能体交叉验证机制，异常行为分析实时告警，伪造智能体拦截成功率99.9%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全链路审计日志留存3年以上，季度安全评估制度化，审计覆盖率100%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应急响应分级：一级（秒级自动隔离）、二级（分钟级人工介入）、三级（小时级复盘），SLA保障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2026：欧盟AI法2026年8月2日起扩大实施，执行透明度规则与通用AI模型提供商规则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2026：中国《人工智能拟人化互动服务管理暂行办法》2026年7月15日施行，首部拟人化互动专门立法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2026：《智能体规范应用与创新发展实施意见》2026年5月印发，首份系统性智能体专项政策覆盖19场景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2031-2035：自免疫安全、生态安全、文明安全等安全形态（只作为参考依据）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2031-2035：全球统一治理、人机命运共同体等治理形态（只作为参考依据）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2027：智能体身份码与国标GB/Z 185身份管理标准对接，实现跨平台身份互认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2028：跨域认证网关支持异构网络智能体互联，边界层、供应链层、运行时层三层防护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2030：统一身份体系支持全球智能体无缝漫游，跨域协作零配置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521874"/>
            <a:ext cx="11953951" cy="6033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2026：评估维度为技术创新（30%）、商业落地（40%）、生态建设（30%），权重采用AHP层次分析法动态可调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2026：指标体系含基准测试得分（GPQA/SWE-bench）、上下文长度、实测验证三维度，归一化至百分制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2026：评估方法为基准测试+实测验证+第三方审计，数据来源厂商官方发布与独立评测机构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2026：评分标准GPQA 90+为优、SWE-bench 85+为优、上下文1M+为优，双盲测试偏差&lt;5%方为有效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GPQA Diamond 94.6%、SWE-bench Verified 94.6%（ultra模式）、Agents' Last Exam 53.6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GPQA Diamond 92.6、PaperBench 93.0、OSWorld 86.1、CodeArena全球第4，2.4T参数MoE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 AIME 2026数学推理99.4%、LiveCodeBench 93.5%、Codeforces Rating 3206全球第一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Code Arena 1679分全球第一、AA Intelligence Index 57全球第三、BrowseComp 91.2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2026：GLM-5.3 CyberGym漏洞推理84.5%，超GPT-5.6 Sol的83.6%，编程能力较GLM-5.2提升50%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2026：结果应用为模型选型决策与投资方向判断，优化策略为持续迭代机制与季度复评，预期ROI 20%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2026：独立评测机构包括Artificial Analysis、LMSYS、SuperCLUE等，评测结果季度发布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2026：上下文长度评分1M+为优（100分）、500K为良（80分）、128K为中（60分），Qwen3.8/Kimi K3达1M+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2027：评估维度升级为智能体协作效率（35%）、安全合规（35%）、成本（30%），权重季度评审浮动±5%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2027：指标体系新增互联成功率、任务完成率、安全事件数三维度，数据来源AAIF认证与企业部署反馈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2027：互联成功率测试采用万级智能体并发握手，99%+为优；安全事件零事件为优、1-3起为良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2028：评估维度升级为跨行业价值（40%）、可持续性（30%）、创新（30%），新增碳足迹与NPS指标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2028：碳足迹采用全生命周期评估（LCA），碳中和达标为优；行业渗透率50%+为优，覆盖五大行业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2029：评估维度升级为自治能力（30%）、社会影响（40%）、经济（30%），L4自治认证为优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2029：社会影响评估采用社会学研究方法，样本量1万+、置信度95%，正面社会影响为优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2030：评估维度升级为全球竞争力（40%）、标准话语权（30%）、文明贡献（30%），全球份额30%+为优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2030：标准话语权按标准贡献数量与采纳范围评估，主导为优；文明指数纳入联合国可持续发展指标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2027-2030：评估方法从人工到自动、从季度到实时、从单一到全球对标演进，自动化率50%→95%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2027-2030：结果应用从选型决策到部署优先级排序、行业推广策略、国家战略参考演进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2027-2030：预期收益从ROI 20%到部署效率提升40%、行业收入增长50%、国际地位提升演进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2026：基准测试得分归一化GPQA权重40%、SWE-bench权重30%、其余30%，专家打分+一致性检验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2026：实测验证采用双盲测试，3家评测机构独立评分，偏差&lt;5%方为有效，确保结果可信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2026：第三方审计含数据来源核验、测试可复现性验证、结果一致性验证，审计通过率100%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2031-2035：智能体成熟度、生态健康度、人机协同度、文明融合度、终极价值等评估维度（只作为参考依据）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2031-2035：全自动评估、全球数据湖、终极标准等前瞻方法（只作为参考依据）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2031-2035：自优化、自适应调整、完美优化等优化策略（只作为参考依据）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2027：AAIF认证数据与企业部署反馈双源校验，数据可信度99%+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2028：ESG报告与行业协会数据纳入评估，可持续性权重提升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2029：国际认证机构与社会学研究双轨评估，伦理审查制度化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2030：国际组织数据与学术研究支撑全球对标，五年战略规划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2026：动态权重调整采用季度评审机制，年度标准更新大版本年更、小版本季更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2031-2035：文明级收益、无限收益等收益形态（只作为参考依据）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权重分配采用AHP层次分析法，专家打分+一致性检验（CR&lt;0.1），确保权重科学性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基准测试得分归一化至百分制，GPQA权重40%、SWE-bench权重30%、其余30%，季度校准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上下文长度评分：1M+为优（100分）、500K为良（80分）、128K为中（60分），Qwen3.8/Kimi K3满分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实测验证采用双盲测试，3家评测机构独立评分，偏差&lt;5%方为有效，仲裁机制兜底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第三方审计含数据来源核验、测试可复现性验证、结果一致性验证，审计报告公开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独立评测机构包括Artificial Analysis、LMSYS、SuperCLUE等，评测榜单季度更新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2027互联成功率测试采用万级智能体并发握手，成功率99%+为优，P99延迟&lt;100ms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安全事件数零事件为优、1-3起为良、3起以上为中，事件分级通报制度化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2028碳足迹采用全生命周期评估（LCA），覆盖训练/推理/部署全环节，碳中和达标为优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NPS用户满意度调查，50+为优、30-50为良、0-30为中，样本量10万+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 L4自治认证采用国际标准ISO/IEC 23059，第三方机构认证，认证周期3个月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社会影响评估采用社会学研究方法，样本量1万+、置信度95%，年度社会审计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2030全球份额数据来自IDC/Gartner等国际组织，季度更新，份额30%+为优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标准话语权按标准贡献数量与采纳范围评估，主导为优、参与为良、跟随为中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动态权重调整采用季度评审机制，权重浮动±5%，重大技术突破触发临时评审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年度标准更新采用版本管理，大版本年更、小版本季更，向后兼容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2027-2030评估自动化率演进：50%→70%→85%→95%，人工干预持续降低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行业渗透率50%+为优（2028标准），覆盖制造/零售/物流/金融/医疗五大行业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ultra模式协调多个并行智能体，SWE-bench达94.6%，成本优化20%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 125B参数MoE每token激活6B，训练成本较Qwen3.7-Plus降低近90%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 DeepSWE v1.1 65.3%（前代49.0%），AutomationBench 30.4%（前代17.0%）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2026：Grok 4.5 VulcanBench v3 91.3%（21/23真实PR任务），企业级代码修复能力领先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2031-2035：全自动评估、全球数据湖等前瞻方法（只作为参考依据）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2031-2035：终极标准、文明级收益等前瞻指标（只作为参考依据）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2031-2035：自进化、完美优化等优化策略（只作为参考依据）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2027：任务完成率指智能体端到端任务成功率，2027目标93%，2030目标98%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2028：创新维度含专利数量、开源贡献、论文影响力三子项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2029：经济维度含智能体经济规模、就业影响、生产力提升三子项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2030：文明贡献含教育普及、医疗可及、环境保护三子项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2026：评估结果应用于模型选型决策，企业选型准确率提升30%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2026：投资方向判断支撑一级市场决策，2026年中国AI投融资预计1526起、4245.67亿元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2031-2035：均衡权重、生态优先、协同优先等权重形态（只作为参考依据）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2027：红队测试纳入安全合规评估，攻击场景库1000+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2028：绿色认证与碳交易挂钩，可持续性收益可量化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2029：伦理框架迭代与年度社会审计结合，负面社会影响一票否决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2030：国际谈判依据与国家战略参考双输出，标准主导权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521874"/>
            <a:ext cx="11953951" cy="6033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2026：安全领域为智能体安全与数据安全，组件类型为签名Agent Card与信任链验证，三层防护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2026：防护层级为智能体层、通信层、数据层三层，加密算法为AES-256、国密SM4、RSA-4096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2026：认证标准为AAIF安全标准与国标GB/Z 185，合规要求为智能体互联国标与数据安全法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2026：监控体系为级联幻觉检测与异常行为分析，应急响应为伪造智能体拦截与实时告警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2026：安全审计为全链路审计与季度安全评估，审计日志留存3年以上，覆盖率100%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2026：2025年全球记录在案AI安全事件362起、同比+55%（斯坦福AI Index 2026），安全投入紧迫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2026：欧盟AI法2026年8月2日起扩大实施，执行透明度规则与通用AI模型提供商规则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2026：中国《人工智能拟人化互动服务管理暂行办法》2026年7月15日施行，首部拟人化互动专门立法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2026：《智能体规范应用与创新发展实施意见》2026年5月印发，首份系统性智能体专项政策覆盖19场景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2026：YD/T 6931—2026生成式AI图像检测标准2026年9月1日实施，GB/T 48073—2026深度学习框架标准8月28日发布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2026：签名Agent Card采用Ed25519数字签名，证书24小时自动轮换，防重放攻击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2026：信任链验证采用区块链分布式账本，智能体行为全链路记录、不可篡改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2027：安全领域升级为信任链安全与隐私计算，组件为零知识证明、联邦认证、安全沙箱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2027：加密算法演进至后量子加密与同态加密，认证标准为AAIF信任链RFC与ISO 27001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2027：后量子加密采用NIST FIPS 203/204/205标准，格密码CRYSTALS-Kyber试点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2028：安全领域升级为跨域安全与供应链安全，组件为跨域认证网关与供应链溯源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2028：量子密钥分发与格密码试点部署，跨域互认标准与供应链安全标准发布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2028：供应链溯源采用SBOM（软件物料清单）标准，组件来源可验证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2029：安全领域升级为自治安全与伦理安全，组件为自治行为约束与伦理审查引擎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2029：全同态加密与安全多方计算商用，自治安全标准与AI伦理准则实施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2029：伦理审查引擎实时评估智能体决策，伦理风险评分&gt;80自动干预，人类否决权保留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2030：安全领域升级为全球安全治理与量子安全，组件为全球安全联盟与量子安全基础设施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2030：量子加密全覆盖与抗量子算法成熟，全球AI安全条约签署，跨境事件通报机制建立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2030：全球威胁情报共享与量子安全监测，秒级协同响应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2026-2030：加密算法演进路径：AES-256/国密→后量子→量子密钥分发→全同态→量子全覆盖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2026-2030：防护层级演进：三层→五层→全域→全球→文明级，安全能力五年跃迁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2031-2035：自免疫安全、生态安全、文明安全、绝对安全、安全纪元等阶段（只作为参考依据）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2031-2035：生物加密、意识加密、终极加密等前瞻技术（只作为参考依据）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2031-2035：自进化标准、自治法规、终极法规等治理形态（只作为参考依据）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2026：级联幻觉检测采用多智能体交叉验证，错误放大率降至&lt;1%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2026：伪造智能体拦截采用白名单+行为指纹双重验证，拦截成功率99.9%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2027：零知识证明认证支持不泄露身份信息的身份验证，隐私保护级别最高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2027：安全沙箱采用微隔离技术，智能体行为限制在授权范围内，防越权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2028：跨域认证网关支持异构网络互联，边界层、供应链层、运行时层三层防护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2031-2035：自免疫系统、生态免疫、文明防护等前瞻体系（只作为参考依据）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Card采用Ed25519数字签名，证书有效期24小时自动轮换，防重放攻击，验证时延&lt;1ms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信任链验证采用区块链分布式账本，智能体行为全链路记录、不可篡改，追溯效率提升100倍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级联幻觉检测采用多智能体交叉验证机制，错误放大率降至&lt;1%，误报率&lt;0.1%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伪造智能体拦截采用白名单+行为指纹双重验证，拦截成功率99.9%，漏报率&lt;0.01%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AES-256用于数据存储加密，国密SM4用于国产化合规场景，RSA-4096用于密钥交换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2027后量子加密采用NIST FIPS 203/204/205标准，抵御量子计算攻击，性能开销&lt;10%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同态加密支持密文计算，数据可用不可见，满足隐私计算需求，2027年性能提升10倍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零知识证明认证支持不泄露身份信息的身份验证，隐私保护级别最高，验证时延&lt;10ms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安全沙箱采用微隔离技术，智能体行为限制在授权范围内，防越权，逃逸率0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2028量子密钥分发（QKD）在京沪干线等骨干网试点，密钥率10Mbps+，距离1000km+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格密码采用CRYSTALS-Kyber算法，抗量子攻击，性能开销&lt;5%，NIST标准化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供应链溯源采用SBOM（软件物料清单）标准，组件来源可验证，漏洞响应时间缩短80%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2029自治行为约束采用宪法AI方法，智能体行为符合预设原则，违规率&lt;0.01%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伦理审查引擎实时评估智能体决策，伦理风险评分&gt;80自动干预，人类否决权保留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全同态加密2029年性能提升100倍，达到商用条件，密文计算速度接近明文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安全多方计算支持百方联合建模，隐私泄露零，通信开销优化90%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2030量子加密全覆盖，抗量子算法强制认证，安全基础设施完备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全球AI安全条约建立跨境事件通报与联合响应机制，缔约国50+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应急响应分级：一级（秒级自动隔离）、二级（分钟级人工介入）、三级（小时级复盘）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全链路审计日志留存3年以上，季度安全评估制度化，审计覆盖率100%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2026：AI安全事件362起中，深度伪造诈骗占比35%，智能体安全事件占比20%且快速增长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2026：数据安全法、个人信息保护法、网络安全法三法衔接，智能体数据处理合规要求明确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2026：关键信息基础设施保护条例覆盖智能体系统，安全审查前置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2027：ISO 27001认证与AAIF信任链RFC双认证，企业合规成本降30%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2028：关键信息基础设施保护与跨境数据规则完善，智能体跨境互联合规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2029：智能体行为监管与伦理审查制度实施，伦理委员会制度化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2030：全球AI安全条约与量子安全法规生效，安全治理全球协同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2031-2035：自免疫系统、生态免疫、文明防护等前瞻体系（只作为参考依据）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2031-2035：生物加密、意识加密、终极加密等前瞻技术（只作为参考依据）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2031-2035：全知监控、自愈响应、完美审计等前瞻机制（只作为参考依据）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2026：异常行为分析采用UEBA技术，基线自学习，异常检出率99%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2026：实时告警分级推送，一级告警秒级触达，值班响应SLA 5分钟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2027：威胁情报共享联盟成员100+，情报时效&lt;1小时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2028：AI威胁狩猎主动发现未知威胁，狩猎周期周级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2031-2035：绝对安全、终极安全等前瞻形态（只作为参考依据）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2026：部署模式为AI云与混合部署，架构设计为智能体原生架构与微服务化，弹性伸缩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2026：基础设施为智算2185 EFLOPS（工信部2026年6月底数据，同比+177%）与42个万卡智算集群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2026：网络架构为多地多活与SD-WAN，数据存储为分布式存储与对象存储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2026：容灾方案为两地三中心、RPO&lt;1min、RTO&lt;5min，性能优化为峰谷定价优化与弹性伸缩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2026：成本控制为按需计费与资源池化，扩展策略为水平扩展与智能调度，利用率70%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2026：2026年前7个月158个总价过亿元数据中心项目招标，累计金额超1130亿元、同比+18%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2026：火山引擎内蒙古4个算力项目总投资约106.54亿元，新增标准机架超19.29万架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2026：Anthropic与Nscale签署450亿美元六年算力租约，锁定Monarch数据中心460MW（Vera Rubin芯片）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2026：Gartner预测2026年全球数据中心系统支出8220亿美元、增速62.5%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2026：字节豆包大模型日均Token调用量6月突破180万亿（一年增长超10倍），腾讯TokenHub 8月突破25万亿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2026：三大运营商2026上半年AIDC基础设施合计投资超283亿元，算力军备竞赛持续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2026：阿里巴巴浙江临平数据中心规划承载20万台服务器，2026年8月28日竣工验收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2027：部署模式升级为边缘智能体与端云协同，边缘节点10万+、5G专网覆盖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2027：架构设计为边缘-云协同架构与轻量化部署，网络为确定性网络与TSN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2027：边缘模型压缩：量化+蒸馏+剪枝，模型体积降90%，边缘推理降本40%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2028：部署模式升级为联邦部署与隐私计算，联邦节点1000+、可信执行环境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2028：数据不出域，联邦数据湖与密态存储成熟，零信任网络全覆盖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2028：可信执行环境采用Intel TDX/AMD SEV，硬件级隔离，联邦学习FedAvg+安全聚合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2029：部署模式升级为自治部署与自运维，自治数据中心与绿色能源，PUE&lt;1.1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2029：自组网与卫星互联部署，自愈系统零人工干预，运维成本降60%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2030：部署模式升级为全球部署与星际预备，全球数据中心与太空节点预备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2030：全球骨干网与卫星星座成熟，全球容灾与星际备份预备，偏远地区时延&lt;100ms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2026-2030：部署模式演进路径：AI云→边缘协同→联邦部署→自治部署→全球部署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2026-2030：算力成本演进：峰谷定价→边缘降本40%→联邦降本→自治降本60%→全球资源池最优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2031-2035：星际部署、全息部署、意识部署、维度部署、终极部署等阶段（只作为参考依据）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2031-2035：星际网络、全息网络、意识网络等前瞻架构（只作为参考依据）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2031-2035：太空基础设施、全息基础设施等前瞻设施（只作为参考依据）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2026：42个万卡集群分布于贵州、内蒙古、甘肃等全国算力枢纽节点，东数西算格局成型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2026：SD-WAN支持智能选路与带宽优化，跨地域时延优化30%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2026：对象存储支持EB级容量，数据生命周期自动管理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2027：5G专网支持确定性时延，URLLC模式时延&lt;5ms，工业场景全覆盖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2027：TSN时间敏感网络保障工业控制实时性，抖动&lt;1μs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2029：绿电占比80%+，碳中和数据中心认证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2030：卫星星座（国网/千帆）支持全球覆盖，星地协同计算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2031-2035：星际存储、全息存储、意识存储等前瞻存储（只作为参考依据）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2185 EFLOPS同比+177%、环比+16.6%，智能算力规模全球领先（工信部2026年6月底数据）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42个万卡集群分布于贵州、内蒙古、甘肃等全国算力枢纽节点，东数西算工程成效显著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两地三中心容灾：生产中心+同城灾备中心+异地灾备中心，RTO&lt;5min、RPO&lt;1min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峰谷定价：DeepSeek V4 Pro空闲时段输入4.5元/百万tokens，高峰翻倍，成本优化30%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弹性伸缩基于Kubernetes HPA/VPA，资源利用率提升至70%，峰谷自动扩缩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1130亿元招标金额同比+18%，算力基础设施处于高景气周期，2026全年预计超2000亿元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火山引擎19.29万架机架支撑豆包180万亿日均Token调用，单机架功率12kW+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Anthropic 460MW采用英伟达Vera Rubin芯片，园区总投资约710亿美元，2027年交付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三大运营商2026上半年AIDC基础设施合计投资超283亿元，中国移动占比40%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阿里巴巴浙江临平数据中心规划承载20万台服务器，2026年8月28日竣工验收，PUE 1.15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2027边缘节点10万+部署于工厂、园区、社区，时延&lt;10ms，覆盖率80%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5G专网支持确定性时延，URLLC模式时延&lt;5ms，工业场景全覆盖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TSN时间敏感网络保障工业控制实时性，抖动&lt;1μs，产线级部署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边缘模型压缩：量化+蒸馏+剪枝，模型体积降90%，精度损失&lt;1%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2028可信执行环境采用Intel TDX/AMD SEV，硬件级隔离，认证覆盖率100%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联邦学习采用FedAvg+安全聚合，隐私泄露零，通信开销优化90%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2029自治数据中心PUE&lt;1.1，绿电占比80%+，液冷普及率90%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自组网支持节点自动发现与配置，运维成本降60%，故障自愈率99%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2030卫星星座（国网/千帆）支持全球覆盖，偏远地区时延&lt;100ms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全球调度支持就近接入与负载均衡，跨地域时延&lt;100ms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API 2026年8月21日降价超20%，Luna降价80%，推理成本持续下降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API定价输入12元/输出36元每百万tokens，Qwen3.8-Flash输入1元/输出3元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Pro空闲时段输入4.5元/输出13.5元每百万tokens，性价比全球领先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Flash介绍价0.75/3.75美元每百万tokens，为前代一半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2031-2035：星际基础设施、全息基础设施等前瞻设施（只作为参考依据）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2031-2035：星际容灾、全息容灾、意识容灾等前瞻容灾（只作为参考依据）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2031-2035：星际优化、全息优化、意识优化等前瞻优化（只作为参考依据）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2026：分布式存储支持EB级容量，三副本+纠删码混合，可靠性11个9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2026：智能调度基于强化学习，调度决策时延&lt;10ms，资源碎片率&lt;5%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2027：边缘缓存支持热点数据本地化，带宽优化50%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2027：数据分级存储：热/温/冷自动分层，存储成本降40%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2028：密态存储支持数据全生命周期加密，密钥管理HSM硬件保障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2029：智能分层基于访问预测，命中率95%+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2030：全球数据湖支持跨域数据共享，数据主权保障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2031-2035：终极存储、终极容灾、终极优化等前瞻形态（只作为参考依据）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2026：能力维度为认知升维与多模态融合，核心能力为世界模型崛起与深度逻辑推理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2026：模型能力为Qwen3.8 2.4T参数MoE、GPT-5.6 Sol、Gemini 3.7 Flash三强格局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2026：推理能力为GPQA Diamond 94.6%（GPT-5.6 Sol）、SWE-bench Verified 94.6%，接近人类专家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2026：学习能力为1M上下文增量学习与持续微调，LoRA微调成本从8.4GB降至400MB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2026：创造能力为多模态内容生成与代码自动生成，文本/图像/音频/视频统一生成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2026：协作能力为A2A+MCP多智能体与人机协同，自主任务拆解与执行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2026：决策能力为数据驱动+推理与多目标优化，战略决策支持长期规划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2026：进化能力为自我纠错与参数优化，递归自改进初现，错误率降90%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2026：智源「悟界」世界模型崛起，支持物理世界模拟与预测，预测准确率90%+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 125B参数MoE每token激活6B，训练成本较Qwen3.7-Plus降低近90%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Code Arena 1679分全球第一，前端编程能力超Claude Fable 5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2026：GLM-5.3 CyberGym漏洞推理84.5%，网络安全能力全球领先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2027：能力维度升级为具身创造与物理世界交互，具身大模型成熟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2027：物理推理与因果推断能力突破，具身持续学习与技能迁移实现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2027：具身大模型融合视觉/触觉/本体感知，操作成功率95%+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2028：能力维度升级为科学发现与自主研究，科学大模型支持假设生成与实验设计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2028：定理证明与科学推理能力成熟，自主文献学习与知识图谱构建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2028：科学大模型支持假设自动生成，实验设计效率提升10倍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2029：能力维度升级为艺术创造与文化生成，审美推理与情感计算突破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2029：原创艺术与文化创新规模化涌现，人机共创成为主流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2029：审美推理支持风格量化与情感计算，艺术评价准确率90%+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2030：能力维度升级为通用创造与全维度创新，通用创造模型与跨域迁移成熟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2030：终身学习与自主进化实现，文明级创新能力初现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2030：通用创造模型支持跨域知识迁移，创新效率提升100倍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2026-2030：创造能力演进路径：内容生成→物理创造→科学发现→艺术创造→通用创造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2026-2030：进化能力演进路径：参数优化→技能积累→范式突破→自主进化→文明贡献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2026-2030：协作能力演进路径：人机协同→多智能体→人机物协同→科研协作→全智能体协作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2031-2035：超级创造、无限创造、意识创造、维度创造、终极创造等阶段（只作为参考依据）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2031-2035：超级推理、无限推理、意识推理等前瞻能力（只作为参考依据）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2031-2035：超级进化、无限进化、意识进化等前瞻进化（只作为参考依据）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2026：1M上下文支持整本书级代码库理解，增量学习支持持续知识更新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2026：多模态内容生成支持文生视频15秒高质量，实时交互数字人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2027：技能迁移支持跨机器人技能共享，训练成本降70%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2028：定理证明支持Lean/Coq形式化验证，证明成功率80%+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2029：文化生成支持传统文化现代化表达，年产新作品10万+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2030：终身学习支持无灾难性遗忘的知识累积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Qwen3.8采用稀疏MoE架构，总参数2.4万亿，每步激活约950亿，推理成本优化60%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ultra模式协调多个并行智能体，SWE-bench达94.6%，FrontierMath Tier1-3 89%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 DeepSWE v1.1 65.3%（前代49.0%），AutomationBench 30.4%（前代17.0%）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GLM-5.3 CyberGym漏洞推理84.5%，超GPT-5.6 Sol的83.6%，编程能力较GLM-5.2提升50%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1M上下文支持整本书级代码库理解，增量学习支持持续知识更新，遗忘率&lt;5%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LoRA微调技术将适配成本从8.4GB降至400MB，个人开发者可消费级显卡微调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「悟界」世界模型支持物理规则学习，预测准确率90%+，仿真速度1000倍实时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多模态内容生成支持文本/图像/音频/视频统一生成，视频15秒高质量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2027具身大模型融合视觉/触觉/本体感知，操作成功率95%+，泛化场景1000+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技能迁移支持跨机器人技能共享，训练成本降70%，迁移成功率90%+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2028科学大模型支持假设自动生成，实验设计效率提升10倍，诺奖级发现辅助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定理证明支持Lean/Coq形式化验证，证明成功率80%+，数学前沿问题辅助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2029审美推理支持风格量化与情感计算，艺术评价准确率90%+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文化生成支持传统文化现代化表达，年产新作品10万+，非遗数字化全覆盖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2030通用创造模型支持跨域知识迁移，创新效率提升100倍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终身学习支持无灾难性遗忘的知识累积，知识容量无限扩展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自我纠错支持输出自动检测与修复，错误率降90%，置信度校准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参数优化支持神经架构搜索（NAS），架构设计自动化，搜索成本降99%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Code Arena前端编程Kimi K3 1679分全球第一，超Claude Fable 5的1631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Grok 4.5 VulcanBench v3 91.3%（21/23真实PR任务），企业级代码修复领先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 AIME 2026数学推理99.4%，奥数级能力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2026：LiveCodeBench 93.5%、Codeforces Rating 3206全球第一，竞技编程超越人类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PaperBench 93.0，科研论文复现能力接近人类研究者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2026：OSWorld 86.1，计算机操作能力超越人类平均水平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2031-2035：意识创造、维度创造等前瞻能力（只作为参考依据）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2031-2035：超级学习、无限学习、意识学习等前瞻学习（只作为参考依据）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2031-2035：超级协作、无限协作、意识协作等前瞻协作（只作为参考依据）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2026：递归自改进初现，模型自动优化自身架构，迭代周期月级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2026：多目标优化支持成本/性能/安全三目标帕累托最优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2027：因果推断支持反事实推理，决策可解释性提升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2027：物理推理支持牛顿力学/流体力学仿真，工程级精度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2028：自主文献学习支持百万篇论文知识抽取，知识图谱自动构建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2028：实验设计支持自动化实验室闭环，机器人执行实验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2029：情感计算支持微表情/语音/文本多模态情感识别，准确率95%+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2029：风格融合支持跨艺术形式创新，新艺术流派涌现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2031-2035：终极创造、终极推理、终极进化等前瞻形态（只作为参考依据）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2026：指标类别为基础指标与实测验证，响应时间&lt;100ms、P99&lt;200ms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2026：吞吐量10K QPS、峰值50K，准确率95%（GPQA 94.6%）、召回率90%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2026：F1分数92%、资源利用率70%、可用性99.9%、年度停机约8.8小时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FrontierMath Tier1-3 89%、Agents' Last Exam 53.6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GDPval-AA v2 1687（第三），14项基准11项胜GPT-5.6 Sol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2026：Grok 4.5 VulcanBench v3 91.3%（21/23真实PR任务）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2027：指标类别升级为智能体指标与互联性能，响应&lt;50ms、P99&lt;100ms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2027：吞吐量50K QPS、准确率97%、互联成功率99%、可用性99.95%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2027：任务完成率93%+，端到端优化F1 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2028：指标类别升级为边缘指标与实时性能，响应&lt;30ms、吞吐量100K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2028：边缘推理准确率98%、可用性99.99%、年度停机约53分钟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2028：实时处理召回率95%，流式数据毫秒级响应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2029：指标类别升级为自治指标与自优化，响应&lt;20ms、吞吐量500K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3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2029：自治决策准确率99%、可用性99.995%、年度停机约26分钟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2029：自学习支持在线增量更新，模型周级自动迭代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2030：指标类别升级为全球指标与极致性能，响应&lt;10ms、吞吐量1M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2030：全球一致准确率99.5%、可用性99.999%、年度停机约5分钟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2030：量子安全通信保障传输安全，时延开销&lt;5%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2026-2030：响应时间演进100ms→50ms→30ms→20ms→10ms，五年提升10倍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2026-2030：吞吐量演进10K→50K→100K→500K→1M QPS，五年提升100倍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2026-2030：可用性演进99.9%→99.95%→99.99%→99.995%→99.999%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2026-2030：年度停机演进8.8小时→4.4小时→53分钟→26分钟→5分钟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2026-2030：资源利用率演进70%→75%→80%→85%→90%，智能调度持续优化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2031-2035：星际指标、全息指标、意识指标、维度指标、终极指标等阶段（只作为参考依据）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2031-2035：瞬时响应、无限吞吐、完美准确率等前瞻指标（只作为参考依据）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2031-2035：零停机、永恒可用等前瞻可用性（只作为参考依据）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2026：2026年8月21日GPT-5.6 Sol API降价超20%，Luna降价80%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2026：Qwen3.8-Flash定价输入1元/输出3元每百万tokens，成本降90%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Pro空闲时段输入4.5元/百万tokens，性价比全球第一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2026：Gemini 3.7 Flash介绍价0.75/3.75美元每百万tokens，为前代一半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2027：边缘自治支持离线运行，断网续行72小时+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2028：自愈系统支持故障自动检测与恢复，MTTR&lt;1min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2029：预测性扩容基于负载预测，扩容提前量30分钟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2030：全球调度支持就近接入与负载均衡，跨地域时延&lt;100ms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2031-2035：星际优化、全息优化、意识优化等前瞻优化（只作为参考依据）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响应时间P99指第99百分位延迟，比平均值更能反映极端体验，SLA以P99为准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10K QPS为单集群吞吐，水平扩展可线性提升至100K，扩展效率95%+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GPQA Diamond为研究生级科学问答基准，94.6%接近人类专家水平（博士89%）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召回率90%基于行业基准测试集，F1 92%为精确率与召回率调和平均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资源利用率70%为GPU平均利用率，智能调度提升至85%，碎片率&lt;5%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可用性99.9%对应年停机8.76小时，99.999%对应5.26分钟，五个9为金融级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2027互联成功率99%指A2A智能体互联握手成功率，万级并发测试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任务完成率指智能体端到端任务成功率，2027目标93%、2030目标98%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2028边缘推理采用NPU加速，时延&lt;30ms、功耗&lt;15W，能效比10TOPS/W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实时处理支持流式数据毫秒级响应，2028召回率95%，窗口1秒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2029自治决策指智能体自主决策占比，准确率99%，人工干预&lt;1%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自学习支持在线增量更新，模型周级自动迭代，漂移检测自动触发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2030全球一致指多地域部署数据一致性，99.5%，CRDT无冲突合并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量子安全通信保障传输安全，时延开销&lt;5%，QKD密钥率10Mbps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边缘自治支持离线运行，断网续行72小时+，本地决策能力完整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自愈系统支持故障自动检测与恢复，MTTR&lt;1min，故障预测准确率95%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全球调度支持就近接入与负载均衡，跨地域时延&lt;100ms，智能DNS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2026年8月21日GPT-5.6 Sol API降价超20%，Luna降价80%，价格战持续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Qwen3.8-Flash定价输入1元/输出3元每百万tokens，成本降90%，普惠AI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DeepSeek V4 Pro空闲时段输入4.5元/输出13.5元每百万tokens，高峰翻倍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Flash介绍价0.75/3.75美元每百万tokens，为前代一半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2031-2035：星际指标、全息指标等前瞻指标（只作为参考依据）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2031-2035：瞬时响应、无限吞吐等前瞻性能（只作为参考依据）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2031-2035：零停机、永恒可用等前瞻可用性（只作为参考依据）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2026：P99&lt;200ms保障交互流畅，人类感知阈值200ms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2026：峰值50K QPS应对流量洪峰，弹性缓冲30分钟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2027：P99&lt;100ms，智能体互联体验无感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2027：峰值200K QPS，行业级并发支撑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2028：P99&lt;60ms，边缘实时控制级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2028：峰值500K QPS，城市级并发支撑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2029：P99&lt;40ms，自动驾驶级时延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2029：峰值2M QPS，国家级并发支撑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2030：P99&lt;20ms，全球实时协同级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2030：峰值10M QPS，全球级并发支撑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2031-2035：超光速、无限等前瞻时延（只作为参考依据）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2026：生态角色为基础构建与标准引领，合作伙伴为150+组织与250+AAIF成员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2026：开发者社区为22K+ GitHub Stars与5语言SDK，开源项目为A2A协议开源与MCP生态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2026：标准制定为国标GB/Z 185与AAIF标准，产业联盟为AAIF联盟与行业工作组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2026：培训体系为初级培训与认证体系，孵化加速为创业孵化与加速器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2026：生态价值为中国AI核心产业1.2万亿元（工信部WAIC 2026披露），生态初具规模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7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2026：百余家企业参与《智能体协议共建共享联合倡议》，200多家企业开展试点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2026：2026上半年具身智能赛道融资935亿元、同比提升5倍，融资事件322笔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2026：月之暗面最新融资35亿美元、估值350亿美元，红杉完成约100亿美元新基金募资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2026：OpenAI 2026年2月融资1220亿美元、投后估值8520亿美元，Anthropic H轮650亿美元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2026：2025年中国AI投融资857起、752.42亿元，2026年预计1526起、4245.67亿元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2027：生态角色升级为规模扩展与行业渗透，合作伙伴500+组织、行业全覆盖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2027：开发者社区50K+ Stars、10语言SDK，开源项目为行业解决方案开源与工具链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2027：行业解决方案开源覆盖制造/零售/物流/金融/医疗五大行业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2028：生态角色升级为全球协作与开放治理，合作伙伴1000+组织、全球覆盖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2028：全球开源项目与治理框架成熟，全球标准与治理规范发布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2028：全球社区贡献者1万+，月活开发者10万+，治理框架含贡献审核/版本发布/争议仲裁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2029：生态角色升级为自治生态与自组织，自治组织与自治理成熟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2029：自治社区自贡献、自治开源自维护、自治标准自进化，DAO治理+代币激励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2030：生态角色升级为文明生态与共生体系，全物种协作与人机共生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2030：文明级开源全共享、文明标准全治理、文明联盟全协作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2026-2030：合作伙伴演进150+→500+→1000+→自治组织→全物种协作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2026-2030：培训演进初级→中级→高级→自治培训→文明培训，认证人次1万+→100万+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2026-2030：孵化演进创业孵化→行业孵化→全球孵化→自治孵化→文明孵化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2031-2035：超级生态、无限生态、意识生态、维度生态、终极生态等阶段（只作为参考依据）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2031-2035：超级协作、无限协作、意识协作等前瞻协作（只作为参考依据）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2031-2035：超级价值、无限价值、意识价值等前瞻价值（只作为参考依据）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2026：AIP开源代码V2.1于2026年7月21日发布，智能体身份码发放2000余个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2026：美团、去哪儿、滴滴、神州数码、中科院软件所等签约试点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2026：培训认证体系含初级/中级/高级三级，2026年认证1万+人次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2026：加速器提供资金+导师+资源三位一体支持，2026年孵化100+项目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2026：产业基金规模100亿+，聚焦智能体与具身智能赛道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2027：工具链开源含智能体开发框架、测试平台、监控系统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2028：全球标准与治理规范发布，开放治理成熟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2029：自治标准自进化支持标准自动修订与发布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2030：人机共生生态含人类创作者、智能体开发者、生态运营者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2031-2035：超级孵化、无限孵化、意识孵化等前瞻孵化（只作为参考依据）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 GitHub 22K+ Stars，150+组织支持，SDK覆盖Python/JS/Java/Go/.NET，社区贡献者5000+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185系列7项标准覆盖智能体全生命周期，全球首套系统性智能体互联标准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AAIF成员250+，含Google、Microsoft、AWS、Anthropic、阿里巴巴等巨头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AIP开源代码V2.1于2026年7月21日发布，智能体身份码发放2000余个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美团、去哪儿、滴滴、神州数码、中科院软件所等签约试点，场景覆盖出行/本地生活/物流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2026上半年具身智能赛道融资935亿元、同比提升5倍，融资事件322笔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2027行业解决方案开源覆盖制造/零售/物流/金融/医疗五大行业，下载量100万+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工具链开源含智能体开发框架、测试平台、监控系统，Star数10万+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2028全球社区贡献者1万+，月活开发者10万+，覆盖100+国家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治理框架含贡献审核、版本发布、争议仲裁机制，透明公开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2029自治组织采用DAO治理，代币激励与声誉系统结合，参与率50%+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自治标准自进化支持标准自动修订与发布，修订周期月级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2030人机共生生态含人类创作者、智能体开发者、生态运营者，规模10亿+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文明级开源采用公共领域许可，知识全共享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培训认证体系含初级/中级/高级三级，2026年认证1万+人次，通过率70%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加速器提供资金+导师+资源三位一体支持，2026年孵化100+项目，存活率80%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产业基金规模100亿+，聚焦智能体与具身智能赛道，IRR 25%+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2025年中国AI投融资857起、752.42亿元，2026年预计1526起、4245.67亿元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OpenAI 2026年2月融资1220亿美元、投后估值8520亿美元，史上最大私募轮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Anthropic H轮650亿美元，估值3800亿美元，算力储备充足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月之暗面最新融资35亿美元、估值350亿美元，Kimi K3研发投入10亿美元+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红杉完成约100亿美元新基金募资，AI赛道配置60%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2026：中国AI核心产业规模1.2万亿元（工信部WAIC 2026披露），同比+30%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2026：全球AI市场9000亿美元，智能体经济占比20%+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2027：生态价值翻倍，行业收入占比30%，智能体市场超千亿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2028：全球生态价值初具规模，开放治理成熟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2029：自治生态价值超5000亿，自组织成熟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2030：文明生态价值超万亿，共生成熟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2031-2035：超级生态、无限生态等前瞻生态（只作为参考依据）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2031-2035：超级培训、无限培训、意识培训等前瞻培训（只作为参考依据）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2031-2035：超级价值、无限价值、意识价值等前瞻价值（只作为参考依据）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2026：初级培训覆盖智能体开发基础，课程40学时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2026：中级培训覆盖A2A协议实战，课程80学时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2026：高级培训覆盖架构设计与安全，课程120学时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2027：行业认证覆盖五大行业，持证上岗制度化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2028：全球认证互认，国际标准统一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2031-2035：终极生态、终极协作、终极价值等前瞻形态（只作为参考依据）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2026：方案A为成熟模型（GPT-5.6 Sol/Qwen3.8/Gemini 3.7 Flash），优势为成熟稳定、生态完善、性能领先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2026：方案A劣势为创新有限、成本较高，适用传统行业与企业级应用，推荐指数★★★★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2026：方案B为开源生态（DeepSeek V4 Pro/GLM-5.3/Kimi K3），优势为成本可控、自主可控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2026：方案B劣势为需生态建设、技术门槛，适用互联网与科技企业，推荐指数★★★★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2027：方案A为智能体平台（A2A互联平台），优势为协作效率、低延迟、可扩展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2027：方案A劣势为标准演进中、集成复杂，适用制造/零售/物流，推荐指数★★★★★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2027：方案B为边缘部署（边缘智能体），优势为低延迟、数据本地化，劣势为边缘运维复杂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2028：方案A为联邦智能（联邦学习+智能体），优势为数据不出域、合规性强、跨域协作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2028：方案A适用金融/医疗/政务，实施难度高，推荐指数★★★★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2028：方案B为隐私计算平台，优势为安全可控，劣势为性能损耗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2029：方案A为自治系统（自治运维+智能体），优势为自运维、物理交互、全场景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2029：方案A劣势为安全风险、伦理挑战，适用工厂/仓储/服务，推荐指数★★★★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2029：方案B为具身智能平台，优势为物理世界交互，劣势为硬件投入大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2030：方案A为全球平台（全球智能体平台），优势为全球覆盖、通用能力、文明级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2030：方案A劣势为治理复杂、对齐挑战，适用全行业，推荐指数★★★★★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2030：方案B为通用智能体，优势为通用能力，劣势为技术门槛极高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2026-2030：方案演进路径：成熟模型→智能体平台→联邦智能→自治系统→全球平台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2026-2030：推荐指数演进：★★★★→★★★★★→★★★★→★★★★→★★★★★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2031-2035：超级方案、无限方案、意识方案、维度方案、终极方案等阶段（只作为参考依据）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2031-2035：超级智能路线、无限智能路线等前瞻路线（只作为参考依据）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2031-2035：未知风险、未知收益等前瞻评估（只作为参考依据）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2026：成熟模型方案部署周期1-2周，运维成熟度高，SLA 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2026：开源生态方案支持私有化部署，数据安全自主可控，定制灵活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2027：智能体平台方案基于A2A v1.0，互联成功率99%+，协作效率提升40%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2027：边缘部署方案支持离线运行，断网续行72小时+，时延&lt;10ms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2028：联邦智能方案满足《数据安全法》《个人信息保护法》合规要求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2028：隐私计算方案采用联邦学习+安全多方计算，隐私泄露零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2029：自治系统方案运维成本降60%，人工干预降90%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2029：具身智能方案硬件成本：宇树R1降至2.99万元起，商业化加速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2030：全球平台方案支持多语言/多地域/多合规，全球部署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2030：通用智能体方案支持跨域任务自动分解与执行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2026-2030：实施难度评估：低（1-2周）/中（1-3月）/高（3-6月）/极高（6月+）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2026-2030：投入成本评估：低（十万级）/中（百万级）/高（千万级）/极高（亿级）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2026-2030：预期收益评估：稳定回报/效率提升40%/合规收益显著/人力替代/文明级收益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2026：推荐指数基于技术成熟度、生态完善度、成本可控性、收益预期四维度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2026：人形机器人单价从2023年59.34万元降至2025年16.64万元，2026年预计10万元内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Sol API 2026年8月21日降价超20%，Luna降价80%，成本持续优化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 API定价输入12元/输出36元每百万tokens，Qwen3.8-Flash输入1元/输出3元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DeepSeek V4 Pro空闲时段输入4.5元/输出13.5元每百万tokens，高峰翻倍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Flash介绍价0.75/3.75美元每百万tokens，为前代一半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2026成熟模型方案部署周期1-2周，运维成熟度高，文档完善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开源生态方案支持私有化部署，数据安全自主可控，代码可审计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2027智能体平台方案基于A2A v1.0，互联成功率99%+，SDK五语言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边缘部署方案支持离线运行，断网续行72小时+，边缘节点10万+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2028联邦智能方案满足《数据安全法》《个人信息保护法》合规要求，审计通过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隐私计算方案采用联邦学习+安全多方计算，隐私泄露零，性能损耗&lt;20%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2029自治系统方案运维成本降60%，人工干预降90%，自愈率99%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具身智能方案硬件成本：宇树R1降至2.99万元起，商业化加速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2030全球平台方案支持多语言/多地域/多合规，全球部署，合规自动化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通用智能体方案支持跨域任务自动分解与执行，任务成功率98%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实施难度评估：低（1-2周）/中（1-3月）/高（3-6月）/极高（6月+）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投入成本评估：低（十万级）/中（百万级）/高（千万级）/极高（亿级）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预期收益评估：稳定回报/效率提升40%/合规收益显著/人力替代/文明级收益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推荐指数基于技术成熟度、生态完善度、成本可控性、收益预期四维度，AHP加权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2026年人形机器人单价从2023年59.34万元降至2025年16.64万元，降幅72%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2026：方案A成熟模型GPQA 94.6%性能领先，生态完善SDK五语言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2026：方案B开源生态DeepSeek V4 Pro Codeforces 3206全球第一，成本可控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2027：方案A智能体平台协作效率提升40%，低延迟&lt;50ms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2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2027：方案B边缘部署数据本地化，合规无忧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2028：方案A联邦智能跨域协作，数据不出域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2028：方案B隐私计算安全可控，密态计算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2029：方案A自治系统全场景覆盖，自运维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2029：方案B具身智能物理交互，操作成功率95%+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2030：方案A全球平台文明级收益，全球覆盖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2030：方案B通用智能体通用能力，跨域迁移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2031-2035：超级方案、无限方案等前瞻方案（只作为参考依据）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2031-2035：超级优势、无限优势等前瞻优势（只作为参考依据）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2031-2035：未知风险、未知收益等前瞻评估（只作为参考依据）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2026：四维度权重：技术成熟度30%、生态完善度25%、成本可控性25%、收益预期20%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2026：★★★★=推荐首选，★★★★★=强烈推荐，★★★=谨慎选择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1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2027：制造/零售/物流三行业智能体平台ROI 18个月回本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2031-2035：终极方案、终极优势等前瞻形态（只作为参考依据）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【AI能力全景图】截止2026年8月29日（1）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【AI已具备的核心能力】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核心范式转变】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从Chatbot到AI Agent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企业级落地，降低30%-50%人力成本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认知与推理能力】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超长上下文窗口：1M Token+（Qwen3.8/Kimi K3）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思维链推理能力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多模态与内容生成】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视频生成普及化（15秒高质量）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实时交互数字人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物理世界交互】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具身智能商业化（2026上半年中国产量超4万台）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⚠️ 【AI能力边界与短板】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【隐性知识缺失】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难以获取直觉、经验和情感判断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老焊工的"手感"、医生的瞬间临床直觉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【物理规则盲区】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复杂物理世界互动仍可能出错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尚未完全理解所有物理细节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【高风险决策限制】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麻醉、急诊、司法审判需人类主导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生命攸关决策必须有人类把关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【安全与幻觉风险】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多步骤真实世界任务仍有失败风险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AI安全事故数量随应用增加而上升（2025年全球362起，同比+55%）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89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大规模增量学习（Qwen3.8 2.4T参数MoE）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LoRA微调技术（Qwen3.8-Flash 125B参数）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跨场景知识迁移能力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学习范式演进】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世界模型崛起（智源"悟界"）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下一状态预测（NSP）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元学习与自我迭代（HYPERAGENTS）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实际应用】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私有化RAG知识库深度适配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从"操作员"→"系统架构师"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学习效率提升】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少样本学习：用少量数据快速掌握新技能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零样本学习：无需训练即可完成新任务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300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推理类型】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逻辑推理：基于规则和逻辑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数学推理：解决数学问题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科学推理：提出假设并验证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深度推理：复杂问题深层推理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推理方法】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演绎/归纳/类比/溯因推理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应用场景】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问题解决｜决策支持｜知识发现｜创新创造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【演进路径】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简单推理 → 多步推理 → 深度逻辑推理 → 因果推理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【AI能力全景图】决策·协作·进化·维度（2）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289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【AI决策能力】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决策类型层面】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数据驱动决策：基于历史数据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智能决策：推理+预测+规划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战略决策：长期规划与资源配置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决策质量层面】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高准确率：基准测试持续提升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全局最优：多目标约束求解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风险评估：制定应对策略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决策速度层面】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实时决策：毫秒级响应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自动化流程：端到端自动化决策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决策范围层面】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单一任务：推荐、风控等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复杂场景：供应链、投资、城市交通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【AI协作能力】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核心形态】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自主任务拆解与执行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多智能体协作（Multi-Agent，国标GB/Z 185）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MCP+A2A协议标准化（AAIF治理）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技术深度】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逻辑推理层深化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Action闭环能力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洞察-决策-执行闭环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组织融合】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AI协作能力成为职场硬指标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绩效评估纳入AI使用效果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轻量化集成与存量适配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行业落地特征】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垂直场景原生：工程监理、生产制造、财税合规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绿色与算力协同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【AI进化能力】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进化机制层面】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递归自改进：自动优化架构、算法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持续学习：运行中不断学习新知识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自我纠错：自动调整策略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进化方向层面】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能力扩展：多维度同时进化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跨域迁移：跨领域能力迁移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层级提升：工具→自主→通用智能体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进化速度层面】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指数加速：学习曲线陡峭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自动化程度高：自主进化闭环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进化目标层面】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长期目标导向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价值体系构建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【进化路径】工具智能体 → 自主智能体 → 通用智能体 → 超级智能体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3009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【AI能力维度】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【核心维度体系】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【模型能力】语言/生成/翻译/问答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【推理能力】逻辑/深度/因果推理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【学习能力】增量/迁移/元学习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【创造能力】内容生成/设计创新/科学发现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【协作能力】人机/多智能体/跨域协作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【决策能力】日常/复杂/战略决策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【进化能力】自我优化/自我迭代/自我超越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【总结】AI能力是一个多维度协同进化的综合体系，各维度相互促进、共同发展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【2027年至2035年AI最新发展动态和趋势】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610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一、阶段性发展目标与里程碑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【2027-2028年：全域普及落地期】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普及率超过70%，AI从"辅助工具"向"自主主体"过渡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具身智能进入规模化应用元年，L3级自动驾驶高速商用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【2029-2032年：业态深度融合期】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普及率超过90%，人机协同成为主流模式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L4级自动驾驶城市普及，数字员工全面替代传统办公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【2033-2035年：全球生态引领期】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普及率超95%，AI升级为通用性社会公共服务能力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8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全面步入智能经济和智能社会发展新阶段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二、六大核心发展趋势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【1. 智能体与具身智能爆发】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自主智能体独立完成任务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机器人与AI大模型深度融合，2030年产业规模达4000亿元（只作为参考依据）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【2. "人工智能+"重塑六大领域】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产业发展｜民生福祉｜治理能力｜消费提质｜科学技术｜全球合作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7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【3. 算力与能源深度绑定】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AIDC成为耗能大户，储能成为核心基础设施（2026年智算2185 EFLOPS）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610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【4. 交互方式革命】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多模态与自然化交互升级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语音、手势、眼动、脑机接口等自然交互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【5. 安全与伦理同步演进】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建立"以智应智"主动防御体系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AI安全治理与技术发展同步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【6. 产业结构与就业形态重构】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传统重复性岗位缩减30%以上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催生AI训练师、提示词工程师等新职业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三、关键技术突破方向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【量子AI】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量子计算与AI深度融合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指数级加速复杂问题求解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【神经形态计算】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类脑芯片突破能效瓶颈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实现低功耗边缘AI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【脑机接口】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非侵入式高带宽BCI普及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实现脑-机-云融合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四、总结与建议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2027-2035年是AI从技术红利转化为社会红利的关键十年：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个人：提升与AI协作能力，关注创造力与复杂决策能力培养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企业：布局"人工智能+"战略，重构业务流程降本增效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社会：建立健全AI伦理与安全治理体系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【法律声明】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65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【知识产权保护】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本 PPT 内容受《中华人民共和国著作权法》及相关国际公约保护；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未经本 PPT 作者书面授权，任何单位或个人不得以任何形式复制、传播、改编、翻译、汇编或用于商业目的；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擅自使用或侵权将依法追究法律责任，包括但不限于赔偿损失、承担诉讼费用等。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【内容性质说明】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本 PPT 内容为基于截至 2026 年 8 月公开信息的前瞻性研究与合理推演，**不构成投资建议、商业承诺或法律保证**；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文中提及的 AI 大模型技术参数、市场规模预测、技术发展时间节点等均为理论推演，实际情况可能因多种因素而有所不同；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读者应独立判断，自行承担使用本 PPT 内容的全部风险。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【数据准确性声明】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7. 本 PPT 引用的数据来源于公开渠道，虽经审慎核实，但本 PPT 作者不对其准确性、完整性或时效性做出任何明示或默示的保证；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8. 实际数据以各厂商官方发布及权威机构报告为准，本 PPT 不承担数据更新义务。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【责任限额条款】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9. **在任何情况下，作者对用户的最高赔偿额不超过人民币零元整（CNY 0.00）**。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【权利保留条款】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10. 本 PPT 作者保留随时更新、修改或撤回本 PPT 内容的权利，无需事先通知；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11. 本声明条款的最终解释权归作者所有。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【适用法律与争议解决】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12. 本声明受中华人民共和国法律管辖；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13. 如发生争议，双方应协商解决；协商不成的，由作者所在地有管辖权的人民法院管辖。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【用户同意条款】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14. 使用本 PPT 即视为用户已阅读、理解并同意本法律声明及免责条款的全部内容。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 PPT 作者 · 版权所有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免责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【免责条款】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65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【风险免责条款】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**不承担法律责任**：任何因使用或依赖本 PPT 内容而产生的直接或间接损失，本 PPT 作者不承担任何法律责任；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**自行评估风险**：使用者应自行评估风险并独立做出决策，本 PPT 作者不对决策结果负责；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**技术不确定性**：本 PPT 提及的前沿技术（量子 AI、神经形态（Neuromorphic）、脑机接口、AGI 等等）处于研究或发展阶段，其商业化落地存在重大不确定性；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**进度不确定性**：技术发展存在不确定性，实际进度可能因技术瓶颈、研发投入等因素滞后于预测。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【商业价值声明】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**价值预估说明**：本 PPT 所展示的商业价值预估为基于当前市场环境的理论测算，实际商业价值实现取决于技术突破、市场接受度、竞争格局、政策环境等多种因素；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**投资风险提示**：商业价值预估**不构成任何投资回报承诺**，投资有风险，决策需谨慎。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【数据来源说明】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 大模型信息：OpenAI（GPT-5.6）、Google（Gemini 3.7 Flash）、Anthropic、阿里巴巴（Qwen3.8）、智谱 AI（GLM-5.3）、DeepSeek（V4 Pro）、Kimi（K3）等厂商官方发布；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3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量子计算信息：IBM Quantum、Google Quantum AI、中科院量子信息研究院研究进展；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脑机接口信息：Neuralink、Kernel、Meta Reality Labs 等企业技术路线；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市场规模数据：Gartner、IDC、Statista、CB Insights 等权威机构报告；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技术标准框架：ISO/IEC、NIST、OWASP、CSA 等国际标准组织规范。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【重要风险提示】⚠️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技术风险：AI 技术发展存在不确定性，实际进度可能滞后于预测；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市场风险：市场接受度、竞争格局变化可能导致商业化进程不及预期；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监管风险：各国 AI 监管政策可能对技术发展方向、应用场景产生重大影响；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人才风险：AI 领域高端人才短缺可能限制技术研发和商业化速度；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知识产权风险：技术专利布局可能影响商业化路径选择；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政策风险：宏观经济政策调整可能影响市场环境和投资决策；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竞争风险：行业竞争加剧可能影响市场份额和盈利能力；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合规风险：需符合各国数据隐私保护法规要求。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【水印保护声明】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本 PPT 包含水印，任何去除水印的行为均属侵权。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 PPT 作者 · 侵权必究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5FA8"/>
                </a:solidFill>
                <a:latin typeface="微软雅黑"/>
              </a:rP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A2A协议与AI智能体生态 · 2026年8月29日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