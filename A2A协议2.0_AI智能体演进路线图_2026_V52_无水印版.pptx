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636174"/>
            <a:ext cx="11953951" cy="58051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2026：2026年8月17-20日Google将A2A正式转入Linux基金会旗下Agentic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521874"/>
            <a:ext cx="11953951" cy="6033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9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521874"/>
            <a:ext cx="11953951" cy="60337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8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2030：峰值10M QPS，全球级并发支撑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7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6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7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AI安全事故数量随应用增加而上升（2025年全球362起，同比+55%）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89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LoRA微调技术（Qwen3.8-Flash 125B参数）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少样本学习：用少量数据快速掌握新技能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5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1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【进化路径】工具智能体 → 自主智能体 → 通用智能体 → 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【总结】AI能力是一个多维度协同进化的综合体系，各维度相互促进、共同发展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普及率超过70%，AI从"辅助工具"向"自主主体"过渡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具身智能进入规模化应用元年，L3级自动驾驶高速商用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普及率超过90%，人机协同成为主流模式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L4级自动驾驶城市普及，数字员工全面替代传统办公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普及率超95%，AI升级为通用性社会公共服务能力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全面步入智能经济和智能社会发展新阶段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机器人与AI大模型深度融合，2030年产业规模达4000亿元（只作为参考依据）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产业发展｜民生福祉｜治理能力｜消费提质｜科学技术｜全球合作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AIDC成为耗能大户，储能成为核心基础设施（2026年智算2185 EFLOPS）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语音、手势、眼动、脑机接口等自然交互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催生AI训练师、提示词工程师等新职业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2027-2035年是AI从技术红利转化为社会红利的关键十年：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个人：提升与AI协作能力，关注创造力与复杂决策能力培养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企业：布局"人工智能+"战略，重构业务流程降本增效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社会：建立健全AI伦理与安全治理体系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【知识产权保护】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 PPT 内容受《中华人民共和国著作权法》及相关国际公约保护；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未经本 PPT 作者书面授权，任何单位或个人不得以任何形式复制、传播、改编、翻译、汇编或用于商业目的；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擅自使用或侵权将依法追究法律责任，包括但不限于赔偿损失、承担诉讼费用等。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【内容性质说明】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 PPT 内容为基于截至 2026 年 8 月公开信息的前瞻性研究与合理推演，**不构成投资建议、商业承诺或法律保证**；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文中提及的 AI 大模型技术参数、市场规模预测、技术发展时间节点等均为理论推演，实际情况可能因多种因素而有所不同；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读者应独立判断，自行承担使用本 PPT 内容的全部风险。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【数据准确性声明】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 PPT 引用的数据来源于公开渠道，虽经审慎核实，但本 PPT 作者不对其准确性、完整性或时效性做出任何明示或默示的保证；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实际数据以各厂商官方发布及权威机构报告为准，本 PPT 不承担数据更新义务。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【责任限额条款】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**在任何情况下，作者对用户的最高赔偿额不超过人民币零元整（CNY 0.00）**。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【权利保留条款】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本 PPT 作者保留随时更新、修改或撤回本 PPT 内容的权利，无需事先通知；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本声明条款的最终解释权归作者所有。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本声明受中华人民共和国法律管辖；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如发生争议，双方应协商解决；协商不成的，由作者所在地有管辖权的人民法院管辖。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【用户同意条款】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使用本 PPT 即视为用户已阅读、理解并同意本法律声明及免责条款的全部内容。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版权所有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【风险免责条款】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 PPT 内容而产生的直接或间接损失，本 PPT 作者不承担任何法律责任；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**自行评估风险**：使用者应自行评估风险并独立做出决策，本 PPT 作者不对决策结果负责；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**技术不确定性**：本 PPT 提及的前沿技术（量子 AI、神经形态（Neuromorphic）、脑机接口、AGI 等等）处于研究或发展阶段，其商业化落地存在重大不确定性；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**进度不确定性**：技术发展存在不确定性，实际进度可能因技术瓶颈、研发投入等因素滞后于预测。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**价值预估说明**：本 PPT 所展示的商业价值预估为基于当前市场环境的理论测算，实际商业价值实现取决于技术突破、市场接受度、竞争格局、政策环境等多种因素；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**投资风险提示**：商业价值预估**不构成任何投资回报承诺**，投资有风险，决策需谨慎。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【数据来源说明】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 大模型信息：OpenAI（GPT-5.6）、Google（Gemini 3.7 Flash）、Anthropic、阿里巴巴（Qwen3.8）、智谱 AI（GLM-5.3）、DeepSeek（V4 Pro）、Kimi（K3）等厂商官方发布；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量子计算信息：IBM Quantum、Google Quantum AI、中科院量子信息研究院研究进展；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脑机接口信息：Neuralink、Kernel、Meta Reality Labs 等企业技术路线；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市场规模数据：Gartner、IDC、Statista、CB Insights 等权威机构报告；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技术标准框架：ISO/IEC、NIST、OWASP、CSA 等国际标准组织规范。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 技术发展存在不确定性，实际进度可能滞后于预测；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市场风险：市场接受度、竞争格局变化可能导致商业化进程不及预期；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 AI 监管政策可能对技术发展方向、应用场景产生重大影响；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人才风险：AI 领域高端人才短缺可能限制技术研发和商业化速度；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知识产权风险：技术专利布局可能影响商业化路径选择；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政策风险：宏观经济政策调整可能影响市场环境和投资决策；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竞争风险：行业竞争加剧可能影响市场份额和盈利能力；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合规风险：需符合各国数据隐私保护法规要求。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本 PPT 包含水印，任何去除水印的行为均属侵权。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