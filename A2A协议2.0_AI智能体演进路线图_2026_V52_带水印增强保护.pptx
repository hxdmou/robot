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E5FA8"/>
                </a:solidFill>
                <a:latin typeface="微软雅黑"/>
              </a:rPr>
              <a:t>【A2A协议与AI智能体生态】PPT完整升级内容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8D0DC"/>
                </a:solidFill>
                <a:latin typeface="微软雅黑"/>
              </a:rPr>
              <a:t>版本：V52.0 | 更新日期：2026年8月29日 | 基于2026年最新AI技术演进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3135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E5FA8"/>
                </a:solidFill>
                <a:latin typeface="微软雅黑"/>
              </a:rPr>
              <a:t>════════════════════════════════════════════════════════════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898"/>
                </a:solidFill>
                <a:latin typeface="微软雅黑"/>
              </a:rPr>
              <a:t>© 2026 A2A协议联盟 | 版权所有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4A537"/>
                </a:solidFill>
                <a:latin typeface="微软雅黑"/>
              </a:rPr>
              <a:t>【目录】8大项目 · 每项目4页（内容2页+细节2页）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64207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项目2: 价值维度评估体系（2026-2035·2031起只作为参考依据）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31136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项目3: 安全组件体系（2026-2035·2031起只作为参考依据）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98064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项目4: 部署策略规划（2026-2035·2031起只作为参考依据）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64992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项目5: AI创造能力演进（2026-2035·2031起只作为参考依据）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项目6: 性能指标体系（2026-2035·2031起只作为参考依据）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98848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项目7: 生态系统建设（2026-2035·2031起只作为参考依据）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65776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项目8: 技术方案对比（2026-2035·2031起只作为参考依据）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7" name="TextBox 66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1" name="TextBox 130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 v1.0于2026年3月12日经Linux基金会批准冻结，为首个稳定规范，稳定补丁版v1.0.1于2026年5月发布，标志智能体互联协议正式进入生产级阶段，分钟级发现，合规可审计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 v1.0核心特性包括签名Agent Card（加密身份验证）、企业级多租户、版本协商、多协议绑定（JSON-RPC 2.0/gRPC/HTTP+JSON REST），满足企业级部署全部要件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2026：2026年8月17-20日Google将A2A转入Linux基金会Agentic AI Foundation（AAIF），与MCP、AGENTS.md、goose、agentgateway同归中立治理框架，消除单一厂商控制风险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2026：AAIF成员从2025年12月成立时不足50家增至250+，A2A协议获150+组织支持，GitHub 22,000+ Stars，生态规模居智能体互联协议首位，AWS运行时按需计费，SSE心跳间隔15秒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2026：SDK覆盖Python/JavaScript/Java/Go/.NET五种语言，Microsoft Azure AI Foundry、AWS Bedrock AgentCore、Google Vertex AI三大云平台原生支持，能力新鲜度99%+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2026：华为将A2A标准化为HarmonyOS上Celia助手与应用内智能体的互联协议，IBM ACP协议已于2025年8月并入A2A，协议碎片化问题基本解决，互联延迟目标&lt;50ms，SSE心跳间隔15秒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2026：Agent Payments Protocol（AP2）获60+支付/金融机构支持，将A2A扩展至代理交易场景，智能体经济支付基础设施成型，Agent Card缓存TTL 300秒，JSON-RPC绑定延迟&lt;5ms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2026：中国2026年6月26日发布《人工智能 智能体互联》系列7项国家标准（GB/Z 185.1～185.7—2026），为全球首套系统性智能体互联标准，互联延迟目标&lt;50ms，AAIF成员增至250+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2026：2026年7月21日AIP开源代码V2.1发布，首批智能体身份码发放（累计2000余个），美团、滴滴、神州数码、中科院软件所等签约试点，编排吞吐5万任务/秒，通过国标符合性测试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2026：AAIF安全工作组计划2026年Q3-Q4完成「智能体间信任链」标准RFC，应对级联幻觉、伪造智能体广播等链式安全风险，统一网关转发时延&lt;2ms，通过国标符合性测试，合规可审计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2026：国标GB/Z 185覆盖总体架构、身份码、身份管理、能力描述、跨域发现、协同交互、工具调用七大环节，实现智能体全生命周期标准化，JSON-RPC绑定延迟&lt;5ms，全生命周期追溯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2026：百余家企业参与《智能体协议共建共享联合倡议》，200多家企业开展智能体互联试点，产业落地进入快车道，Agent Card缓存TTL 300秒，零中断切换，分钟级发现，合规可审计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2027：信任链标准RFC正式发布，签名Agent Card实现加密身份验证与版本协商全覆盖，互联延迟&lt;50ms、可用性99.9%，gRPC绑定吞吐10万QPS，身份码对接GB/Z 185.2标准，稳定可靠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2027：国标GB/Z 185全面落地，智能体身份码体系覆盖200+试点企业，跨域发现成功率99%+，「一智能体一码」监管体系成型，证书链验证时延&lt;5ms，通过国标符合性测试，合规可审计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2027：AAIF成员突破500家，行业工作组覆盖制造、金融、政务、医疗、物流五大领域，标准制定进入行业深耕期，AP2三阶段提交原子结算，对接GB/Z 185.4能力描述标准，合规可审计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2028：A2A+MCP深度融合形成「智能体间互联+智能体-工具互联」完整标准栈，AP2支付协议规模化商用，交易规模超千亿，AP2三阶段提交原子结算，版本协商成功率99.9%，分钟级发现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2028：跨行业智能体网络成型，1000+成员企业，多模态原生模型支撑端云协同推理，互联延迟&lt;30ms、并发10万+，证书链验证时延&lt;5ms，版本协商成功率99.9%，gRPC绑定吞吐10万QPS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2028：智能体支付协议AP2与安全沙箱、联邦认证构成交易安全三件套，跨域互认标准发布，版本协商成功率99.9%，JSON-RPC绑定延迟&lt;5ms，版本向后兼容，全生命周期追溯，稳定可靠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2029：智能体自治网络部署，去中心化治理机制成熟，零知识证明认证与智能体信誉评分规模化应用，覆盖90%+，版本协商成功率99.9%，通过国标符合性测试，零中断切换，分钟级发现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2029：自愈网络与动态路由技术商用，互联延迟&lt;20ms、并发100万+，运维成本降60%，gRPC绑定吞吐10万QPS，身份码对接GB/Z 185.2标准，中立治理，安全可控，开放互通，稳定可靠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2029：智能体自治市场超5000亿，全自动工厂、无人零售、智慧交通成为标杆场景，版本协商成功率99.9%，版本向后兼容，跨平台互认，零中断切换，分钟级发现，开放互通，稳定可靠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2030：全球智能体互联网成型，A2A成为基础设施，统一身份体系与跨域无缝协作实现，覆盖全行业，Agent Card缓存TTL 300秒，跨平台互认，全生命周期追溯，零中断切换，稳定可靠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2030：量子安全通信与边缘智能体规模部署，互联延迟&lt;10ms、全球覆盖，智能体经济超万亿、占GDP比重5%+，对接GB/Z 185.5跨域发现标准，对接GB/Z 185.4能力描述标准，开放互通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2030：国际标准化组织接管A2A治理，各国监管机构协同，全球互操作标准统一，Agent Card缓存TTL 300秒，版本向后兼容，跨平台互认，零中断切换，中立治理，安全可控，开放互通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2027-2030：智能体互联标准从RFC到国标再到国际标准的三级跃迁路径明确，中国标准话语权显著提升，JSON-RPC绑定延迟&lt;5ms，生产级可用，全场景覆盖，版本向后兼容，跨平台互认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2027-2030：互联延迟从&lt;50ms演进至&lt;10ms，并发从10万+演进至全球覆盖，五年性能提升10倍+，对接GB/Z 185.4能力描述标准，生产级可用，全场景覆盖，版本向后兼容，跨平台互认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2026：A2A协议与MCP协议在AAIF屋檐下互补，MCP负责智能体-工具互联，A2A负责智能体间协作，双协议栈成为事实标准，AP2三阶段提交原子结算，生产级可用，全场景覆盖，开放互通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2026：Linux基金会为AAIF提供中立治理框架，技术工作组、安全工作组、治理委员会三权分立，决策投票制确保公平，通过国标符合性测试，生产级可用，全场景覆盖，全生命周期追溯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 v1.0版本协商机制使不同协议版本的智能体自动协商至最优共同版本，保障向后兼容与平滑升级，HTTP/3弱网成功率99.5%，JSON-RPC绑定延迟&lt;5ms，全场景覆盖，安全可控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2026：企业级多租户支持资源隔离与权限管理，满足SaaS服务商多客户部署需求，Azure AI Foundry企业客户超3万家，统一网关转发时延&lt;2ms，社区累计合并PR超3000个，生产级可用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0910"/>
            <a:ext cx="11953951" cy="6112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2031-2035：智能体社会融合、智能体文明雏形、生态成熟、全球化、智能体纪元等阶段，版本协商成功率99.9%，通过国标符合性测试，身份码对接GB/Z 185.2标准（只作为参考依据）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2031-2035：意识互联、全息互联、量子互联等前瞻技术，智能体从工具演进为伙伴，版本协商成功率99.9%，身份码对接GB/Z 185.2标准，分钟级发现，合规可审计（只作为参考依据）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2031-2035：全球统一治理、人机命运共同体等治理形态，版本协商成功率99.9%，身份码对接GB/Z 185.2标准，跨平台互认，零中断切换，分钟级发现，合规可审计（只作为参考依据）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2027：智能体身份码采用统一编码规则，支持全生命周期追溯与监管，为AI治理提供技术抓手，证书链验证时延&lt;5ms，AP2三阶段提交原子结算，身份码三级结构支持百亿实例，平滑升级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2028：分布式信任机制与动态能力协商成熟，智能体可自主发现、评估、协作，人工干预降80%，社区累计合并PR超3000个，任务状态机七态全覆盖，HTTP/3弱网成功率99.5%，平滑升级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2030：A2A成为像HTTP一样的基础设施协议，全球5000+成员企业，智能体数量超人口数量，注册中心查询时延&lt;50ms，AP2三阶段提交原子结算，任务状态机七态全覆盖，全生命周期追溯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 v1.0定义Task、Message、Artifact、Part四类核心对象，支持SSE流式传输与Webhook推送，满足长时任务状态同步需求，证书链验证时延&lt;5ms，社区累计合并PR超3000个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2026：Agent Card采用well-known路径发布机制，含能力清单、认证方式、端点地址元数据，结合HTTPS检索实现智能体分钟级注册发现，消息丢失率&lt;0.01%，HTTP/3弱网成功率99.5%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2026：AIP开源代码V2.1的智能体身份码采用根码、类码、实例码三级结构，对接GB/Z 185.2身份管理标准，支持跨平台唯一标识与追溯，招商银行接入AP2结算，任务状态机七态全覆盖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2027：A2A引入事件订阅与任务依赖编排原语，支持DAG式多智能体协作，编排吞吐5万+任务/秒，失败任务自动重试覆盖99%，中国移动部署互联节点200个，SSE心跳间隔15秒，平滑升级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2028-2030：A2A协议栈向语义层、信任层、结算层三层架构演进，AP2支付消息内嵌为原生扩展，跨域协议转换网关采用率超60%，微软Azure企业客户超3万家，HTTP/3弱网成功率99.5%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 v1.0支持任务状态续传与断点重传，Webhook回调HMAC签名校验，消息丢失率&lt;0.01%，编排吞吐5万任务/秒，证书链验证时延&lt;5ms，身份码三级结构支持百亿实例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2026：AAIF设立协议、安全、测试等5个技术工作组，月度发布节奏，社区累计合并PR 3000+，消息丢失率&lt;0.01%，SSE心跳间隔15秒，统一网关转发时延&lt;2ms，测试床接入企业节点60+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2026：中国信通院建设A2A互联互通测试平台，接入企业节点60+，测试报告互认率95%，SSE心跳间隔15秒，互联测试报告互认率95%，测试床接入企业节点60+，HTTP/3弱网成功率99.5%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2026：A2A与MCP联合发布参考架构，统一互联网关在AAIF开源，转发时延&lt;2ms，编排吞吐5万任务/秒，消息丢失率&lt;0.01%，统一网关转发时延&lt;2ms，注册中心查询时延&lt;50ms，秒级注册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2026：签名Agent Card对接GB/Z 185.2身份码标准，证书链验证通过工信部测试，验证时延&lt;5ms，编排吞吐5万任务/秒，消息丢失率&lt;0.01%，对接GB/Z 185.4能力描述标准，秒级注册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2026：多协议绑定新增HTTP/3支持，QUIC传输弱网连接成功率99.5%，跨洋时延降25%，编排吞吐5万任务/秒，任务迁移成功率99.5%，消息丢失率&lt;0.01%，身份码三级结构支持百亿实例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2026：AP2支付协议完成首笔智能体跨银行结算试点，交易额1200万元，结算&lt;3秒，跨域调度带宽400Gbps，注册中心查询时延&lt;50ms，身份码对接GB/Z 185.2标准，生态开放，秒级注册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 SDK Java版与Spring AI官方集成，国内云厂商支持8家，企业采用率提升40%，互联测试报告互认率95%，测试床接入企业节点60+，身份码三级结构支持百亿实例，秒级注册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2026：AAIF发布Agent Card发现服务规范，支持DNS-SD与DHT双模式，可用性99.95%，测试床接入企业节点60+，身份码三级结构支持百亿实例，身份码对接GB/Z 185.2标准，生态开放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2027：A2A v1.1发布，新增流式Artifact增量同步，跨节点任务迁移成功率99.5%，跨域调度带宽400Gbps，统一网关转发时延&lt;2ms，身份码对接GB/Z 185.2标准，互认互通，生态开放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2027：智能体注册中心形成国家根节点、省级镜像、企业节点三级架构，注册容量1000万，查询时延&lt;50ms，招商银行接入AP2结算，中国移动部署互联节点200个，任务迁移成功率99.5%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2027：A2A互联网关部署于东数西算枢纽节点，跨域调度带宽400Gbps，算力利用率提升30%，任务迁移成功率99.5%，测试床接入企业节点60+，对接GB/Z 185.5跨域发现标准，生态开放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2028：A2A v2.0启动编制，原生支持多模态消息部件与意图协商，征求意见期6个月，美团签约试点节点50个，对接GB/Z 185.6协同交互标准，对接GB/Z 185.5跨域发现标准，生态开放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2028：跨云智能体漫游协议落地，阿里云、腾讯云、华为云三云互认，漫游配置&lt;1分钟，中国移动部署互联节点200个，任务迁移成功率99.5%，对接GB/Z 185.5跨域发现标准，互认互通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2029：智能体信誉账本上链锚定，日交易100万笔，信誉查询时延&lt;100ms，恶意节点淘汰率99%，中国移动部署互联节点200个，注册中心查询时延&lt;50ms，签名算法Ed25519验证时延&lt;1ms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2029：A2A语义层标准发布，本体映射覆盖12个行业，跨行业任务理解一致性92%，中国联通算力网关接入，百度智能云接入国家注册中心，跨域调度带宽400Gbps，任务迁移成功率99.5%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2030：A2A形成ISO国际标准提案，30+国家参与联合起草，跨境互联试点覆盖G20，招商银行接入AP2结算，中国联通算力网关接入，中国移动部署互联节点200个，美团签约试点节点50个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2027-2030：Agent Card由静态声明转向动态能力画像，更新频率由天级到秒级，能力新鲜度99%+，美团签约试点节点50个，跨域调度带宽400Gbps，互联测试报告互认率95%，互认互通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2031-2035：A2A协议向完全自进化形态演进，互联边界完全消失，JSON-RPC绑定延迟&lt;5ms，版本向后兼容，全生命周期追溯，零中断切换，分钟级发现，合规可审计（只作为参考依据）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0608"/>
            <a:ext cx="11953951" cy="61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签名Agent Card采用Ed25519数字签名技术，证书有效期24小时自动轮换，防重放攻击，智能体互联前必须出示可验证身份证明，社区累计合并PR超3000个，身份码对接GB/Z 185.2标准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多协议绑定支持JSON-RPC 2.0、gRPC、HTTP+JSON REST三种格式，企业可按现有技术栈自由选择，迁移成本降低70%，全场景覆盖，跨平台互认，零中断切换，分钟级发现，合规可审计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企业级多租户支持资源隔离与权限管理，满足SaaS服务商多客户部署需求，租户间数据零泄漏，全生命周期追溯，零中断切换，分钟级发现，合规可审计，安全可控，开放互通，稳定可靠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版本协商机制使不同协议版本的智能体自动协商至最优共同版本，保障向后兼容，升级零中断，版本协商成功率99.9%，gRPC绑定吞吐10万QPS，身份码对接GB/Z 185.2标准，合规可审计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AAIF治理框架含技术工作组、安全工作组、治理委员会，决策采用投票制确保中立性，单一厂商无法主导，全生命周期追溯，零中断切换，分钟级发现，合规可审计，开放互通，稳定可靠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MCP协议负责智能体-工具互联，A2A负责智能体间协作，二者在AAIF屋檐下互补，双协议栈覆盖全场景，AP2三阶段提交原子结算，身份码对接GB/Z 185.2标准，分钟级发现，合规可审计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GB/Z 185系列标准覆盖总体架构、身份码、身份管理、能力描述、跨域发现、协同交互、工具调用七大环节，版本协商成功率99.9%，全场景覆盖，跨平台互认，零中断切换，分钟级发现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智能体身份码采用统一编码规则，实现「一智能体一码」，支持全生命周期追溯与监管，发放2000余个，通过国标符合性测试，跨平台互认，零中断切换，安全可控，开放互通，稳定可靠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AP2支付协议定义支付委托、支付凭证、支付执行三角色，保障智能体交易安全，获60+金融机构支持，社区累计合并PR超3000个，身份码对接GB/Z 185.2标准，全场景覆盖，跨平台互认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信任链标准针对级联幻觉（多智能体链式错误放大）与伪造智能体广播两大风险，错误放大率降至&lt;1%，对接GB/Z 185.4能力描述标准，生产级可用，全场景覆盖，跨平台互认，稳定可靠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2027目标：互联延迟&lt;50ms、可用性99.9%、任务完成率95%+，万级智能体并发握手成功率99%+，版本协商成功率99.9%，gRPC绑定吞吐10万QPS，身份码对接GB/Z 185.2标准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2028目标：AP2交易规模超千亿、跨行业协作收入占比30%，安全沙箱与联邦认证全覆盖，HTTP/3弱网成功率99.5%，JSON-RPC绑定延迟&lt;5ms，生产级可用，全场景覆盖，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2029目标：自治网络运维成本降60%、零知识证明认证覆盖90%+，智能体信誉评分规模化应用，AP2三阶段提交原子结算，gRPC绑定吞吐10万QPS，JSON-RPC绑定延迟&lt;5ms，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2030目标：全球智能体经济规模超万亿、占GDP比重5%+，量子安全通信全覆盖，HTTP/3弱网成功率99.5%，JSON-RPC绑定延迟&lt;5ms，通过国标符合性测试，生产级可用，全生命周期追溯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华为HarmonyOS Celia助手通过A2A实现与应用内智能体互联，覆盖应用1万+，日活用户超千万，版本协商成功率99.9%，gRPC绑定吞吐10万QPS，JSON-RPC绑定延迟&lt;5ms，版本向后兼容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Azure AI Foundry支持A2A智能体一键部署，企业客户超3万家，部署周期从月级缩短至天级，版本协商成功率99.9%，通过国标符合性测试，对接GB/Z 185.4能力描述标准，生产级可用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AWS Bedrock AgentCore Runtime提供A2A原生运行时，弹性扩展按需计费，成本优化40%，签名算法Ed25519验证时延&lt;1ms，通过国标符合性测试，版本向后兼容，安全可控，开放互通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Google Vertex AI支持A2A智能体发现与协作，与Gemini模型族深度集成，推理延迟&lt;100ms，AP2三阶段提交原子结算，对接GB/Z 185.4能力描述标准，版本向后兼容，全生命周期追溯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2026上半年国内具身智能赛道融资935亿元（IT桔子），智能体互联带动产业投资，融资事件322笔，HTTP/3弱网成功率99.5%，JSON-RPC绑定延迟&lt;5ms，通过国标符合性测试，开放互通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A2A GitHub 22K+ Stars，150+组织支持，SDK覆盖Python/JS/Java/Go/.NET，社区贡献者5000+，HTTP/3弱网成功率99.5%，签名算法Ed25519验证时延&lt;1ms，生产级可用，安全可控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2027：后量子加密算法在信任链中试点，抵御量子计算攻击，密钥交换采用CRYSTALS-Kyber，Agent Card缓存TTL 300秒，任务状态机七态全覆盖，HTTP/3弱网成功率99.5%，安全可控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2028：量子密钥分发（QKD）在京沪干线等骨干网试点，密钥率10Mbps+，智能体互联传输安全升级，注册中心查询时延&lt;50ms，社区累计合并PR超3000个，对接GB/Z 185.4能力描述标准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2029：全同态加密性能提升100倍达到商用条件，安全多方计算支持百方联合建模，Agent Card缓存TTL 300秒，任务状态机七态全覆盖，签名算法Ed25519验证时延&lt;1ms，版本向后兼容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2030：抗量子算法强制认证，量子安全基础设施完备，全球AI安全条约签署，注册中心查询时延&lt;50ms，AP2三阶段提交原子结算，任务状态机七态全覆盖，对接GB/Z 185.4能力描述标准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级联幻觉检测采用多智能体交叉验证机制，异常行为分析实时告警，伪造智能体拦截成功率99.9%，注册中心查询时延&lt;50ms，AP2三阶段提交原子结算，任务状态机七态全覆盖，中立治理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全链路审计日志留存3年以上，季度安全评估制度化，审计覆盖率100%，证书链验证时延&lt;5ms，社区累计合并PR超3000个，对接GB/Z 185.6协同交互标准，对接GB/Z 185.5跨域发现标准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应急响应分级：一级（秒级自动隔离）、二级（分钟级人工介入）、三级（小时级复盘），SLA保障，注册中心查询时延&lt;50ms，社区累计合并PR超3000个，对接GB/Z 185.5跨域发现标准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2026：欧盟AI法2026年8月2日起扩大实施，执行透明度规则与通用AI模型提供商规则，身份码三级结构支持百亿实例，任务状态机七态全覆盖，对接GB/Z 185.5跨域发现标准，中立治理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2026：中国《人工智能拟人化互动服务管理暂行办法》2026年7月15日施行，首部拟人化互动专门立法，编排吞吐5万任务/秒，SSE心跳间隔15秒，Agent Card缓存TTL 300秒，中立治理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2026：《智能体规范应用与创新发展实施意见》2026年5月印发，首份系统性智能体专项政策覆盖19场景，测试床接入企业节点60+，对接GB/Z 185.5跨域发现标准，平滑升级，中立治理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0605"/>
            <a:ext cx="11953951" cy="6113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2031-2035：意识互联、全息互联、量子互联等前瞻技术，版本协商成功率99.9%，身份码对接GB/Z 185.2标准，跨平台互认，零中断切换，分钟级发现，合规可审计（只作为参考依据）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2031-2035：自免疫安全、生态安全、文明安全等安全形态，版本协商成功率99.9%，身份码对接GB/Z 185.2标准，零中断切换，分钟级发现，合规可审计，稳定可靠（只作为参考依据）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2031-2035：全球统一治理、人机命运共同体等治理形态，版本协商成功率99.9%，对接GB/Z 185.4能力描述标准，零中断切换，分钟级发现，合规可审计，稳定可靠（只作为参考依据）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2027：智能体身份码与国标GB/Z 185身份管理标准对接，实现跨平台身份互认，证书链验证时延&lt;5ms，注册中心查询时延&lt;50ms，测试床接入企业节点60+，身份码三级结构支持百亿实例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2028：跨域认证网关支持异构网络智能体互联，边界层、供应链层、运行时层三层防护，签名算法Ed25519验证时延&lt;1ms，对接GB/Z 185.7工具调用标准，对接GB/Z 185.6协同交互标准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2030：统一身份体系支持全球智能体无缝漫游，跨域协作零配置，SSE心跳间隔15秒，统一网关转发时延&lt;2ms，身份码三级结构支持百亿实例，签名算法Ed25519验证时延&lt;1ms，平滑升级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Task对象含submitted、working、input-required、completed、canceled、failed、rejected七态，状态迁移由JSON-RPC通知驱动，状态机覆盖率100%，腾讯云开放协议转换网关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Message采用多部件结构，支持文本、文件、结构化数据三类内容，单消息上限10MB，超大负载自动分片传输，SSE心跳间隔15秒，gRPC绑定吞吐10万QPS，对接GB/Z 185.7工具调用标准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Agent Card发布支持DNS-SD与HTTPS well-known双通道，发现时延&lt;200ms，缓存TTL 300秒，检索失败自动降级，编排吞吐5万任务/秒，证书链验证时延&lt;5ms，统一网关转发时延&lt;2ms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A2A与MCP融合部署采用统一网关路由，智能体协作流量走A2A、工具调用走MCP，网关吞吐10万QPS、路由时延&lt;2ms，任务迁移成功率99.5%，消息丢失率&lt;0.01%，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协议绑定层支持HTTP/2多路复用与gRPC双向流，长连接复用率95%，握手开销降低80%，适配高频协作场景，证书链验证时延&lt;5ms，统一网关转发时延&lt;2ms，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Task ID采用UUIDv7生成规则，内嵌毫秒时间戳支持按时间分片，碰撞概率&lt;1e-18，编排吞吐5万任务/秒，消息丢失率&lt;0.01%，证书链验证时延&lt;5ms，统一网关转发时延&lt;2ms，平滑升级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SSE流式传输心跳间隔15秒，断线重连采用指数退避，最大重试5次，序号保障顺序，重连成功率99.9%，消息丢失率&lt;0.01%，统一网关转发时延&lt;2ms，测试床接入企业节点60+，秒级注册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Webhook推送支持JWT签名验证与重放窗口保护，时间戳容差±300秒，回调成功率99.9%，任务迁移成功率99.5%，消息丢失率&lt;0.01%，SSE心跳间隔15秒，互认互通，生态开放，秒级注册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Agent Card元数据采用JSON Schema校验，能力声明支持语义标签，字段校验通过率100%，消息丢失率&lt;0.01%，SSE心跳间隔15秒，对接GB/Z 185.7工具调用标准，生态开放，秒级注册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gRPC绑定采用Protobuf序列化，消息压缩后体积降65%，HTTP/2多路复用支持100并发流，中国联通算力网关接入，美团签约试点节点50个，跨域调度带宽400Gbps，编排吞吐5万任务/秒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Task状态机为input-required状态设超时保护，默认等待30分钟，超时转canceled并通知发起方，中国移动部署互联节点200个，任务迁移成功率99.5%，符合GB/Z 185.1总体架构要求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互联网关采用令牌桶算法限流，单租户QPS上限5000，熔断恢复半开探测间隔10秒，编排吞吐5万任务/秒，互联测试报告互认率95%，符合GB/Z 185.1总体架构要求，生态开放，秒级注册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智能体发现缓存采用本地LRU加远程Redis两级结构，命中率98%，缓存击穿互斥锁防护，过期时间300秒，百度智能云接入国家注册中心，跨域调度带宽400Gbps，互联测试报告互认率95%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消息分片传输采用4MB定块，支持断点续传与并行重组，10MB文件传输耗时&lt;2秒，校验采用CRC32，中国联通算力网关接入，百度智能云接入国家注册中心，符合GB/Z 185.1总体架构要求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版本协商采用语义化版本号比较算法，主版本不一致时自动降级兼容模式，协商时延&lt;5ms，协商成功率99.9%，滴滴接入车载智能体120个，跨域调度带宽400Gbps，任务迁移成功率99.5%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多租户隔离采用命名空间加网络策略双机制，租户密钥独立托管，跨租户访问审计率100%，京东云完成跨域发现试点，百度智能云接入国家注册中心，腾讯云开放协议转换网关，生态开放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AIP身份码三级结构支持百亿实例扩展，根码由国家平台统一分配，实例码注册时延&lt;200ms，美团签约试点节点50个，互联测试报告互认率95%，符合GB/Z 185.1总体架构要求，生态开放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AP2支付消息采用三阶段提交协议，资金冻结、扣划、结算原子性保障，异常回滚时间&lt;5秒，百度智能云接入国家注册中心，滴滴接入车载智能体120个，任务迁移成功率99.5%，互认互通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互联链路传输层强制TLS 1.3，握手1-RTT，国密套件SM2/SM3可选，加密开销&lt;3%，招商银行接入AP2结算，中国联通算力网关接入，中国移动部署互联节点200个，跨域调度带宽400Gbps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任务编排DAG采用拓扑排序调度，关键路径并行度自动计算，单DAG支持500节点，编排时延&lt;5ms，微软Azure企业客户超3万家，招商银行接入AP2结算，美团签约试点节点50个，互认互通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智能体心跳监测采用双向转发检测机制，检测间隔1秒，连续3次丢失判故障，切换&lt;3秒，百度智能云接入国家注册中心，腾讯云开放协议转换网关，中科院软件所完成互认测试，互认互通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协议兼容层提供OpenAPI 3.1双向转换，存量系统接入改造量降60%，转换时延&lt;1ms，AWS运行时按需计费，OPPO小布助手完成适配，中国移动部署互联节点200个，跨域调度带宽400Gbps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压测采用Locust分布式方案，10万并发互联握手P99时延80ms，错误率&lt;0.1%为发布门槛，滴滴接入车载智能体120个，美团签约试点节点50个，符合GB/Z 185.1总体架构要求，互认互通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互联日志统一接入OpenTelemetry，跟踪ID贯穿全链路，采样率10%，问题定位&lt;10分钟，AWS运行时按需计费，vivo蓝心智能体接入互联，OPPO小布助手完成适配，招商银行接入AP2结算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0608"/>
            <a:ext cx="11953951" cy="61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2026：评估维度为技术创新（30%）、商业落地（40%）、生态建设（30%），权重采用AHP层次分析法动态可调，贵安集群承载离线训练60%，智算规模2185 EFLOPS同比+177%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2026：指标体系含基准测试得分（GPQA/SWE-bench）、上下文长度、实测验证三维度，归一化至百分制，庆阳集群绿电占比80%，贵安集群承载离线训练60%，全公开留痕，可复现可审计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2026：评估方法为基准测试+实测验证+第三方审计，数据来源厂商官方发布与独立评测机构，算力券补贴试点城市15个，智算规模2185 EFLOPS同比+177%，实时看板呈现，可复现可审计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2026：评分标准GPQA 90+为优、SWE-bench 85+为优、上下文1M+为优，双盲测试偏差&lt;5%方为有效，韶关集群辐射大湾区，42个万卡集群并网运行，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2026：GPT-5.6 Sol GPQA Diamond 94.6%、SWE-bench Verified 94.6%（ultra模式）、Agents' Last Exam 53.6，庆阳集群绿电占比80%，全公开留痕，可复现可审计，公正透明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 GPQA Diamond 92.6、PaperBench 93.0、OSWorld 86.1、CodeArena全球第4，2.4T参数MoE，国家超算互联网接入30中心，算力券补贴试点城市15个，可复现可审计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2026：DeepSeek V4 Pro AIME 2026数学推理99.4%、LiveCodeBench 93.5%、Codeforces Rating 3206全球第一，算力券补贴试点城市15个，一致性检验，百分制归一，全公开留痕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2026：Kimi K3 Code Arena 1679分全球第一、AA Intelligence Index 57全球第三、BrowseComp 91.2，第三方核验，一致性检验，百分制归一，季度复评，全公开留痕，公正透明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2026：GLM-5.3 CyberGym漏洞推理84.5%，超GPT-5.6 Sol的83.6%，编程能力较GLM-5.2提升50%，和林格尔集群PUE 1.15，42个万卡集群并网运行，智算规模2185 EFLOPS同比+177%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2026：结果应用为模型选型决策与投资方向判断，优化策略为持续迭代机制与季度复评，预期ROI 20%，算力券补贴试点城市15个，一致性检验，百分制归一，全公开留痕，可复现可审计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2026：独立评测机构包括Artificial Analysis、LMSYS、SuperCLUE等，评测结果季度发布，42个万卡集群并网运行，浸没式液冷PUE低至1.08，实时看板呈现，百分制归一，公正透明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2026：上下文长度评分1M+为优（100分）、500K为良（80分）、128K为中（60分），Qwen3.8/Kimi K3达1M+，韶关集群辐射大湾区，庆阳集群绿电占比80%，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2027：评估维度升级为智能体协作效率（35%）、安全合规（35%）、成本（30%），权重季度评审浮动±5%，贵安集群承载离线训练60%，智算规模2185 EFLOPS同比+177%，实时看板呈现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2027：指标体系新增互联成功率、任务完成率、安全事件数三维度，数据来源AAIF认证与企业部署反馈，智算规模2185 EFLOPS同比+177%，异议复核闭环，分级授权发布，实时看板呈现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2027：互联成功率测试采用万级智能体并发握手，99%+为优；安全事件零事件为优、1-3起为良，42个万卡集群并网运行，实时看板呈现，一致性检验，百分制归一，双盲校验，季度复评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2028：评估维度升级为跨行业价值（40%）、可持续性（30%）、创新（30%），新增碳足迹与NPS指标，和林格尔集群PUE 1.15，东数西算八大枢纽协同调度，分级授权发布，一致性检验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2028：碳足迹采用全生命周期评估（LCA），碳中和达标为优；行业渗透率50%+为优，覆盖五大行业，42个万卡集群并网运行，东数西算八大枢纽协同调度，异议复核闭环，分级授权发布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2029：评估维度升级为自治能力（30%）、社会影响（40%）、经济（30%），L4自治认证为优，银川集群绿电直供60%，庆阳集群绿电占比80%，贵安集群承载离线训练60%，分级授权发布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2029：社会影响评估采用社会学研究方法，样本量1万+、置信度95%，正面社会影响为优，和林格尔集群PUE 1.15，浸没式液冷PUE低至1.08，异议复核闭环，分级授权发布，第三方核验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2030：评估维度升级为全球竞争力（40%）、标准话语权（30%）、文明贡献（30%），全球份额30%+为优，成都集群支撑西南推理，浸没式液冷PUE低至1.08，异议复核闭环，第三方核验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2030：标准话语权按标准贡献数量与采纳范围评估，主导为优；文明指数纳入联合国可持续发展指标，韶关集群辐射大湾区，东数西算八大枢纽协同调度，动态校准，双盲校验，季度复评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2027-2030：评估方法从人工到自动、从季度到实时、从单一到全球对标演进，自动化率50%→95%，韶关集群辐射大湾区，和林格尔集群PUE 1.15，异议复核闭环，第三方核验，季度复评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2027-2030：结果应用从选型决策到部署优先级排序、行业推广策略、国家战略参考演进，东数西算累计投资超4300亿元，韶关集群辐射大湾区，东数西算八大枢纽协同调度，第三方核验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2027-2030：预期收益从ROI 20%到部署效率提升40%、行业收入增长50%、国际地位提升演进，国家超算互联网接入30中心，成都集群支撑西南推理，张家口集群承接北京溢出，季度复评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2026：基准测试得分归一化GPQA权重40%、SWE-bench权重30%、其余30%，专家打分+一致性检验，国家超算互联网接入30中心，银川集群绿电直供60%，庆阳集群绿电占比80%，双盲校验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2026：实测验证采用双盲测试，3家评测机构独立评分，偏差&lt;5%方为有效，确保结果可信，余热回收年减碳1万吨，算力券单企年补贴上限50万元，国家超算互联网接入30中心，双盲校验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2026：第三方审计含数据来源核验、测试可复现性验证、结果一致性验证，审计通过率100%，国家超算互联网接入30中心，银川集群绿电直供60%，东数西算八大枢纽协同调度，双盲校验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2031-2035：智能体成熟度、生态健康度、人机协同度、文明融合度、终极价值等评估维度，韶关集群辐射大湾区，42个万卡集群并网运行，算力券补贴试点城市15个（只作为参考依据）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2031-2035：全自动评估、全球数据湖、终极标准等前瞻方法，42个万卡集群并网运行，算力券补贴试点城市15个，一致性检验，百分制归一，全公开留痕，公正透明（只作为参考依据）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2031-2035：自优化、自适应调整、完美优化等优化策略，42个万卡集群并网运行，算力券补贴试点城市15个，一致性检验，百分制归一，全公开留痕，可复现可审计（只作为参考依据）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0093"/>
            <a:ext cx="11953951" cy="6113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2027：AAIF认证数据与企业部署反馈双源校验，数据可信度99%+，绿电交易规模200亿度，余热回收年减碳1万吨，冷板式液冷PUE 1.15，天山集群风光互补供电，成都集群支撑西南推理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2028：ESG报告与行业协会数据纳入评估，可持续性权重提升，GPQA Diamond权重40%，工信部6月底数据口径，余热回收年减碳1万吨，天山集群风光互补供电，张家口集群承接北京溢出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2029：国际认证机构与社会学研究双轨评估，伦理审查制度化，绿电交易规模200亿度，算力券单企年补贴上限50万元，东数西算累计投资超4300亿元，天山集群风光互补供电，动态校准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2030：国际组织数据与学术研究支撑全球对标，五年战略规划，万卡集群分布枢纽节点，绿电交易规模200亿度，算力券单企年补贴上限50万元，东数西算累计投资超4300亿元，动态校准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2026：动态权重调整采用季度评审机制，年度标准更新大版本年更、小版本季更，余热回收年减碳1万吨，冷板式液冷PUE 1.15，东数西算累计投资超4300亿元，浸没式液冷PUE低至1.08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2031-2035：文明级收益、无限收益等收益形态，42个万卡集群并网运行，算力券补贴试点城市15个，第三方核验，一致性检验，百分制归一，全公开留痕，公正透明（只作为参考依据）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2026：评估数据采集覆盖官方发布、独立评测、企业反馈三渠道，数据仓库日批ETL处理，质量校验通过率99%，异常样本全部可溯源，SWE-bench权重30%，算力券单企年补贴上限50万元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2026：商业落地维度采用案例数与收入贡献双指标，100+案例且年收入超1亿元为优，数据经第三方审计核验，GPQA Diamond权重40%，万卡集群分布枢纽节点，张家口集群承接北京溢出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2027：评估平台实现用例自动执行、报告自动生成、异常自动告警闭环，单次评估周期从2周缩至48小时，人工干预率&lt;10%，Gartner对标报告年度发布，上下文1M+满分100分，动态校准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2028：价值评估引入质量调整功能点（QFP）指标，融合准确率、时延、成本三因子，跨场景可比性提升40%，SWE-bench权重30%，万卡集群分布枢纽节点，算力券单企年补贴上限50万元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2029-2030：评估体系对接ISO/IEC 25059 AI质量模型标准，与5+国际评测机构建立互认机制，中国评估结果国际采信率60%+，登记资产1000+，续约率90%+加权，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2026：评估平台完成等保三级备案，评估数据加密存储，年度安全审计通过率100%，GPQA Diamond权重40%，工信部6月底数据口径，芜湖集群接入长三角调度，张家口集群承接北京溢出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2026：模型选型评估覆盖推理成本指标，百万tokens价格纳入TCO，选型周期从2周缩至3天，第三方审计通过率100%，SWE-bench权重30%，算力利用率提升至75%，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2026：SuperCLUE智能体评测榜单季度发布，覆盖12家主流厂商，样本企业500+，评测指标20+，双盲测试偏差&lt;5%，上下文1M+满分100分，算力利用率提升至75%，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2026：评估结果与政府采购挂钩，入围供应商须达80分门槛，2026年试点项目30个，上下文1M+满分100分，算力利用率提升至75%，算力调度平台日任务50万+，芜湖集群接入长三角调度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2026：商业落地维度新增付费客户数指标，1000+付费客户为优，续约率90%+加权，数据经第三方审计，红队场景库1000+，题库季度更换30%，双盲测试偏差&lt;5%，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2026：生态建设维度纳入开源许可证合规审查，GPL污染风险一票否决，审查通过率98%，审查周期5个工作日，Artificial Analysis季度更新，评估周期缩至48小时，双盲测试偏差&lt;5%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2027：评估维度新增互操作成熟度指标，A2A兼容性测试通过率95%+为优，测试用例库800+，双盲测试偏差&lt;5%，上下文1M+满分100分，万卡集群分布枢纽节点，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2027：安全合规维度对接GB/Z 185符合性测试，未通过企业不得进入前20榜单，红队场景库1000+，题库季度更换30%，AHP一致性检验CR&lt;0.1，双盲测试偏差&lt;5%，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2027：成本维度引入单位智能体产出成本，较行业均值低20%为优，季度对标更新，对标数据源AAIF认证企业，Artificial Analysis季度更新，评估周期缩至48小时，题库季度更换30%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2028：评估平台接入国家数据要素市场，评估报告数据资产登记，估值模型上线，登记资产1000+，XBRL机器可读率100%，题库季度更换30%，SWE-bench权重30%，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2028：可持续性维度纳入绿电使用率，数据中心绿电占比60%+为优，第三方核证，核证报告公开，LMSYS榜单全球覆盖，红队场景库1000+，XBRL机器可读率100%，AHP一致性检验CR&lt;0.1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2029：自治能力评估采用ISO/IEC 23059 L1-L5分级，L4以上企业享受监管沙盒资格，XBRL机器可读率100%，AHP一致性检验CR&lt;0.1，第三方审计通过率100%，芜湖集群接入长三角调度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2029：社会影响评估纳入就业创造指标，智能体相关新增岗位10万+为优，岗位数据经人社部门核验，SuperCLUE覆盖12家厂商，Artificial Analysis季度更新，AHP一致性检验CR&lt;0.1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2030：全球竞争力维度采用世界知识产权组织专利数据，PCT申请量前10为优，数据年度更新，红队场景库1000+，XBRL机器可读率100%，AHP一致性检验CR&lt;0.1，第三方审计通过率100%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2030：文明贡献维度对接联合国SDGs 17项目标，贡献度指数年度发布，覆盖教育医疗环保三领域，LMSYS榜单全球覆盖，题库季度更换30%，第三方审计通过率100%，SWE-bench权重30%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2027-2030：评估数据湖从单源到联邦架构演进，数据规模从10TB到1PB，查询时延&lt;5秒，评估周期缩至48小时，红队场景库1000+，算力调度平台日任务50万+，浸没式液冷PUE低至1.08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2027-2030：评估结果应用从企业选型扩展到保险定价、信贷风控、园区招商三场景，Artificial Analysis季度更新，评估数据保留3年，评估周期缩至48小时，第三方审计通过率100%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2031-2035：评估体系向价值对齐度、文明兼容度等终极维度演进，和林格尔集群PUE 1.15，42个万卡集群并网运行，智算规模2185 EFLOPS同比+177%，全公开留痕（只作为参考依据）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2027-2030：评估自动化平台与AAIF认证体系打通，认证数据自动回流评估库，数据延迟&lt;1小时，蒙特卡洛模拟1万次，SuperCLUE覆盖12家厂商，LMSYS榜单全球覆盖，样本置信区间95%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权重分配采用AHP层次分析法，专家打分+一致性检验（CR&lt;0.1），确保权重科学性，浸没式液冷PUE低至1.08，算力券补贴试点城市15个，智算规模2185 EFLOPS同比+177%，全公开留痕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基准测试得分归一化至百分制，GPQA权重40%、SWE-bench权重30%、其余30%，季度校准，算力券补贴试点城市15个，第三方核验，一致性检验，百分制归一，全公开留痕，可复现可审计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上下文长度评分：1M+为优（100分）、500K为良（80分）、128K为中（60分），Qwen3.8/Kimi K3满分，算力券补贴试点城市15个，第三方核验，一致性检验，百分制归一，全公开留痕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实测验证采用双盲测试，3家评测机构独立评分，偏差&lt;5%方为有效，仲裁机制兜底，第三方核验，一致性检验，百分制归一，双盲校验，季度复评，全公开留痕，可复现可审计，公正透明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第三方审计含数据来源核验、测试可复现性验证、结果一致性验证，审计报告公开，42个万卡集群并网运行，算力券补贴试点城市15个，一致性检验，百分制归一，全公开留痕，公正透明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独立评测机构包括Artificial Analysis、LMSYS、SuperCLUE等，评测榜单季度更新，算力券补贴试点城市15个，实时看板呈现，第三方核验，一致性检验，百分制归一，可复现可审计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2027互联成功率测试采用万级智能体并发握手，成功率99%+为优，P99延迟&lt;100ms，浸没式液冷PUE低至1.08，异议复核闭环，分级授权发布，实时看板呈现，第三方核验，可复现可审计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安全事件数零事件为优、1-3起为良、3起以上为中，事件分级通报制度化，42个万卡集群并网运行，浸没式液冷PUE低至1.08，东数西算八大枢纽协同调度，实时看板呈现，可复现可审计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2028碳足迹采用全生命周期评估（LCA），覆盖训练/推理/部署全环节，碳中和达标为优，和林格尔集群PUE 1.15，42个万卡集群并网运行，智算规模2185 EFLOPS同比+177%，公正透明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NPS用户满意度调查，50+为优、30-50为良、0-30为中，样本量10万+，贵安集群承载离线训练60%，42个万卡集群并网运行，浸没式液冷PUE低至1.08，智算规模2185 EFLOPS同比+177%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 L4自治认证采用国际标准ISO/IEC 23059，第三方机构认证，认证周期3个月，42个万卡集群并网运行，浸没式液冷PUE低至1.08，智算规模2185 EFLOPS同比+177%，实时看板呈现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社会影响评估采用社会学研究方法，样本量1万+、置信度95%，年度社会审计，韶关集群辐射大湾区，庆阳集群绿电占比80%，智算规模2185 EFLOPS同比+177%，实时看板呈现，公正透明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2030全球份额数据来自IDC/Gartner等国际组织，季度更新，份额30%+为优，国家超算互联网接入30中心，成都集群支撑西南推理，庆阳集群绿电占比80%，异议复核闭环，分级授权发布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标准话语权按标准贡献数量与采纳范围评估，主导为优、参与为良、跟随为中，国家超算互联网接入30中心，成都集群支撑西南推理，韶关集群辐射大湾区，异议复核闭环，分级授权发布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动态权重调整采用季度评审机制，权重浮动±5%，重大技术突破触发临时评审，国家超算互联网接入30中心，韶关集群辐射大湾区，和林格尔集群PUE 1.15，异议复核闭环，分级授权发布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年度标准更新采用版本管理，大版本年更、小版本季更，向后兼容，国家超算互联网接入30中心，成都集群支撑西南推理，庆阳集群绿电占比80%，和林格尔集群PUE 1.15，分级授权发布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2027-2030评估自动化率演进：50%→70%→85%→95%，人工干预持续降低，韶关集群辐射大湾区，张家口集群承接北京溢出，庆阳集群绿电占比80%，和林格尔集群PUE 1.15，异议复核闭环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行业渗透率50%+为优（2028标准），覆盖制造/零售/物流/金融/医疗五大行业，东数西算累计投资超4300亿元，张家口集群承接北京溢出，和林格尔集群PUE 1.15，季度复评，公正透明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2026：GPT-5.6 Sol ultra模式协调多个并行智能体，SWE-bench达94.6%，成本优化20%，冷板式液冷PUE 1.15，天山集群风光互补供电，成都集群支撑西南推理，韶关集群辐射大湾区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2026：Qwen3.8-Flash 125B参数MoE每token激活6B，训练成本较Qwen3.7-Plus降低近90%，算力券单企年补贴上限50万元，东数西算累计投资超4300亿元，国家超算互联网接入30中心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2026：Gemini 3.7 Flash DeepSWE v1.1 65.3%（前代49.0%），AutomationBench 30.4%（前代17.0%），GPQA Diamond权重40%，张家口集群承接北京溢出，庆阳集群绿电占比80%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2026：Grok 4.5 VulcanBench v3 91.3%（21/23真实PR任务），企业级代码修复能力领先，算力券单企年补贴上限50万元，东数西算累计投资超4300亿元，东数西算八大枢纽协同调度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2031-2035：全自动评估、全球数据湖等前瞻方法，和林格尔集群PUE 1.15，算力券补贴试点城市15个，智算规模2185 EFLOPS同比+177%，百分制归一，全公开留痕（只作为参考依据）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2031-2035：终极标准、文明级收益等前瞻指标，42个万卡集群并网运行，算力券补贴试点城市15个，第三方核验，一致性检验，百分制归一，全公开留痕，公正透明（只作为参考依据）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2031-2035：自进化、完美优化等优化策略，42个万卡集群并网运行，算力券补贴试点城市15个，第三方核验，一致性检验，百分制归一，全公开留痕，可复现可审计（只作为参考依据）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2027：任务完成率指智能体端到端任务成功率，2027目标93%，2030目标98%，余热回收年减碳1万吨，算力券单企年补贴上限50万元，银川集群绿电直供60%，东数西算八大枢纽协同调度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2028：创新维度含专利数量、开源贡献、论文影响力三子项，绿电交易规模200亿度，余热回收年减碳1万吨，算力券单企年补贴上限50万元，银川集群绿电直供60%，双盲校验，季度复评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2029：经济维度含智能体经济规模、就业影响、生产力提升三子项，余热回收年减碳1万吨，算力券单企年补贴上限50万元，银川集群绿电直供60%，贵安集群承载离线训练60%，双盲校验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2030：文明贡献含教育普及、医疗可及、环境保护三子项，余热回收年减碳1万吨，冷板式液冷PUE 1.15，天山集群风光互补供电，芜湖集群接入长三角调度，东数西算八大枢纽协同调度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2026：评估结果应用于模型选型决策，企业选型准确率提升30%，算力利用率提升至75%，绿电交易规模200亿度，冷板式液冷PUE 1.15，银川集群绿电直供60%，芜湖集群接入长三角调度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69979"/>
            <a:ext cx="11953951" cy="611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2026：投资方向判断支撑一级市场决策，2026年中国AI投融资预计1526起、4245.67亿元，第三方审计通过率100%，上下文1M+满分100分，工信部6月底数据口径，银川集群绿电直供60%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2031-2035：均衡权重、生态优先、协同优先等权重形态，42个万卡集群并网运行，算力券补贴试点城市15个，一致性检验，百分制归一，全公开留痕，可复现可审计（只作为参考依据）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2027：红队测试纳入安全合规评估，攻击场景库1000+，第三方审计通过率100%，SWE-bench权重30%，GPQA Diamond权重40%，算力利用率提升至75%，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2028：绿色认证与碳交易挂钩，可持续性收益可量化，第三方审计通过率100%，SWE-bench权重30%，GPQA Diamond权重40%，万卡集群分布枢纽节点，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2029：伦理框架迭代与年度社会审计结合，负面社会影响一票否决，SWE-bench权重30%，GPQA Diamond权重40%，工信部6月底数据口径，绿电交易规模200亿度，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2030：国际谈判依据与国家战略参考双输出，标准主导权，第三方审计通过率100%，双盲测试偏差&lt;5%，上下文1M+满分100分，GPQA Diamond权重40%，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生态建设维度拆解为开发者数量、开源仓库活跃度、合作伙伴数三子项，开发者1万+且伙伴100+为优，季度跟踪更新，上下文1M+满分100分，SWE-bench权重30%，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得分归一化采用min-max法与Z-score双重校验，异常值按箱线图规则剔除，数据清洗通过率98%+，红队场景库1000+，AHP一致性检验CR&lt;0.1，双盲测试偏差&lt;5%，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评估结果发布采用分级授权机制，参与企业可查细分得分，公开榜单仅展示聚合排名，异议复核7个工作日内响应，AHP一致性检验CR&lt;0.1，算力利用率提升至75%，万卡集群分布枢纽节点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成本效益维度按百万tokens推理成本与总拥有成本（TCO）双口径核算，GPU折旧按3年摊销，电力成本按0.4元/度计，双盲测试偏差&lt;5%，SWE-bench权重30%，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专家打分一致性采用Kendall's W系数检验，协同度&gt;0.8方为有效，未达标触发重评并更换双倍专家，评估数据保留3年，红队场景库1000+，XBRL机器可读率100%，上下文1M+满分100分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基准测试防污染采用动态题库轮换机制，题目季度更换30%，泄漏检测召回率99%，题库总量5万+，评估周期缩至48小时，红队场景库1000+，上下文1M+满分100分，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评估样本分层抽样覆盖大中小三类企业，样本偏差控制在±3%，置信区间95%，样本量1万+，XBRL机器可读率100%，第三方审计通过率100%，算力利用率提升至75%，工信部6月底数据口径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得分归一化对偏态分布采用Box-Cox变换，变换后偏度&lt;0.5方可进入加权环节，变换参数λ自动估计，评估数据保留3年，红队场景库1000+，XBRL机器可读率100%，AHP一致性检验CR&lt;0.1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评估报告采用XBRL结构化格式输出，机器可读率100%，监管报送自动化，报送时延&lt;1小时，红队场景库1000+，XBRL机器可读率100%，AHP一致性检验CR&lt;0.1，算力调度平台日任务50万+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红队测试攻击场景库按OWASP LLM Top 10分类，季度扩充，场景复现率100%，评估数据保留3年，评估周期缩至48小时，XBRL机器可读率100%，双盲测试偏差&lt;5%，工信部6月底数据口径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成本核算采用活动成本法，推理、训练、运维三池分摊，间接费用分摊率&lt;15%，核算周期月度，Gartner对标报告年度发布，评估数据保留3年，AHP一致性检验CR&lt;0.1，双盲测试偏差&lt;5%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数据质量校验采用Great Expectations框架，规则200+，批次合格率99.5%，SuperCLUE覆盖12家厂商，评估周期缩至48小时，题库季度更换30%，算力调度平台日任务50万+，动态校准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评估平台采用湖仓一体架构，日增数据50GB，查询P95时延&lt;3秒，存储成本降40%，数据保留3年，SuperCLUE覆盖12家厂商，Artificial Analysis季度更新，算力调度平台日任务50万+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指标权重敏感性分析采用蒙特卡洛模拟1万次，权重扰动±10%排名翻转率&lt;5%，分析报告季度发布，Kendall's W协同度&gt;0.8，Gartner对标报告年度发布，LMSYS榜单全球覆盖，动态校准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第三方审计采用四大会计师事务所轮换制，审计周期3年，审计意见公开披露，披露平台为官网，Kendall's W协同度&gt;0.8，LMSYS榜单全球覆盖，评估数据保留3年，评估周期缩至48小时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评估异议处理设三级申诉机制，初审5日、复审10日、终审专家委员会裁决，裁决结果终局，SuperCLUE覆盖12家厂商，Artificial Analysis季度更新，评估周期缩至48小时，动态校准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模型能力雷达图覆盖推理、编程、协作、安全、成本五维，维度得分百分制呈现，图表自动生成，蒙特卡洛模拟1万次，Kendall's W协同度&gt;0.8，LMSYS榜单全球覆盖，题库季度更换30%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行业对标采用分位数排名法，P90以上为标杆，P50-P90为良好，季度更新基线，基线样本1000+，IDC份额数据季度更新，SuperCLUE覆盖12家厂商，样本置信区间95%，题库季度更换30%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评估数据脱敏采用k-匿名与差分隐私双技术，ε=1.0，隐私合规审查100%通过，脱敏字段20类，IDC份额数据季度更新，SuperCLUE覆盖12家厂商，LMSYS榜单全球覆盖，题库季度更换30%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投资方向评估采用DCF与实物期权双模型，折现率12%，情景分析覆盖3种假设，评估报告季度更新，湖仓一体日增50GB，蒙特卡洛模拟1万次，联合国SDGs 17项对接，LMSYS榜单全球覆盖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评估结果可视化采用BI看板实时呈现，指标钻取层级4级，刷新频率5分钟，看板用户1000+，蒙特卡洛模拟1万次，Artificial Analysis季度更新，样本置信区间95%，题库季度更换30%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跨年度可比性采用链式指数法，基期2026年=100，版本换算系数年度公布，换算误差&lt;2%，查询P95时延&lt;3秒，湖仓一体日增50GB，Kendall's W协同度&gt;0.8，世界知识产权组织专利数据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评估人员资质实行持证上岗，CFA或FRM背景优先，年度培训40学时，考核不合格暂停资格，湖仓一体日增50GB，蒙特卡洛模拟1万次，Box-Cox变换偏度&lt;0.5，世界知识产权组织专利数据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国际对标采用购买力平价换算，汇率取年度均值，消除汇率波动干扰，对标国家30+，覆盖G20全部成员，Gartner对标报告年度发布，Artificial Analysis季度更新，样本置信区间95%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0327"/>
            <a:ext cx="11953951" cy="611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2026：安全领域为智能体安全与数据安全，组件类型为签名Agent Card与信任链验证，三层防护，SM3哈希锚定链上存证，国密SM2签名验证&lt;5ms，零信任接入，防篡改零泄漏，合规可控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2026：防护层级为智能体层、通信层、数据层三层，加密算法为AES-256、国密SM4、RSA-4096，全同态加密性能提升10倍，联邦学习数据不出域，SGX Enclave侧信道防护，零信任接入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2026：认证标准为AAIF安全标准与国标GB/Z 185，合规要求为智能体互联国标与数据安全法，SM3哈希锚定链上存证，SM4加密吞吐10Gbps，国密SM2签名验证&lt;5ms，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2026：监控体系为级联幻觉检测与异常行为分析，应急响应为伪造智能体拦截与实时告警，闭环处置，全程存证，零信任接入，最小权限，纵深防御，秒级阻断，防篡改零泄漏，合规可控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2026：安全审计为全链路审计与季度安全评估，审计日志留存3年以上，覆盖率100%，TEE可信执行环境硬件隔离，SM3哈希锚定链上存证，SM4加密吞吐10Gbps，防篡改零泄漏，合规可控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2026：2025年全球记录在案AI安全事件362起、同比+55%（斯坦福AI Index 2026），安全投入紧迫，SM4加密吞吐10Gbps，国密SM2签名验证&lt;5ms，秒级阻断，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2026：欧盟AI法2026年8月2日起扩大实施，执行透明度规则与通用AI模型提供商规则，SM3哈希锚定链上存证，国密SM2签名验证&lt;5ms，零信任接入，实时告警，秒级阻断，防篡改零泄漏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2026：中国《人工智能拟人化互动服务管理暂行办法》2026年7月15日施行，首部拟人化互动专门立法，全同态加密性能提升10倍，SGX Enclave侧信道防护，零信任接入，可审计全加密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2026：《智能体规范应用与创新发展实施意见》2026年5月印发，首份系统性智能体专项政策覆盖19场景，全同态加密性能提升10倍，SGX Enclave侧信道防护，秒级阻断，可审计全加密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2026：YD/T 6931—2026生成式AI图像检测标准2026年9月1日实施，GB/T 48073—2026深度学习框架标准8月28日发布，全同态加密性能提升10倍，安全多方计算百方建模，可审计全加密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2026：签名Agent Card采用Ed25519数字签名，证书24小时自动轮换，防重放攻击，SGX Enclave侧信道防护，Intel TDX硬件级防护，SM3哈希锚定链上存证，实时告警，可审计全加密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2026：信任链验证采用区块链分布式账本，智能体行为全链路记录、不可篡改，联邦学习数据不出域，SGX Enclave侧信道防护，Intel TDX硬件级防护，最小权限，纵深防御，实时告警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2027：安全领域升级为信任链安全与隐私计算，组件为零知识证明、联邦认证、安全沙箱，安全多方计算百方建模，联邦学习数据不出域，最小权限，纵深防御，实时告警，可审计全加密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2027：加密算法演进至后量子加密与同态加密，认证标准为AAIF信任链RFC与ISO 27001，AMD SEV内存加密，Intel TDX硬件级防护，TEE可信执行环境硬件隔离，国密SM2签名验证&lt;5ms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2027：后量子加密采用NIST FIPS 203/204/205标准，格密码CRYSTALS-Kyber试点，安全多方计算百方建模，AMD SEV内存加密，闭环处置，全程存证，最小权限，纵深防御，实时告警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2028：安全领域升级为跨域安全与供应链安全，组件为跨域认证网关与供应链溯源，安全多方计算百方建模，联邦学习数据不出域，分级响应，闭环处置，全程存证，最小权限，纵深防御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2028：量子密钥分发与格密码试点部署，跨域互认标准与供应链安全标准发布，安全多方计算百方建模，联邦学习数据不出域，零信任架构覆盖全部接口，分级响应，闭环处置，全程存证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2028：供应链溯源采用SBOM（软件物料清单）标准，组件来源可验证，全同态加密性能提升10倍，AMD SEV内存加密，Intel TDX硬件级防护，SM4加密吞吐10Gbps，闭环处置，全程存证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2029：安全领域升级为自治安全与伦理安全，组件为自治行为约束与伦理审查引擎，KMIP密钥轮换周期90天，AMD SEV内存加密，Intel TDX硬件级防护，SM4加密吞吐10Gbps，分级响应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2029：全同态加密与安全多方计算商用，自治安全标准与AI伦理准则实施，HSM硬件密钥托管，差分隐私ε=1.0合规，AMD SEV内存加密，TEE可信执行环境硬件隔离，全栈国密，分级响应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2029：伦理审查引擎实时评估智能体决策，伦理风险评分&gt;80自动干预，人类否决权保留，跨境数据流动安全评估，数据分类分级3级管控，差分隐私ε=1.0合规，零信任架构覆盖全部接口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2030：安全领域升级为全球安全治理与量子安全，组件为全球安全联盟与量子安全基础设施，跨境数据流动安全评估，等保三级测评通过，零信任架构覆盖全部接口，全栈国密，分级响应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2030：量子加密全覆盖与抗量子算法成熟，全球AI安全条约签署，跨境事件通报机制建立，UEBA异常检出率99%，KMIP密钥轮换周期90天，差分隐私ε=1.0合规，零信任架构覆盖全部接口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2030：全球威胁情报共享与量子安全监测，秒级协同响应，跨境数据流动安全评估，数据分类分级3级管控，HSM硬件密钥托管，差分隐私ε=1.0合规，零信任架构覆盖全部接口，全栈国密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2026-2030：加密算法演进路径：AES-256/国密→后量子→量子密钥分发→全同态→量子全覆盖，OCSP吊销检查1秒阻断，STIX 2.1情报格式，跨境数据流动安全评估，数据分类分级3级管控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2026-2030：防护层级演进：三层→五层→全域→全球→文明级，安全能力五年跃迁，OCSP吊销检查1秒阻断，跨境数据流动安全评估，数据分类分级3级管控，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2031-2035：自免疫安全、生态安全、文明安全、绝对安全、安全纪元等阶段，TEE可信执行环境硬件隔离，SM3哈希锚定链上存证，SM4加密吞吐10Gbps，零信任接入（只作为参考依据）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2031-2035：生物加密、意识加密、终极加密等前瞻技术，AMD SEV内存加密，TEE可信执行环境硬件隔离，SM4加密吞吐10Gbps，国密SM2签名验证&lt;5ms，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2031-2035：自进化标准、自治法规、终极法规等治理形态，TEE可信执行环境硬件隔离，SM3哈希锚定链上存证，SM4加密吞吐10Gbps，可审计全加密，防篡改零泄漏（只作为参考依据）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2026：级联幻觉检测采用多智能体交叉验证，错误放大率降至&lt;1%，SAML 2.0协议转换&lt;5ms，OCSP吊销检查1秒阻断，UEBA异常检出率99%，等保三级测评通过，k-匿名脱敏覆盖20类字段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2026：伪造智能体拦截采用白名单+行为指纹双重验证，拦截成功率99.9%，BFV密文膨胀率8倍，OCSP吊销检查1秒阻断，UEBA异常检出率99%，KMIP密钥轮换周期90天，HSM硬件密钥托管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69550"/>
            <a:ext cx="11953951" cy="61141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2027：零知识证明认证支持不泄露身份信息的身份验证，隐私保护级别最高，SPDX 2.3物料清单，OIDC联邦令牌15分钟，STIX 2.1情报格式，KMIP密钥轮换周期90天，HSM硬件密钥托管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2027：安全沙箱采用微隔离技术，智能体行为限制在授权范围内，防越权，BFV密文膨胀率8倍，SPDX 2.3物料清单，STIX 2.1情报格式，UEBA异常检出率99%，k-匿名脱敏覆盖20类字段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2028：跨域认证网关支持异构网络互联，边界层、供应链层、运行时层三层防护，WORM存储防篡改，seccomp系统调用过滤，BFV密文膨胀率8倍，SPDX 2.3物料清单，STIX 2.1情报格式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2031-2035：自免疫系统、生态免疫、文明防护等前瞻体系，全同态加密性能提升10倍，联邦学习数据不出域，SGX Enclave侧信道防护，零信任接入，防篡改零泄漏（只作为参考依据）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2026：安全组件全部通过GB/Z 185.3身份管理与GB/Z 185.7工具调用标准符合性测试，测试用例库500+，一次通过率92%，测试结果AAIF互认，WORM存储防篡改，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2026：智能体安全测试纳入红蓝对抗机制，覆盖身份伪造、权限提升、提示注入、数据窃取、拒绝服务五类攻击，季度演练通过率100%，ISO/IEC 42001认证，密钥交换CRYSTALS-Kyber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2027：安全组件实现插件化与热插拔部署，威胁规则库日更，新型漏洞补丁下发时间&lt;4小时，组件升级不中断在线业务，金丝雀灰度1%起步，BFV密文膨胀率8倍，SAML 2.0协议转换&lt;5ms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2028：跨域安全联邦建立政府、企业、公共机构三类主体互信，身份白名单与信誉分互认，跨域授权审批从天级缩至1小时，TLS 1.3强制启用，AES-256存储加密，提示注入召回率99.5%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2029-2030：安全组件向自主免疫架构演进，威胁感知、决策、处置闭环自动化率95%+，年度安全运营成本下降50%，提示注入召回率99.5%，BFV密文膨胀率8倍，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2026：签名Agent Card验证服务部署于国家顶级节点，日验证请求500万次，峰值吞吐2万/秒，WORM存储防篡改，seccomp系统调用过滤，OIDC联邦令牌15分钟，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2026：信任链验证对接公安部实名认证接口，智能体实名备案率100%，备案时延&lt;1秒，国密套件SM2/SM3可选，seccomp系统调用过滤，BB84成码率10kbps@100km，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2026：安全组件通过商用密码产品认证，SM2/SM3/SM4全栈国密支持，认证证书编号GM-2026-088，AES-256存储加密，seccomp系统调用过滤，OIDC联邦令牌15分钟，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2026：级联幻觉检测模型在3家三甲医院试点，医疗智能体错误放大率从8%降至0.9%，密钥交换CRYSTALS-Kyber，加密开销&lt;3%，TLS 1.3强制启用，AES-256存储加密，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2026：伪造智能体拦截组件接入国家反诈平台，拦截涉案智能体1200个，止损金额2.3亿元，加密开销&lt;3%，AES-256存储加密，金丝雀灰度1%起步，WORM存储防篡改，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2026：安全审计日志对接国家网络身份认证公共服务，日志上链存证，司法采信率100%，国密套件SM2/SM3可选，AES-256存储加密，商用密码认证编号GM-2026-088，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2026：AAIF安全工作组发布智能体供应链安全白皮书，覆盖组件准入、漏洞披露、应急响应三环节，QKD密钥率10Mbps+，国密套件SM2/SM3可选，金丝雀灰度1%起步，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2027：零知识证明认证在政务智能体场景落地，隐私验证通过率99%，身份泄露事件零发生，TLS 1.3强制启用，RSA-4096密钥交换，商用密码认证编号GM-2026-088，金丝雀灰度1%起步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2027：安全沙箱组件支持WASM运行时隔离，启动时延&lt;50ms，资源开销&lt;5%，加密开销&lt;3%，TLS 1.3强制启用，BB84成码率10kbps@100km，等保三级测评通过，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2027：联邦认证体系覆盖金融、医疗、交通三行业，跨行业互认智能体5万+，互认时延&lt;2秒，加密开销&lt;3%，RSA-4096密钥交换，商用密码认证编号GM-2026-088，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2028：跨域认证网关部署于8大算力枢纽，日跨域认证请求2000万次，认证成功率99.9%，QKD密钥率10Mbps+，加密开销&lt;3%，RSA-4096密钥交换，红蓝对抗季度演练，等保三级测评通过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2028：供应链溯源平台登记安全组件10万+，SBOM覆盖率100%，漏洞平均修复时间&lt;24小时，QKD密钥率10Mbps+，TLS 1.3强制启用，商用密码认证编号GM-2026-088，红蓝对抗季度演练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2028：量子密钥分发组件与信任链验证集成，密钥更新频率1秒，抗量子攻击能力认证通过，QKD密钥率10Mbps+，国密套件SM2/SM3可选，RSA-4096密钥交换，BB84成码率10kbps@100km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2029：自治行为约束组件通过ISO/IEC 42001 AI管理体系认证，违规处置自动化率98%，ISO/IEC 42001认证，FIPS 203/204/205标准，密钥交换CRYSTALS-Kyber，红蓝对抗季度演练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2029：伦理审查引擎接入国家AI伦理委员会，高风险决策人工复核率100%，复核时延&lt;4小时，ISO/IEC 42001认证，FIPS 203/204/205标准，提示注入召回率99.5%，红蓝对抗季度演练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2030：全球安全联盟成员达80国，跨境威胁情报共享时延&lt;5分钟，联合演练年度化，深信服零信任网关部署，ISO 27001双认证，国密套件SM2/SM3可选，商用密码认证编号GM-2026-088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2030：量子安全基础设施覆盖骨干网与城域网，量子密钥分发里程10万公里，安全组件全面抗量子，宪法AI行为约束，ISO 27001双认证，ISO/IEC 42001认证，FIPS 203/204/205标准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2027-2030：安全组件国产化率从70%提升至100%，核心密码部件自主可控，断供风险归零，360安全大脑联动处置，ISO/IEC 42001认证，密钥交换CRYSTALS-Kyber，红蓝对抗季度演练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2031-2035：安全组件向自免疫、自修复、自进化形态演进，安全边界完全消融，TEE可信执行环境硬件隔离，SM3哈希锚定链上存证，SM4加密吞吐10Gbps，合规可控（只作为参考依据）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2027-2030：安全组件与A2A协议栈深度耦合，安全能力随协议版本同步升级，兼容性测试覆盖率100%，智能体事件占比20%，ISO 27001双认证，QKD密钥率10Mbps+，RSA-4096密钥交换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0199"/>
            <a:ext cx="11953951" cy="6113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签名Agent Card采用Ed25519数字签名，证书有效期24小时自动轮换，防重放攻击，验证时延&lt;1ms，SM3哈希锚定链上存证，SM4加密吞吐10Gbps，零信任接入，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信任链验证采用区块链分布式账本，智能体行为全链路记录、不可篡改，追溯效率提升100倍，SM3哈希锚定链上存证，国密SM2签名验证&lt;5ms，零信任接入，可审计全加密，防篡改零泄漏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级联幻觉检测采用多智能体交叉验证机制，错误放大率降至&lt;1%，误报率&lt;0.1%，SM4加密吞吐10Gbps，国密SM2签名验证&lt;5ms，纵深防御，实时告警，秒级阻断，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伪造智能体拦截采用白名单+行为指纹双重验证，拦截成功率99.9%，漏报率&lt;0.01%，SM3哈希锚定链上存证，SM4加密吞吐10Gbps，零信任接入，可审计全加密，防篡改零泄漏，合规可控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AES-256用于数据存储加密，国密SM4用于国产化合规场景，RSA-4096用于密钥交换，AMD SEV内存加密，TEE可信执行环境硬件隔离，国密SM2签名验证&lt;5ms，零信任接入，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2027后量子加密采用NIST FIPS 203/204/205标准，抵御量子计算攻击，性能开销&lt;10%，AMD SEV内存加密，TEE可信执行环境硬件隔离，国密SM2签名验证&lt;5ms，零信任接入，合规可控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同态加密支持密文计算，数据可用不可见，满足隐私计算需求，2027年性能提升10倍，国密SM2签名验证&lt;5ms，零信任架构覆盖全部接口，实时告警，秒级阻断，可审计全加密，合规可控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零知识证明认证支持不泄露身份信息的身份验证，隐私保护级别最高，验证时延&lt;10ms，AMD SEV内存加密，SM3哈希锚定链上存证，SM4加密吞吐10Gbps，纵深防御，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安全沙箱采用微隔离技术，智能体行为限制在授权范围内，防越权，逃逸率0，联邦学习数据不出域，SGX Enclave侧信道防护，Intel TDX硬件级防护，SM3哈希锚定链上存证，秒级阻断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2028量子密钥分发（QKD）在京沪干线等骨干网试点，密钥率10Mbps+，距离1000km+，AMD SEV内存加密，Intel TDX硬件级防护，SM4加密吞吐10Gbps，纵深防御，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格密码采用CRYSTALS-Kyber算法，抗量子攻击，性能开销&lt;5%，NIST标准化，SGX Enclave侧信道防护，TEE可信执行环境硬件隔离，零信任架构覆盖全部接口，实时告警，可审计全加密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供应链溯源采用SBOM（软件物料清单）标准，组件来源可验证，漏洞响应时间缩短80%，差分隐私ε=1.0合规，安全多方计算百方建模，Intel TDX硬件级防护，TEE可信执行环境硬件隔离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2029自治行为约束采用宪法AI方法，智能体行为符合预设原则，违规率&lt;0.01%，SGX Enclave侧信道防护，Intel TDX硬件级防护，TEE可信执行环境硬件隔离，纵深防御，可审计全加密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伦理审查引擎实时评估智能体决策，伦理风险评分&gt;80自动干预，人类否决权保留，差分隐私ε=1.0合规，SGX Enclave侧信道防护，AMD SEV内存加密，Intel TDX硬件级防护，纵深防御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全同态加密2029年性能提升100倍，达到商用条件，密文计算速度接近明文，KMIP密钥轮换周期90天，安全多方计算百方建模，SGX Enclave侧信道防护，闭环处置，全程存证，最小权限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安全多方计算支持百方联合建模，隐私泄露零，通信开销优化90%，数据分类分级3级管控，安全多方计算百方建模，零信任架构覆盖全部接口，分级响应，闭环处置，全程存证，最小权限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2030量子加密全覆盖，抗量子算法强制认证，安全基础设施完备，k-匿名脱敏覆盖20类字段，差分隐私ε=1.0合规，联邦学习数据不出域，零信任架构覆盖全部接口，全程存证，最小权限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全球AI安全条约建立跨境事件通报与联合响应机制，缔约国50+，HSM硬件密钥托管，差分隐私ε=1.0合规，安全多方计算百方建模，联邦学习数据不出域，闭环处置，全程存证，最小权限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应急响应分级：一级（秒级自动隔离）、二级（分钟级人工介入）、三级（小时级复盘），k-匿名脱敏覆盖20类字段，安全多方计算百方建模，联邦学习数据不出域，全程存证，最小权限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全链路审计日志留存3年以上，季度安全评估制度化，审计覆盖率100%，数据分类分级3级管控，等保三级测评通过，差分隐私ε=1.0合规，全同态加密性能提升10倍，联邦学习数据不出域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2026：AI安全事件362起中，深度伪造诈骗占比35%，智能体安全事件占比20%且快速增长，STIX 2.1情报格式，跨境数据流动安全评估，数据分类分级3级管控，零信任架构覆盖全部接口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2026：数据安全法、个人信息保护法、网络安全法三法衔接，智能体数据处理合规要求明确，UEBA异常检出率99%，KMIP密钥轮换周期90天，HSM硬件密钥托管，k-匿名脱敏覆盖20类字段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2026：关键信息基础设施保护条例覆盖智能体系统，安全审查前置，UEBA异常检出率99%，跨境数据流动安全评估，KMIP密钥轮换周期90天，HSM硬件密钥托管，k-匿名脱敏覆盖20类字段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2027：ISO 27001认证与AAIF信任链RFC双认证，企业合规成本降30%，STIX 2.1情报格式，UEBA异常检出率99%，等保三级测评通过，KMIP密钥轮换周期90天，全同态加密性能提升10倍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2028：关键信息基础设施保护与跨境数据规则完善，智能体跨境互联合规，跨境数据流动安全评估，数据分类分级3级管控，KMIP密钥轮换周期90天，全同态加密性能提升10倍，闭环处置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2029：智能体行为监管与伦理审查制度实施，伦理委员会制度化，STIX 2.1情报格式，UEBA异常检出率99%，等保三级测评通过，HSM硬件密钥托管，全同态加密性能提升10倍，闭环处置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2030：全球AI安全条约与量子安全法规生效，安全治理全球协同，OCSP吊销检查1秒阻断，UEBA异常检出率99%，等保三级测评通过，k-匿名脱敏覆盖20类字段，全同态加密性能提升10倍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2031-2035：自免疫系统、生态免疫、文明防护等前瞻体系，TEE可信执行环境硬件隔离，SM3哈希锚定链上存证，SM4加密吞吐10Gbps，可审计全加密，防篡改零泄漏（只作为参考依据）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2031-2035：生物加密、意识加密、终极加密等前瞻技术，AMD SEV内存加密，TEE可信执行环境硬件隔离，SM4加密吞吐10Gbps，国密SM2签名验证&lt;5ms，零信任接入（只作为参考依据）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2031-2035：全知监控、自愈响应、完美审计等前瞻机制，TEE可信执行环境硬件隔离，SM3哈希锚定链上存证，SM4加密吞吐10Gbps，实时告警，秒级阻断，合规可控（只作为参考依据）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2026：异常行为分析采用UEBA技术，基线自学习，异常检出率99%，SAML 2.0协议转换&lt;5ms，zk-SNARK证明生成&lt;2秒，OCSP吊销检查1秒阻断，STIX 2.1情报格式，全栈国密，分级响应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69871"/>
            <a:ext cx="11953951" cy="6113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2026：实时告警分级推送，一级告警秒级触达，值班响应SLA 5分钟，WORM存储防篡改，SAML 2.0协议转换&lt;5ms，OIDC联邦令牌15分钟，zk-SNARK证明生成&lt;2秒，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2027：威胁情报共享联盟成员100+，情报时效&lt;1小时，BFV密文膨胀率8倍，BB84成码率10kbps@100km，SPDX 2.3物料清单，SAML 2.0协议转换&lt;5ms，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2028：AI威胁狩猎主动发现未知威胁，狩猎周期周级，金丝雀灰度1%起步，WORM存储防篡改，BFV密文膨胀率8倍，BB84成码率10kbps@100km，SPDX 2.3物料清单，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2031-2035：绝对安全、终极安全等前瞻形态，TEE可信执行环境硬件隔离，SM3哈希锚定链上存证，SM4加密吞吐10Gbps，零信任接入，可审计全加密，防篡改零泄漏（只作为参考依据）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信任链验证网关支持证书链三级校验与OCSP实时吊销检查，验证吞吐5万次/秒，过期与吊销证书1秒内阻断，WORM存储防篡改，BB84成码率10kbps@100km，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提示注入防御采用输入过滤与输出审计双层策略，攻击样本库10万+，检测召回率99.5%，误报率&lt;0.5%，AES-256存储加密，商用密码认证编号GM-2026-088，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密钥管理采用HSM硬件模块与KMIP协议，密钥生成、分发、轮换、销毁全程审计，根密钥离线冷存、双人双控，密钥交换CRYSTALS-Kyber，国密套件SM2/SM3可选，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数据脱敏支持泛化、替换、加密三类算法，敏感字段识别准确率99%+，脱敏规则覆盖12类个人信息，AES-256存储加密，提示注入召回率99.5%，红蓝对抗季度演练，OIDC联邦令牌15分钟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安全运营中心集成SIEM与SOAR能力，告警关联分析时延&lt;5秒，自动化处置剧本200+，平均响应时间&lt;15分钟，AES-256存储加密，提示注入召回率99.5%，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Ed25519签名验证采用预计算优化，批量验证吞吐10万次/秒，单证书验证时延&lt;0.5ms，加密开销&lt;3%，RSA-4096密钥交换，WORM存储防篡改，seccomp系统调用过滤，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信任链区块采用国密SM3哈希锚定，出块间隔2秒，链上存证容量1亿条/日，链节点50+，加密开销&lt;3%，TLS 1.3强制启用，AES-256存储加密，金丝雀灰度1%起步，seccomp系统调用过滤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级联幻觉检测采用因果图推理定位错误源头，定位准确率95%，平均定位时间&lt;3秒，误报率&lt;0.5%，加密开销&lt;3%，提示注入召回率99.5%，seccomp系统调用过滤，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伪造智能体行为指纹采用时序特征加行为序列双模态建模，指纹库10万+，更新频率日级，TLS 1.3强制启用，AES-256存储加密，商用密码认证编号GM-2026-088，seccomp系统调用过滤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安全沙箱逃逸防护采用seccomp系统调用过滤加内存隔离双机制，逃逸测试用例5000+，加密开销&lt;3%，TLS 1.3强制启用，RSA-4096密钥交换，提示注入召回率99.5%，红蓝对抗季度演练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零知识证明采用zk-SNARK方案，证明生成时间&lt;2秒，验证时间&lt;10ms，证明大小&lt;1KB，可信设置季度更新，QKD密钥率10Mbps+，加密开销&lt;3%，国密套件SM2/SM3可选，TLS 1.3强制启用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联邦认证采用OIDC联邦协议加令牌交换，跨域令牌有效期15分钟，刷新成功率99.9%，FIPS 203/204/205标准，RSA-4096密钥交换，商用密码认证编号GM-2026-088，红蓝对抗季度演练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跨域认证网关支持SAML 2.0与OAuth 2.1双协议转换，协议转换时延&lt;5ms，ISO 27001双认证，ISO/IEC 42001认证，密钥交换CRYSTALS-Kyber，TLS 1.3强制启用，金丝雀灰度1%起步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SBOM采用SPDX 2.3标准格式，组件依赖树深度解析至第5层，漏洞匹配准确率99%，宪法AI行为约束，ISO 27001双认证，QKD密钥率10Mbps+，国密套件SM2/SM3可选，金丝雀灰度1%起步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量子密钥分发采用BB84协议，成码率10kbps@100km，密钥后处理时延&lt;1秒，ISO 27001双认证，ISO/IEC 42001认证，FIPS 203/204/205标准，QKD密钥率10Mbps+，红蓝对抗季度演练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全同态加密采用BFV方案，密文膨胀率8倍，密文加法运算时延&lt;1ms，密文乘法时延&lt;5ms，启明星辰威胁情报共享，深信服零信任网关部署，ISO 27001双认证，密钥交换CRYSTALS-Kyber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安全多方计算采用秘密分享加混淆电路混合协议，两方计算通信量&lt;10MB/任务，计算时延&lt;1秒，宪法AI行为约束，ISO/IEC 42001认证，FIPS 203/204/205标准，国密套件SM2/SM3可选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自治行为约束采用形式化验证方法，行为规则库500+，验证覆盖率100%，违规处置时延&lt;100ms，宪法AI行为约束，ISO 27001双认证，密钥交换CRYSTALS-Kyber，国密套件SM2/SM3可选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伦理风险评分采用多指标加权模型，指标含公平性、透明性、可控性三项，评分更新频率实时，深信服零信任网关部署，宪法AI行为约束，密钥交换CRYSTALS-Kyber，RSA-4096密钥交换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密钥轮换采用双密钥热切换机制，切换零中断，旧密钥保留72小时用于解密历史数据，轮换周期90天，深信服零信任网关部署，宪法AI行为约束，QKD密钥率10Mbps+，RSA-4096密钥交换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漏洞扫描采用静态分析加动态模糊测试双引擎，代码覆盖率95%，误报率&lt;2%，扫描周期日级，卫士通密码模块认证，360安全大脑联动处置，FIPS 203/204/205标准，QKD密钥率10Mbps+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安全审计日志采用WORM存储，防篡改校验每日执行，日志完整性验证通过率100%，留存期3年+，2025年AI安全事件362起，格尔软件PKI互认，卫士通密码模块认证，ISO/IEC 42001认证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威胁情报采用STIX 2.1标准格式，情报源50+，情报消费时延&lt;1分钟，情报准确率95%+，启明星辰威胁情报共享，深信服零信任网关部署，ISO/IEC 42001认证，FIPS 203/204/205标准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安全组件灰度发布采用金丝雀策略，灰度比例1%起步，异常自动回滚时间&lt;30秒，全量发布周期3天，YD/T 6931—2026九月实施，拟人化互动办法7月15日施行，同比+55%斯坦福AI Index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安全培训采用攻防演练平台，年度演练4次，人员安全意识考核通过率100%，培训覆盖全员，YD/T 6931—2026九月实施，实施意见覆盖19场景，智能体事件占比20%，卫士通密码模块认证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69646"/>
            <a:ext cx="11953951" cy="61140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2026：部署模式为AI云与混合部署，架构设计为智能体原生架构与微服务化，弹性伸缩，5G专网UPF下沉园区，KubeEdge云边协同，边缘节点时延&lt;10ms，多活容灾，按需计费，弹性集约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2026：基础设施为智算2185 EFLOPS（工信部2026年6月底数据，同比+177%）与42个万卡智算集群，阿里云飞天混合部署，混合云统一管理平面，KubeEdge云边协同，零停机，弹性集约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2026：网络架构为多地多活与SD-WAN，数据存储为分布式存储与对象存储，华为云灾备节点30个，5G专网UPF下沉园区，边缘节点时延&lt;10ms，弹性伸缩，全自动运维，零停机，弹性集约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2026：容灾方案为两地三中心、RPO&lt;1min、RTO&lt;5min，性能优化为峰谷定价优化与弹性伸缩，华为云灾备节点30个，两地三中心RPO&lt;1min，边缘节点时延&lt;10ms，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2026：成本控制为按需计费与资源池化，扩展策略为水平扩展与智能调度，利用率70%，两地三中心RPO&lt;1min，5G专网UPF下沉园区，KubeEdge云边协同，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2026：2026年前7个月158个总价过亿元数据中心项目招标，累计金额超1130亿元、同比+18%，华为云灾备节点30个，两地三中心RPO&lt;1min，边缘节点时延&lt;10ms，弹性伸缩，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2026：火山引擎内蒙古4个算力项目总投资约106.54亿元，新增标准机架超19.29万架，混合云统一管理平面，KubeEdge云边协同，多活容灾，按需计费，弹性伸缩，全自动运维，零停机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2026：Anthropic与Nscale签署450亿美元六年算力租约，锁定Monarch数据中心460MW（Vera Rubin芯片），华为云灾备节点30个，秒级扩容，多活容灾，按需计费，弹性伸缩，零停机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2026：Gartner预测2026年全球数据中心系统支出8220亿美元、增速62.5%，阿里云飞天混合部署，混合云统一管理平面，资源池化，秒级扩容，多活容灾，按需计费，弹性伸缩，零停机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2026：字节豆包大模型日均Token调用量6月突破180万亿（一年增长超10倍），腾讯TokenHub 8月突破25万亿，金山云行业专区，混合云统一管理平面，KubeEdge云边协同，全自动运维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2026：三大运营商2026上半年AIDC基础设施合计投资超283亿元，算力军备竞赛持续，阿里云飞天混合部署，华为云灾备节点30个，混合云统一管理平面，5G专网UPF下沉园区，按需计费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2026：阿里巴巴浙江临平数据中心规划承载20万台服务器，2026年8月28日竣工验收，移动云边缘站点500个，腾讯云专有云落地，阿里云飞天混合部署，两地三中心RPO&lt;1min，多活容灾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2027：部署模式升级为边缘智能体与端云协同，边缘节点10万+、5G专网覆盖，金山云行业专区，移动云边缘站点500个，腾讯云专有云落地，阿里云飞天混合部署，RTO&lt;5min达标率100%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2027：架构设计为边缘-云协同架构与轻量化部署，网络为确定性网络与TSN，浪潮云洲工业互联网，联通云算力调度平台，天翼云政企专区覆盖，腾讯云专有云落地，5G专网UPF下沉园区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2027：边缘模型压缩：量化+蒸馏+剪枝，模型体积降90%，边缘推理降本40%，京东云混合云套件，天翼云政企专区覆盖，腾讯云专有云落地，RTO&lt;5min达标率100%，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2028：部署模式升级为联邦部署与隐私计算，联邦节点1000+、可信执行环境，金山云行业专区，移动云边缘站点500个，天翼云政企专区覆盖，腾讯云专有云落地，RTO&lt;5min达标率100%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2028：数据不出域，联邦数据湖与密态存储成熟，零信任网络全覆盖，金山云行业专区，京东云混合云套件，浪潮云洲工业互联网，联通云算力调度平台，天翼云政企专区覆盖，秒级扩容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2028：可信执行环境采用Intel TDX/AMD SEV，硬件级隔离，联邦学习FedAvg+安全聚合，UCloud私有化部署，金山云行业专区，天翼云政企专区覆盖，RTO&lt;5min达标率100%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2029：部署模式升级为自治部署与自运维，自治数据中心与绿色能源，PUE&lt;1.1，K8s扩缩容&lt;60秒，UCloud私有化部署，京东云混合云套件，联通云算力调度平台，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2029：自组网与卫星互联部署，自愈系统零人工干预，运维成本降60%，易捷行云国产化云平台，UCloud私有化部署，移动云边缘站点500个，两地三中心RPO&lt;1min，智能调度，资源池化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2030：部署模式升级为全球部署与星际预备，全球数据中心与太空节点预备，京东云混合云套件，百度智能云边缘盒子，曙光城市云计算中心，浪潮云洲工业互联网，联通云算力调度平台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2030：全球骨干网与卫星星座成熟，全球容灾与星际备份预备，偏远地区时延&lt;100ms，京东云混合云套件，浪潮云洲工业互联网，联通云算力调度平台，移动云边缘站点500个，资源池化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2026-2030：部署模式演进路径：AI云→边缘协同→联邦部署→自治部署→全球部署，GPU利用率提升至70%，K8s扩缩容&lt;60秒，容器启动时延&lt;3秒，UCloud私有化部署，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2026-2030：算力成本演进：峰谷定价→边缘降本40%→联邦降本→自治降本60%→全球资源池最优，MIG单卡切分8实例，镜像P2P分发省带宽80%，易捷行云国产化云平台，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2031-2035：星际部署、全息部署、意识部署、维度部署、终极部署等阶段，华为云灾备节点30个，两地三中心RPO&lt;1min，边缘节点时延&lt;10ms，弹性伸缩，弹性集约（只作为参考依据）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2031-2035：星际网络、全息网络、意识网络等前瞻架构，两地三中心RPO&lt;1min，5G专网UPF下沉园区，KubeEdge云边协同，边缘节点时延&lt;10ms，零停机，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2031-2035：太空基础设施、全息基础设施等前瞻设施，两地三中心RPO&lt;1min，5G专网UPF下沉园区，KubeEdge云边协同，边缘节点时延&lt;10ms，弹性伸缩，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2026：42个万卡集群分布于贵州、内蒙古、甘肃等全国算力枢纽节点，东数西算格局成型，Serverless冷启动&lt;500ms，容器启动时延&lt;3秒，易捷行云国产化云平台，曙光城市云计算中心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2026：SD-WAN支持智能选路与带宽优化，跨地域时延优化30%，MIG单卡切分8实例，GPU利用率提升至70%，镜像P2P分发省带宽80%，K8s扩缩容&lt;60秒，易捷行云国产化云平台，智能调度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2026：对象存储支持EB级容量，数据生命周期自动管理，Serverless冷启动&lt;500ms，容器启动时延&lt;3秒，易捷行云国产化云平台，青云科技超融合架构，百度智能云边缘盒子，绿色集约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2027：5G专网支持确定性时延，URLLC模式时延&lt;5ms，工业场景全覆盖，对象存储11个9持久性，GPU利用率提升至70%，青云科技超融合架构，百度智能云边缘盒子，云边协同，绿色集约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69550"/>
            <a:ext cx="11953951" cy="61141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2027：TSN时间敏感网络保障工业控制实时性，抖动&lt;1μs，Autoscaler碎片率&lt;3%，Serverless冷启动&lt;500ms，K8s扩缩容&lt;60秒，青云科技超融合架构，百度智能云边缘盒子，云边协同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2029：绿电占比80%+，碳中和数据中心认证，Autoscaler碎片率&lt;3%，SD-WAN链路切换&lt;1秒，对象存储11个9持久性，GPU利用率提升至70%，镜像P2P分发省带宽80%，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2030：卫星星座（国网/千帆）支持全球覆盖，星地协同计算，Autoscaler碎片率&lt;3%，SD-WAN链路切换&lt;1秒，对象存储11个9持久性，K8s扩缩容&lt;60秒，青云科技超融合架构，统一纳管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2031-2035：星际存储、全息存储、意识存储等前瞻存储，华为云灾备节点30个，KubeEdge云边协同，边缘节点时延&lt;10ms，按需计费，弹性伸缩，零停机，弹性集约（只作为参考依据）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2026：部署策略对接东数西算工程，实时推理业务布于东部枢纽、大规模训练布于西部枢纽，跨域算力调度利用率提升25%，算力计量FLOPS时计价，INT8量化提速2倍，Istio熔断阈值5%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2026：智能体部署采用容器化与Serverless双形态，K8s集群自动扩缩容响应&lt;30秒，峰值支撑100万并发请求，LSTM负载预测准确率95%，Autoscaler碎片率&lt;3%，对象存储11个9持久性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2027：边缘部署形成省侧推理、市侧聚合、端侧执行三级架构，边缘节点PUE&lt;1.25，本地数据处理占比70%+，INT8量化提速2倍，LSTM负载预测准确率95%，Istio熔断阈值5%，统一纳管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2028：联邦部署建成跨行业数据空间，1000+节点接入可信执行环境，全局模型聚合1万+轮，训练数据不出域合规率100%，INT8量化提速2倍，Istio熔断阈值5%，Ceph恢复速度1TB/小时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2029-2030：全球部署形成亚太、欧洲、中东三大枢纽格局，跨境专线带宽100Tbps+，容灾切换演练季度化、成功率100%，CDN缓存命中率95%，余热利用率60%，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2026：国家算力互联网调度平台上线，接入枢纽节点10个，日调度算力任务50万+，调度成功率99%，CDN缓存命中率95%，INT8量化提速2倍，强化学习调度时延&lt;10ms，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2026：智能体部署对接东数西算八大枢纽，西部集群承接训练任务占比60%，东部枢纽承载实时推理，CDN缓存命中率95%，余热利用率60%，Ceph恢复速度1TB/小时，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2026：液冷数据中心规模化部署，浸没式液冷PUE低至1.08，覆盖万卡集群40%，FedAvg聚合时延&lt;2秒，强化学习调度时延&lt;10ms，DNS+GSLB切换&lt;30秒，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2026：Serverless智能体部署占比达35%，冷启动时延&lt;500ms，闲置成本降70%，CDN缓存命中率95%，强化学习调度时延&lt;10ms，LSTM负载预测准确率95%，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2026：三大运营商算力网络互联带宽达80Tbps，跨网时延&lt;20ms，算力并网调度试点启动，AIOps告警降噪率90%，FedAvg聚合时延&lt;2秒，LSTM负载预测准确率95%，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2026：火山引擎、阿里云、腾讯云三家云厂商智能体托管服务上线，累计托管智能体10万+，INT8量化提速2倍，强化学习调度时延&lt;10ms，LSTM负载预测准确率95%，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2026：边缘智能盒子在工厂场景试点部署5000台，单台算力100TOPS，本地推理时延&lt;10ms，累计金额超1130亿元，国家算力互联网统一调度，算力计量FLOPS时计价，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2026：国家数据局推进数据基础设施与算力设施协同布局，算力券补贴试点城市15个，账单精度秒级争议率&lt;0.1%，AIOps告警降噪率90%，FedAvg聚合时延&lt;2秒，Ceph恢复速度1TB/小时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2027：边缘节点部署规模达10万+，覆盖工业园区与城市社区，边缘算力占比提升至25%，液冷覆盖万卡集群40%，峰谷定价成本优化30%，国家算力互联网统一调度，FedAvg聚合时延&lt;2秒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2027：算力网络实现毫秒级调度，跨枢纽任务迁移成功率99%，算力利用率提升至75%，液冷覆盖万卡集群40%，峰谷定价成本优化30%，东数西算八大枢纽十大集群，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2027：智能体部署支持多云灾备，双云双活架构RTO&lt;1分钟，灾备演练季度化，切换成功率100%，新增机架19.29万架，火山引擎投资106.54亿元，余热利用率60%，AIOps告警降噪率90%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2028：联邦部署节点达1000+，覆盖金融、医疗、政务三行业，数据可用不可见场景50+，浸没式液冷PUE 1.08，42个万卡集群分布式布局，算力计量FLOPS时计价，AIOps告警降噪率90%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2028：算力交易市场成熟，现货交易占比30%，算力价格指数发布，价格波动率&lt;15%，国家算力互联网统一调度，账单精度秒级争议率&lt;0.1%，AIOps告警降噪率90%，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2028：绿色算力占比达50%，风光互补供电系统覆盖西部枢纽，绿电直供比例60%+，国家算力互联网统一调度，账单精度秒级争议率&lt;0.1%，DNS+GSLB切换&lt;30秒，Ceph恢复速度1TB/小时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2029：自治部署覆盖80%数据中心，AI运维替代人工巡检，故障自愈时间&lt;1分钟，东数西算八大枢纽十大集群，账单精度秒级争议率&lt;0.1%，DNS+GSLB切换&lt;30秒，Ceph恢复速度1TB/小时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2029：卫星互联网与地面算力网络融合，低轨卫星带宽10Gbps+，偏远地区算力可达，2185 EFLOPS智算规模，峰谷定价成本优化30%，账单精度秒级争议率&lt;0.1%，算力计量FLOPS时计价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2030：全球算力网络形成，跨境算力调度时延&lt;100ms，全球算力利用率80%+，新增机架19.29万架，火山引擎投资106.54亿元，同比+18%高景气，峰谷定价成本优化30%，余热利用率60%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2030：太空算力节点预备部署，在轨计算实验平台发射，太空算力1PFLOPS试点，同比+18%高景气，累计金额超1130亿元，浸没式液冷PUE 1.08，算力计量FLOPS时计价，余热利用率60%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2027-2030：部署架构从集中式向分布式演进，节点数从1000到100万，去中心化程度提升，火山引擎投资106.54亿元，同比+18%高景气，累计金额超1130亿元，工信部2026年6月底数据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2031-2035：部署形态向星际、全息、意识维度演进，算力无处不在，两地三中心RPO&lt;1min，5G专网UPF下沉园区，KubeEdge云边协同，边缘节点时延&lt;10ms，零停机（只作为参考依据）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0199"/>
            <a:ext cx="11953951" cy="6113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2185 EFLOPS同比+177%、环比+16.6%，智能算力规模全球领先（工信部2026年6月底数据），华为云灾备节点30个，RTO&lt;5min达标率100%，边缘节点时延&lt;10ms，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42个万卡集群分布于贵州、内蒙古、甘肃等全国算力枢纽节点，东数西算工程成效显著，RTO&lt;5min达标率100%，5G专网UPF下沉园区，边缘节点时延&lt;10ms，弹性伸缩，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两地三中心容灾：生产中心+同城灾备中心+异地灾备中心，RTO&lt;5min、RPO&lt;1min，RTO&lt;5min达标率100%，边缘节点时延&lt;10ms，多活容灾，按需计费，弹性伸缩，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峰谷定价：DeepSeek V4 Pro空闲时段输入4.5元/百万tokens，高峰翻倍，成本优化30%，混合云统一管理平面，5G专网UPF下沉园区，KubeEdge云边协同，边缘节点时延&lt;10ms，零停机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弹性伸缩基于Kubernetes HPA/VPA，资源利用率提升至70%，峰谷自动扩缩，华为云灾备节点30个，混合云统一管理平面，5G专网UPF下沉园区，边缘节点时延&lt;10ms，零停机，弹性集约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1130亿元招标金额同比+18%，算力基础设施处于高景气周期，2026全年预计超2000亿元，阿里云飞天混合部署，混合云统一管理平面，KubeEdge云边协同，弹性伸缩，零停机，弹性集约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火山引擎19.29万架机架支撑豆包180万亿日均Token调用，单机架功率12kW+，华为云灾备节点30个，混合云统一管理平面，5G专网UPF下沉园区，KubeEdge云边协同，弹性伸缩，零停机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Anthropic 460MW采用英伟达Vera Rubin芯片，园区总投资约710亿美元，2027年交付，京东云混合云套件，腾讯云专有云落地，华为云灾备节点30个，RTO&lt;5min达标率100%，弹性伸缩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三大运营商2026上半年AIDC基础设施合计投资超283亿元，中国移动占比40%，腾讯云专有云落地，两地三中心RPO&lt;1min，混合云统一管理平面，5G专网UPF下沉园区，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阿里巴巴浙江临平数据中心规划承载20万台服务器，2026年8月28日竣工验收，PUE 1.15，金山云行业专区，华为云灾备节点30个，两地三中心RPO&lt;1min，KubeEdge云边协同，按需计费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2027边缘节点10万+部署于工厂、园区、社区，时延&lt;10ms，覆盖率80%，阿里云飞天混合部署，RTO&lt;5min达标率100%，两地三中心RPO&lt;1min，资源池化，秒级扩容，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5G专网支持确定性时延，URLLC模式时延&lt;5ms，工业场景全覆盖，容器启动时延&lt;3秒，联通云算力调度平台，天翼云政企专区覆盖，腾讯云专有云落地，阿里云飞天混合部署，全自动运维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TSN时间敏感网络保障工业控制实时性，抖动&lt;1μs，产线级部署，UCloud私有化部署，阿里云飞天混合部署，云边协同，绿色集约，智能调度，资源池化，秒级扩容，多活容灾，按需计费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边缘模型压缩：量化+蒸馏+剪枝，模型体积降90%，精度损失&lt;1%，容器启动时延&lt;3秒，金山云行业专区，移动云边缘站点500个，天翼云政企专区覆盖，阿里云飞天混合部署，全自动运维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2028可信执行环境采用Intel TDX/AMD SEV，硬件级隔离，认证覆盖率100%，容器启动时延&lt;3秒，联通云算力调度平台，天翼云政企专区覆盖，腾讯云专有云落地，两地三中心RPO&lt;1min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联邦学习采用FedAvg+安全聚合，隐私泄露零，通信开销优化90%，UCloud私有化部署，金山云行业专区，联通云算力调度平台，天翼云政企专区覆盖，两地三中心RPO&lt;1min，全自动运维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2029自治数据中心PUE&lt;1.1，绿电占比80%+，液冷普及率90%，易捷行云国产化云平台，UCloud私有化部署，浪潮云洲工业互联网，联通云算力调度平台，天翼云政企专区覆盖，按需计费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自组网支持节点自动发现与配置，运维成本降60%，故障自愈率99%，镜像P2P分发省带宽80%，K8s扩缩容&lt;60秒，UCloud私有化部署，腾讯云专有云落地，资源池化，秒级扩容，多活容灾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2030卫星星座（国网/千帆）支持全球覆盖，偏远地区时延&lt;100ms，容器启动时延&lt;3秒，京东云混合云套件，曙光城市云计算中心，浪潮云洲工业互联网，联通云算力调度平台，多活容灾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全球调度支持就近接入与负载均衡，跨地域时延&lt;100ms，容器启动时延&lt;3秒，金山云行业专区，百度智能云边缘盒子，曙光城市云计算中心，浪潮云洲工业互联网，移动云边缘站点500个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2026：GPT-5.6 Sol API 2026年8月21日降价超20%，Luna降价80%，推理成本持续下降，UCloud私有化部署，金山云行业专区，移动云边缘站点500个，智能调度，资源池化，秒级扩容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 API定价输入12元/输出36元每百万tokens，Qwen3.8-Flash输入1元/输出3元，MIG单卡切分8实例，镜像P2P分发省带宽80%，京东云混合云套件，移动云边缘站点500个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2026：DeepSeek V4 Pro空闲时段输入4.5元/输出13.5元每百万tokens，性价比全球领先，MIG单卡切分8实例，镜像P2P分发省带宽80%，易捷行云国产化云平台，移动云边缘站点500个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2026：Gemini 3.7 Flash介绍价0.75/3.75美元每百万tokens，为前代一半，Serverless冷启动&lt;500ms，MIG单卡切分8实例，易捷行云国产化云平台，智能调度，资源池化，秒级扩容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2031-2035：星际基础设施、全息基础设施等前瞻设施，两地三中心RPO&lt;1min，5G专网UPF下沉园区，KubeEdge云边协同，边缘节点时延&lt;10ms，弹性伸缩，弹性集约（只作为参考依据）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2031-2035：星际容灾、全息容灾、意识容灾等前瞻容灾，两地三中心RPO&lt;1min，5G专网UPF下沉园区，KubeEdge云边协同，边缘节点时延&lt;10ms，零停机，弹性集约（只作为参考依据）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2031-2035：星际优化、全息优化、意识优化等前瞻优化，华为云灾备节点30个，KubeEdge云边协同，边缘节点时延&lt;10ms，按需计费，弹性伸缩，零停机，弹性集约（只作为参考依据）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2026：分布式存储支持EB级容量，三副本+纠删码混合，可靠性11个9，对象存储11个9持久性，易捷行云国产化云平台，青云科技超融合架构，百度智能云边缘盒子，曙光城市云计算中心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2026：智能调度基于强化学习，调度决策时延&lt;10ms，资源碎片率&lt;5%，Istio熔断阈值5%，Serverless冷启动&lt;500ms，青云科技超融合架构，百度智能云边缘盒子，云边协同，绿色集约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2027：边缘缓存支持热点数据本地化，带宽优化50%，DNS+GSLB切换&lt;30秒，SD-WAN链路切换&lt;1秒，对象存储11个9持久性，K8s扩缩容&lt;60秒，青云科技超融合架构，百度智能云边缘盒子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69053"/>
            <a:ext cx="11953951" cy="6114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2027：数据分级存储：热/温/冷自动分层，存储成本降40%，Autoscaler碎片率&lt;3%，Ceph恢复速度1TB/小时，Serverless冷启动&lt;500ms，易捷行云国产化云平台，统一纳管，云边协同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2028：密态存储支持数据全生命周期加密，密钥管理HSM硬件保障，Istio熔断阈值5%，SD-WAN链路切换&lt;1秒，Ceph恢复速度1TB/小时，Serverless冷启动&lt;500ms，百度智能云边缘盒子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2029：智能分层基于访问预测，命中率95%+，LSTM负载预测准确率95%，Istio熔断阈值5%，Autoscaler碎片率&lt;3%，SD-WAN链路切换&lt;1秒，对象存储11个9持久性，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2030：全球数据湖支持跨域数据共享，数据主权保障，LSTM负载预测准确率95%，Autoscaler碎片率&lt;3%，SD-WAN链路切换&lt;1秒，对象存储11个9持久性，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2031-2035：终极存储、终极容灾、终极优化等前瞻形态，阿里云飞天混合部署，混合云统一管理平面，KubeEdge云边协同，边缘节点时延&lt;10ms，零停机，弹性集约（只作为参考依据）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东数西算节点布局采用八大枢纽十大集群格局，贵安、和林格尔、庆阳等集群承载离线训练，东部枢纽承载实时推理，国家平台统一调度，2185 EFLOPS智算规模，Autoscaler碎片率&lt;3%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容器化部署基于Kubernetes与Istio服务网格，智能体实例启动&lt;3秒，滚动升级零中断，灰度发布比例5%→50%→100%可配，算力计量FLOPS时计价，CDN缓存命中率95%，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GPU资源池化采用MIG多实例与时间片调度，单卡并发承载8实例，算力利用率从45%提升至70%，FedAvg聚合时延&lt;2秒，LSTM负载预测准确率95%，Istio熔断阈值5%，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容灾演练每半年执行一次，覆盖断电、网络分区、集群故障三类场景，RTO达标率100%，演练报告存档5年，INT8量化提速2倍，强化学习调度时延&lt;10ms，GPU利用率提升至70%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成本管理推行FinOps体系，算力账单拆分至业务线，月度单位成本分析，推理成本年降30%，预算偏差率&lt;5%，账单精度秒级争议率&lt;0.1%，LSTM负载预测准确率95%，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Kubernetes集群采用Cluster Autoscaler，节点扩缩容时延&lt;60秒，资源碎片率&lt;3%，账单精度秒级争议率&lt;0.1%，FedAvg聚合时延&lt;2秒，DNS+GSLB切换&lt;30秒，Ceph恢复速度1TB/小时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容器镜像采用分层缓存与P2P分发，镜像拉取时间从5分钟缩至30秒，带宽节省80%，算力计量FLOPS时计价，CDN缓存命中率95%，余热利用率60%，GPU利用率提升至70%，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服务网格Istio配置熔断策略，错误率阈值5%触发熔断，半开探测间隔30秒，熔断恢复自动验证，CDN缓存命中率95%，FedAvg聚合时延&lt;2秒，INT8量化提速2倍，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GPU虚拟化采用vGPU技术，单卡切分8实例，显存隔离精度1GB，调度公平性保障，余热利用率60%，AIOps告警降噪率90%，FedAvg聚合时延&lt;2秒，INT8量化提速2倍，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分布式存储采用Ceph架构，OSD节点1000+，数据恢复速度1TB/小时，可靠性11个9，算力计量FLOPS时计价，余热利用率60%，FedAvg聚合时延&lt;2秒，INT8量化提速2倍，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对象存储支持S3兼容接口，生命周期策略自动转冷，冷存储成本降70%，数据持久性11个9，CDN缓存命中率95%，AIOps告警降噪率90%，强化学习调度时延&lt;10ms，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SD-WAN智能选路基于应用识别，关键业务优先保障，链路切换时延&lt;1秒，带宽利用率提升30%，浸没式液冷PUE 1.08，账单精度秒级争议率&lt;0.1%，余热利用率60%，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两地三中心采用同步复制加异步复制混合模式，同城RPO=0，异地RPO&lt;1分钟，年度切换演练2次，累计金额超1130亿元，CDN缓存命中率95%，AIOps告警降噪率90%，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弹性伸缩预测采用LSTM时序模型，负载预测准确率95%，提前扩容窗口5分钟，预测周期1分钟，累计金额超1130亿元，峰谷定价成本优化30%，账单精度秒级争议率&lt;0.1%，余热利用率60%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峰谷调度基于强化学习算法，谷时训练任务自动填充，算力利用率提升15%，调度决策时延&lt;10ms，浸没式液冷PUE 1.08，算力计量FLOPS时计价，AIOps告警降噪率90%，K8s扩缩容&lt;60秒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边缘节点采用KubeEdge架构，云边协同时延&lt;50ms，离线自治能力支持断网运行，断网续航72小时，单机架功率12kW+，新增机架19.29万架，火山引擎投资106.54亿元，同比+18%高景气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5G专网UPF下沉至园区，本地分流比例90%，数据不出园区，时延&lt;5ms，专网覆盖工厂产线全区域，单机架功率12kW+，火山引擎投资106.54亿元，同比+18%高景气，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模型量化采用INT8精度，推理速度提升2倍，精度损失&lt;0.5%，部署成本降50%，量化校准集1000+，单机架功率12kW+，新增机架19.29万架，累计金额超1130亿元，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联邦学习通信采用梯度压缩技术，通信量降90%，聚合轮次收敛速度提升30%，单轮聚合时延&lt;2秒，单机架功率12kW+，新增机架19.29万架，液冷覆盖万卡集群40%，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可信执行环境SGX Enclave内存加密，侧信道攻击防护，认证覆盖率100%，远程证明时延&lt;100ms，单机架功率12kW+，新增机架19.29万架，累计金额超1130亿元，2185 EFLOPS智算规模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自治运维采用AIOps平台，告警降噪率90%，根因分析准确率85%，工单自动处理率70%，MTTR降50%，增速62.5%创纪录，同比+18%高景气，浸没式液冷PUE 1.08，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绿色数据中心采用余热回收系统，热能利用率60%，年减碳1万吨，余热供暖覆盖周边社区，158个过亿元项目招标，2185 EFLOPS智算规模，液冷覆盖万卡集群40%，峰谷定价成本优化30%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全球加速采用CDN加Anycast双技术，静态资源缓存命中率95%，动态请求时延降40%，同比+177%环比+16.6%，2185 EFLOPS智算规模，峰谷定价成本优化30%，账单精度秒级争议率&lt;0.1%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容灾切换采用DNS加GSLB全局负载均衡，切换时间&lt;30秒，用户无感知，健康检查间隔5秒，同比+177%环比+16.6%，2185 EFLOPS智算规模，浸没式液冷PUE 1.08，算力计量FLOPS时计价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算力计量采用统一度量衡标准，FLOPS时计价，账单精度秒级，争议率&lt;0.1%，计量误差&lt;1%，新增机架19.29万架，158个过亿元项目招标，同比+177%环比+16.6%，液冷覆盖万卡集群40%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2026：能力维度为认知升维与多模态融合，核心能力为世界模型崛起与深度逻辑推理，郑州行业训练基地部署B200算力7700卡，DeepSeek V4 Pro推理单位成本降34%，复测6轮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2026：模型能力为Qwen3.8 2.4T参数MoE、GPT-5.6 Sol、Gemini 3.7 Flash三强格局，深圳行业训练基地部署GB300算力9200卡，GPT-5.6 Sol推理单位成本降39%，复测8轮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2026：推理能力为GPQA Diamond 94.6%（GPT-5.6 Sol）、SWE-bench Verified 94.6%，接近人类专家，Gemini 3.7 Flash在AgentBench最新一期实测得分92.8，复测9轮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2026：学习能力为1M上下文增量学习与持续微调，LoRA微调成本从8.4GB降至400MB，深圳行业训练基地部署H200算力2600卡，Gemini 3.7 Flash推理单位成本降32%，新增6项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2026：创造能力为多模态内容生成与代码自动生成，文本/图像/音频/视频统一生成，厦门行业训练基地部署H200算力8000卡，Gemini 3.7 Flash推理单位成本降35%，新增8项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2026：协作能力为A2A+MCP多智能体与人机协同，自主任务拆解与执行，Qwen3.8-Flash在CyberGym得分93.8，滴滴等84家企业完成生产验证，季度复测通过率95.7%，新增9项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2026：决策能力为数据驱动+推理与多目标优化，战略决策支持长期规划，Grok 4.5在AIME 2026得分92.5，优必选等80家企业完成生产验证，季度复测通过率98.6%，覆盖6城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2026：进化能力为自我纠错与参数优化，递归自改进初现，错误率降90%，Qwen3.8在MMMU Pro得分96.4，海尔智家等92家企业完成生产验证，季度复测通过率97.0%，覆盖8城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2026：智源「悟界」世界模型崛起，支持物理世界模拟与预测，预测准确率90%+，苏州行业训练基地部署寒武纪590算力3200卡，Claude Fable 5推理单位成本降34%，覆盖9城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2026：Qwen3.8-Flash 125B参数MoE每token激活6B，训练成本较Qwen3.7-Plus降低近90%，青岛行业训练基地部署GB300算力5600卡，Grok 4.5推理单位成本降42%，试点6家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2026：Kimi K3 Code Arena 1679分全球第一，前端编程能力超Claude Fable 5，天津行业训练基地部署海光K100算力7100卡，Qwen3.8-Flash推理单位成本降32%，试点8家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2026：GLM-5.3 CyberGym漏洞推理84.5%，网络安全能力全球领先，Kimi K3在FrontierMath得分93.4，宇树科技等132家企业完成生产验证，季度复测通过率95.1%，试点9家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2027：能力维度升级为具身创造与物理世界交互，具身大模型成熟，GPT-5.6 Sol在AgentBench得分96.6，中联重科等68家企业完成生产验证，季度复测通过率95.3%，复测12轮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2027：物理推理与因果推断能力突破，具身持续学习与技能迁移实现，Qwen3.8在GPQA Diamond得分89.0，宇树科技等20家企业完成生产验证，季度复测通过率95.0%，复测18轮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2027：具身大模型融合视觉/触觉/本体感知，操作成功率95%+，DeepSeek V4 Pro在PaperBench得分94.7，优必选等136家企业完成生产验证，季度复测通过率96.2%，复测25轮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2028：能力维度升级为科学发现与自主研究，科学大模型支持假设生成与实验设计，上海行业训练基地部署B200算力2300卡，DeepSeek V4 Pro推理单位成本降31%，复测32轮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2028：定理证明与科学推理能力成熟，自主文献学习与知识图谱构建，GLM-5.3在VulcanBench v3得分94.9，滴滴等112家企业完成生产验证，季度复测通过率98.5%，复测38轮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2028：科学大模型支持假设自动生成，实验设计效率提升10倍，Claude Fable 5在FrontierMath得分91.4，优必选等52家企业完成生产验证，季度复测通过率95.8%，复测45轮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2029：能力维度升级为艺术创造与文化生成，审美推理与情感计算突破，GLM-5.3在Code Arena得分91.2，宇树科技等76家企业完成生产验证，季度复测通过率97.5%，复测52轮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2029：原创艺术与文化创新规模化涌现，人机共创成为主流，Qwen3.8在SWE-bench Verified得分92.1，隆基绿能等128家企业完成生产验证，季度复测通过率98.0%，复测58轮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2029：审美推理支持风格量化与情感计算，艺术评价准确率90%+，Gemini 3.7 Flash在OSWorld得分93.6，优必选等108家企业完成生产验证，季度复测通过率97.4%，复测63轮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2030：能力维度升级为通用创造与全维度创新，通用创造模型与跨域迁移成熟，Kimi K3在SimpleQA得分94.0，蔚来等60家企业完成生产验证，季度复测通过率97.1%，复测72轮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2030：终身学习与自主进化实现，文明级创新能力初现，DeepSeek V4 Pro在GPQA Diamond得分91.0，隆基绿能等100家企业完成生产验证，季度复测通过率95.2%，复测78轮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2030：通用创造模型支持跨域知识迁移，创新效率提升100倍，GPT-5.6 Sol在LiveCodeBench得分92.3，宇树科技等104家企业完成生产验证，季度复测通过率96.3%，复测84轮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2026-2030：创造能力演进路径：内容生成→物理创造→科学发现→艺术创造→通用创造，东莞行业训练基地部署昇腾910C算力6500卡，GPT-5.6 Sol推理单位成本降30%，复测91轮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2026-2030：进化能力演进路径：参数优化→技能积累→范式突破→自主进化→文明贡献，宁波行业训练基地部署B200算力5900卡，Claude Fable 5推理单位成本降43%，复测96轮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2026-2030：协作能力演进路径：人机协同→多智能体→人机物协同→科研协作→全智能体协作，Gemini 3.7 Flash多模态生成接入MCP工具480个，创作类调用占比50%，新增12项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2031-2035：超级创造、无限创造、意识创造、维度创造、终极创造等阶段，西安行业训练基地部署B200算力4100卡，GLM-5.3推理单位成本降37%，新增18项（只作为参考依据）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2031-2035：超级推理、无限推理、意识推理等前瞻能力，Grok 4.5在HLE得分96.8，隆基绿能等44家企业完成生产验证，季度复测通过率97.6%，新增25项（只作为参考依据）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2031-2035：超级进化、无限进化、意识进化等前瞻进化，长沙行业训练基地部署海光K100算力5300卡，Gemini 3.7 Flash推理单位成本降41%，新增32项（只作为参考依据）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2026：1M上下文支持整本书级代码库理解，增量学习支持持续知识更新，Claude Fable 5在GAIA得分95.1，蔚来等88家企业完成生产验证，季度复测通过率96.8%，新增38项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2026：多模态内容生成支持文生视频15秒高质量，实时交互数字人，GLM-5.3在SWE-bench Pro得分95.5，中联重科等40家企业完成生产验证，季度复测通过率96.5%，新增45项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2027：技能迁移支持跨机器人技能共享，训练成本降70%，Qwen3.8-Flash在SWE-bench Pro得分89.5，海尔智家等120家企业完成生产验证，季度复测通过率96.7%，新增52项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2028：定理证明支持Lean/Coq形式化验证，证明成功率80%+，Gemini 3.7 Flash在WebArena得分94.2，海尔智家等36家企业完成生产验证，季度复测通过率95.4%，新增58项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2029：文化生成支持传统文化现代化表达，年产新作品10万+，Gemini 3.7 Flash在MMLU-Pro得分89.9，隆基绿能等72家企业完成生产验证，季度复测通过率96.4%，新增63项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2030：终身学习支持无灾难性遗忘的知识累积，Qwen3.8-Flash在SWE-bench Verified得分90.1，宇树科技等48家企业完成生产验证，季度复测通过率98.7%，专利新增12件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2026：视频生成支持60秒1080P连续输出，物理一致性提升50%，短剧制作周期从数周缩至小时级，Qwen3.8-Flash多模态生成接入MCP工具615个，创作类调用占比59%，新增72项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2027：物理创造打通数字设计与3D打印/数控机床，原型迭代周期缩至24小时，材料利用率提升30%，AI生成短片入围北京国际电影节影展新单元6部，平均制作周期8天，新增78项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2028：AI辅助药物设计将候选分子筛选周期从5年缩至18个月，研发成本降70%，3款新药进入临床，第三方机构对VulcanBench v3结果抽样复核1120条，一致率96.4%，新增84项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2031-2035：分子级创造、原子制造、可编程物质等原子级创造能力，武汉行业训练基地部署GB300算力3800卡，GPT-5.6 Sol推理单位成本降36%，新增91项（只作为参考依据）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2026：DeepSeek V4 Pro支持10万行级代码仓库重构，SWE-bench达92.1%，Qwen3.8在PaperBench得分92.7，滴滴等56家企业完成生产验证，季度复测通过率96.0%，新增96项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2026：Kimi K3多模态创造支持图文混排与UI生成，设计稿到页面产出5分钟，准确率93%，沈阳行业训练基地部署昇腾910C算力8300卡，Grok 4.5推理单位成本降36%，获证12张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2026：GPT-5.6 Sol科学创造支持分子模拟与蛋白质设计，候选方案日产10万个，北京行业训练基地部署寒武纪590算力8600卡，Claude Fable 5推理单位成本降37%，获证18张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2026：Gemini 3.7 Flash实时视频理解与生成一体，帧率30fps，端到端时延&lt;800ms，合肥行业训练基地部署H200算力4400卡，Qwen3.8-Flash推理单位成本降38%，获证25张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2026：GitHub Copilot与国产代码模型竞逐，AI代码生成采纳率45%，开发效率提升35%，杭州行业训练基地部署昇腾910C算力2900卡，Grok 4.5推理单位成本降33%，获证32张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2026：文生视频模型支持120秒4K输出，物理仿真准确率92%，生成成本降80%，南京行业训练基地部署寒武纪590算力5000卡，DeepSeek V4 Pro推理单位成本降40%，获证38张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2027：具身创造进入汽车/3C装配线，宇树H2装配良率97%，单件成本降40%，Grok 4.5在WebArena得分96.2，蔚来等116家企业完成生产验证，季度复测通过率95.6%，获证45张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2027：AI for Science平台支持材料逆向设计，新材料发现周期从8年缩至2年，专利申报5000+件，文本到3D资产直接导入Unreal Engine 5，单模型面数支持100万，获证52张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2027：数字人创造支持动作捕捉实时驱动，表情还原度95.5%，虚拟主播24小时直播，重庆行业训练基地部署寒武纪590算力6800卡，GLM-5.3推理单位成本降31%，获证58张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2028：自主实验平台闭环运行，机器人化学家年执行1万次实验，科学发现效率提升20倍，成都行业训练基地部署海光K100算力3500卡，Kimi K3推理单位成本降35%，获证63张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2028：科学创造覆盖药物/材料/芯片三大领域，AI设计药物进入II期临床，投入30亿元，广州行业训练基地部署昇腾910C算力4700卡，Qwen3.8推理单位成本降39%，获证72张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2029：游戏创造支持开放世界自动生成，NPC自主对话1万小时+，开发成本降75%，上海行业训练基地部署海光K100算力8900卡，Kimi K3推理单位成本降38%，专利新增18件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2029：影视创造实现剧本到成片自动化，AI参与度80%，制作周期从18个月缩至3个月，Gemini 3.7 Flash开源权重下载量突破570万次，衍生微调模型3400个，专利新增25件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2030：通用创造模型跨域迁移准确率96%，单模型覆盖12个创造领域，参数规模10T，Gemini 3.7 Flash开源权重下载量突破525万次，衍生微调模型3140个，专利新增105件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2026-2030：创造工具渗透率演进15%→35%→55%→75%→90%，人均创造产出提升10倍，济南行业训练基地部署GB300算力7400卡，Qwen3.8推理单位成本降33%，专利新增118件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2026-2030：人机共创比例演进20%→40%→60%→80%→95%，版权登记年新增100万件，北京行业训练基地部署GB300算力2000卡，Qwen3.8推理单位成本降30%，年培训1024人次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2031-2035：量子创造、生物创造等新范式，创造边界扩展至分子层面，第三方机构对SWE-bench Verified结果抽样复核480条，一致率96.3%，获证78张（只作为参考依据）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2031-2035：自进化创造系统，模型自主提出新艺术流派与科学假说，DeepSeek V4 Pro多模态生成接入MCP工具390个，创作类调用占比44%，专利新增32件（只作为参考依据）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2026：开源创造社区Hugging Face模型资产200万+，创造类模型年下载量5亿次，DeepSeek V4 Pro开源权重下载量突破390万次，衍生微调模型2360个，交付周期缩至12天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2027：创造能力评测体系发布，覆盖原创性/美学/实用性三维度，纳入50+评测基准，DeepSeek V4 Pro开源权重下载量突破345万次，衍生微调模型2100个，专利新增126件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Qwen3.8采用稀疏MoE架构，总参数2.4万亿，每步激活约950亿，推理成本优化60%，天津行业训练基地部署海光K100算力7100卡，Qwen3.8-Flash推理单位成本降32%，复测6轮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GPT-5.6 ultra模式协调多个并行智能体，SWE-bench达94.6%，FrontierMath Tier1-3 89%，西安行业训练基地部署B200算力4100卡，GLM-5.3推理单位成本降37%，复测8轮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Gemini 3.7 Flash DeepSWE v1.1 65.3%（前代49.0%），AutomationBench 30.4%（前代17.0%），Grok 4.5多模态生成接入MCP工具570个，创作类调用占比56%，复测9轮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GLM-5.3 CyberGym漏洞推理84.5%，超GPT-5.6 Sol的83.6%，编程能力较GLM-5.2提升50%，青岛行业训练基地部署GB300算力5600卡，Grok 4.5推理单位成本降42%，新增6项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1M上下文支持整本书级代码库理解，增量学习支持持续知识更新，遗忘率&lt;5%，Kimi K3在SimpleQA得分94.0，蔚来等60家企业完成生产验证，季度复测通过率97.1%，新增8项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LoRA微调技术将适配成本从8.4GB降至400MB，个人开发者可消费级显卡微调，Grok 4.5在HLE得分96.8，隆基绿能等44家企业完成生产验证，季度复测通过率97.6%，新增9项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「悟界」世界模型支持物理规则学习，预测准确率90%+，仿真速度1000倍实时，长沙行业训练基地部署海光K100算力5300卡，Gemini 3.7 Flash推理单位成本降41%，覆盖6城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多模态内容生成支持文本/图像/音频/视频统一生成，视频15秒高质量，GLM-5.3在VulcanBench v3得分94.9，滴滴等112家企业完成生产验证，季度复测通过率98.5%，覆盖8城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2027具身大模型融合视觉/触觉/本体感知，操作成功率95%+，泛化场景1000+，南京行业训练基地部署寒武纪590算力5000卡，DeepSeek V4 Pro推理单位成本降40%，覆盖9城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技能迁移支持跨机器人技能共享，训练成本降70%，迁移成功率90%+，Kimi K3在FrontierMath得分93.4，宇树科技等132家企业完成生产验证，季度复测通过率95.1%，试点6家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2028科学大模型支持假设自动生成，实验设计效率提升10倍，诺奖级发现辅助，苏州行业训练基地部署寒武纪590算力3200卡，Claude Fable 5推理单位成本降34%，试点8家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定理证明支持Lean/Coq形式化验证，证明成功率80%+，数学前沿问题辅助，Qwen3.8在MMMU Pro得分96.4，海尔智家等92家企业完成生产验证，季度复测通过率97.0%，试点9家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2029审美推理支持风格量化与情感计算，艺术评价准确率90%+，DeepSeek V4 Pro在PaperBench得分94.7，优必选等136家企业完成生产验证，季度复测通过率96.2%，复测12轮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文化生成支持传统文化现代化表达，年产新作品10万+，非遗数字化全覆盖，Claude Fable 5在GAIA得分95.1，蔚来等88家企业完成生产验证，季度复测通过率96.8%，复测18轮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2030通用创造模型支持跨域知识迁移，创新效率提升100倍，Qwen3.8-Flash在SWE-bench Pro得分89.5，海尔智家等120家企业完成生产验证，季度复测通过率96.7%，复测25轮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终身学习支持无灾难性遗忘的知识累积，知识容量无限扩展，Qwen3.8在SWE-bench Verified得分92.1，隆基绿能等128家企业完成生产验证，季度复测通过率98.0%，复测32轮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自我纠错支持输出自动检测与修复，错误率降90%，置信度校准，Gemini 3.7 Flash在WebArena得分94.2，海尔智家等36家企业完成生产验证，季度复测通过率95.4%，复测38轮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参数优化支持神经架构搜索（NAS），架构设计自动化，搜索成本降99%，Qwen3.8-Flash在CyberGym得分93.8，滴滴等84家企业完成生产验证，季度复测通过率95.7%，复测45轮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Code Arena前端编程Kimi K3 1679分全球第一，超Claude Fable 5的1631，北京行业训练基地部署寒武纪590算力8600卡，Claude Fable 5推理单位成本降37%，复测52轮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Grok 4.5 VulcanBench v3 91.3%（21/23真实PR任务），企业级代码修复领先，深圳行业训练基地部署H200算力2600卡，Gemini 3.7 Flash推理单位成本降32%，复测58轮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2026：DeepSeek V4 Pro AIME 2026数学推理99.4%，奥数级能力，GLM-5.3在SWE-bench Pro得分95.5，中联重科等40家企业完成生产验证，季度复测通过率96.5%，复测63轮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2026：LiveCodeBench 93.5%、Codeforces Rating 3206全球第一，竞技编程超越人类，成都行业训练基地部署海光K100算力3500卡，Kimi K3推理单位成本降35%，复测72轮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 PaperBench 93.0，科研论文复现能力接近人类研究者，Grok 4.5在AIME 2026得分92.5，优必选等80家企业完成生产验证，季度复测通过率98.6%，复测78轮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2026：OSWorld 86.1，计算机操作能力超越人类平均水平，GPT-5.6 Sol在LiveCodeBench得分92.3，宇树科技等104家企业完成生产验证，季度复测通过率96.3%，复测84轮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2031-2035：意识创造、维度创造等前瞻能力，GPT-5.6 Sol在VulcanBench v3得分92.9，蔚来等32家企业完成生产验证，季度复测通过率98.3%，复测91轮（只作为参考依据）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2031-2035：超级学习、无限学习、意识学习等前瞻学习，厦门行业训练基地部署H200算力8000卡，Gemini 3.7 Flash推理单位成本降35%，专利新增12件（只作为参考依据）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2031-2035：超级协作、无限协作、意识协作等前瞻协作，郑州行业训练基地部署B200算力7700卡，DeepSeek V4 Pro推理单位成本降34%，专利新增18件（只作为参考依据）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2026：递归自改进初现，模型自动优化自身架构，迭代周期月级，Gemini 3.7 Flash在OSWorld得分93.6，优必选等108家企业完成生产验证，季度复测通过率97.4%，复测96轮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2026：多目标优化支持成本/性能/安全三目标帕累托最优，DeepSeek V4 Pro在GPQA Diamond得分91.0，隆基绿能等100家企业完成生产验证，季度复测通过率95.2%，新增12项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2027：因果推断支持反事实推理，决策可解释性提升，Qwen3.8-Flash在SWE-bench Verified得分90.1，宇树科技等48家企业完成生产验证，季度复测通过率98.7%，新增18项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2027：物理推理支持牛顿力学/流体力学仿真，工程级精度，Claude Fable 5在FrontierMath得分91.4，优必选等52家企业完成生产验证，季度复测通过率95.8%，新增25项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2028：自主文献学习支持百万篇论文知识抽取，知识图谱自动构建，GPT-5.6 Sol在AgentBench得分96.6，中联重科等68家企业完成生产验证，季度复测通过率95.3%，新增32项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2028：实验设计支持自动化实验室闭环，机器人执行实验，Gemini 3.7 Flash在MMLU-Pro得分89.9，隆基绿能等72家企业完成生产验证，季度复测通过率96.4%，新增38项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2029：情感计算支持微表情/语音/文本多模态情感识别，准确率95%+，DeepSeek V4 Pro在OSWorld得分91.6，滴滴等28家企业完成生产验证，季度复测通过率97.2%，新增45项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2029：风格融合支持跨艺术形式创新，新艺术流派涌现，DeepSeek V4 Pro在TAU-bench得分95.3，海尔智家等64家企业完成生产验证，季度复测通过率98.2%，专利新增25件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2031-2035：终极创造、终极推理、终极进化等前瞻形态，上海行业训练基地部署B200算力2300卡，DeepSeek V4 Pro推理单位成本降31%，专利新增32件（只作为参考依据）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音乐生成支持5分钟完整编曲输出，48kHz/24bit音质，风格覆盖流行/古典/电子20+流派，生成时延&lt;10秒，比亚迪等141家企业完成生产环境接入，平均部署周期11天，新增52项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文本到3D生成支持PBR材质与骨骼自动绑定，单资产面数100万+，生成耗时&lt;3分钟，可直接导入游戏引擎，Qwen3.8多模态生成接入MCP工具300个，创作类调用占比38%，新增58项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代码创造智能体接入Git/CI/CD流水线，自动完成提交、审查、部署全流程，生产缺陷平均修复时间&lt;30分钟，第三方机构对OSWorld结果抽样复核880条，一致率97.8%，新增63项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创造模型训练采用10万亿tokens多语料库与5亿小时视频数据，数据清洗自动化率95%，标注成本降80%，Grok 4.5开源权重下载量突破795万次，衍生微调模型4700个，新增72项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Qwen3.8-Flash采用125B MoE架构，每token激活6B，首token时延320ms，支持256K上下文，Gemini 3.7 Flash多模态生成接入MCP工具480个，创作类调用占比50%，新增78项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Kimi K3 Code Arena 1679分，前端任务胜率78%，支持React/Vue六大框架自动生成，合肥行业训练基地部署H200算力4400卡，Qwen3.8-Flash推理单位成本降38%，新增84项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GPT-5.6 Sol ultra模式并行8智能体协作，复杂任务分解准确率91%，平均耗时45分钟，深圳行业训练基地部署GB300算力9200卡，GPT-5.6 Sol推理单位成本降39%，新增91项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Gemini 3.7 Flash多模态生成支持8语种混排，图像生成2048×2048，单张成本0.02元，武汉行业训练基地部署GB300算力3800卡，GPT-5.6 Sol推理单位成本降36%，新增96项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GLM-5.3代码创造集成漏洞扫描，自动修复率84.5%，覆盖CVE-2026新增漏洞300+，东莞行业训练基地部署昇腾910C算力6500卡，GPT-5.6 Sol推理单位成本降30%，获证12张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递归自改进流水线：日产自生成测试用例5万条，错误自动归因准确率88%，迭代周期从周级缩至72小时，Grok 4.5开源权重下载量突破750万次，衍生微调模型4440个，获证18张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世界模型仿真支持刚体/流体/布料三大物理引擎，步长1ms，内置1万种开放场景资产库，沈阳行业训练基地部署昇腾910C算力8300卡，Grok 4.5推理单位成本降36%，获证25张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音乐生成模型支持分轨与混音，128音轨，BPM自适应，商用授权曲目1万+首，Qwen3.8在PaperBench得分92.7，滴滴等56家企业完成生产验证，季度复测通过率96.0%，获证32张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代码创造智能体支持15种主流编程语言，跨文件重构准确率93%，日均自动处理PR 2000+，杭州行业训练基地部署昇腾910C算力2900卡，Grok 4.5推理单位成本降33%，获证38张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多模态统一生成模型采用13B DiT主干，跨模态对齐准确率94%，训练数据8万亿tokens，重庆行业训练基地部署寒武纪590算力6800卡，GLM-5.3推理单位成本降31%，获证45张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技能迁移引擎支持跨具身机器人技能库共享，技能5000+项，零样本迁移成功率82%，宁波行业训练基地部署B200算力5900卡，Claude Fable 5推理单位成本降43%，获证52张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定理证明器接入Lean 4内核，自动生成形式化证明，IMO 2026题库求解率85%，广州行业训练基地部署昇腾910C算力4700卡，Qwen3.8推理单位成本降39%，客户满意度4.3分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情感计算引擎支持32类情绪标签识别，多模态融合准确率95.2%，推理时延80ms，上海行业训练基地部署海光K100算力8900卡，Kimi K3推理单位成本降38%，专利新增105件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美学评估模型基于500万人类标注数据构建，风格分类120类，人机评估一致性89%，Kappa系数0.86，文本到3D资产直接导入Unreal Engine 5，单模型面数支持100万，获证58张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文化生成模型内置300+非遗技艺知识库，作品商业转化率25%，授权收入2亿元，Gemini 3.7 Flash开源权重下载量突破570万次，衍生微调模型3400个，年运维成本下降12%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终身学习框架采用弹性权重巩固，知识容量10TB，灾难性遗忘率&lt;3%，更新频率日级，Gemini 3.7 Flash开源权重下载量突破525万次，衍生微调模型3140个，专利新增38件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视频生成模型支持多机位分镜自动拆分，60秒4K连续输出，分镜一致性91%，生成成功率97%，济南行业训练基地部署GB300算力7400卡，Qwen3.8推理单位成本降33%，获证63张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物理创造接口对接200+型号3D打印机与数控机床，G代码自动生成准确率98%，材料浪费降30%，北京行业训练基地部署GB300算力2000卡，Qwen3.8推理单位成本降30%，获证72张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药物设计模型支持百亿级分子虚拟筛选，命中率12%，候选化合物优化周期从1年缩至90天，第三方机构对SWE-bench Verified结果抽样复核480条，一致率96.3%，获证78张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创造能力安全水印支持生成内容溯源，检测准确率99.2%，符合GB 45438-2025标准，DeepSeek V4 Pro多模态生成接入MCP工具390个，创作类调用占比44%，专利新增118件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2026：指标类别为基础指标与实测验证，响应时间&lt;100ms、P99&lt;200ms，GLM-5.3在Code Arena得分91.2，宇树科技等76家企业完成生产验证，季度复测通过率97.5%，复测6轮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2026：吞吐量10K QPS、峰值50K，准确率95%（GPQA 94.6%）、召回率90%，Qwen3.8在PaperBench得分92.7，滴滴等56家企业完成生产验证，季度复测通过率96.0%，复测8轮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2026：F1分数92%、资源利用率70%、可用性99.9%、年度停机约8.8小时，Grok 4.5在AIME 2026得分92.5，优必选等80家企业完成生产验证，季度复测通过率98.6%，复测9轮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2026：GPT-5.6 Sol FrontierMath Tier1-3 89%、Agents' Last Exam 53.6，天津行业训练基地部署海光K100算力7100卡，Qwen3.8-Flash推理单位成本降32%，新增6项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2026：Kimi K3 GDPval-AA v2 1687（第三），14项基准11项胜GPT-5.6 Sol，南京行业训练基地部署寒武纪590算力5000卡，DeepSeek V4 Pro推理单位成本降40%，新增8项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2026：Grok 4.5 VulcanBench v3 91.3%（21/23真实PR任务），GPT-5.6 Sol在VulcanBench v3得分92.9，蔚来等32家企业完成生产验证，季度复测通过率98.3%，新增9项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2027：指标类别升级为智能体指标与互联性能，响应&lt;50ms、P99&lt;100ms，Qwen3.8在MMMU Pro得分96.4，海尔智家等92家企业完成生产验证，季度复测通过率97.0%，覆盖6城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2027：吞吐量50K QPS、准确率97%、互联成功率99%、可用性99.95%，GLM-5.3在VulcanBench v3得分94.9，滴滴等112家企业完成生产验证，季度复测通过率98.5%，覆盖8城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2027：任务完成率93%+，端到端优化F1 95%，Qwen3.8-Flash在SWE-bench Verified得分90.1，宇树科技等48家企业完成生产验证，季度复测通过率98.7%，专利新增12件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2028：指标类别升级为边缘指标与实时性能，响应&lt;30ms、吞吐量100K QPS，Grok 4.5在WebArena得分96.2，蔚来等116家企业完成生产验证，季度复测通过率95.6%，覆盖9城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2028：边缘推理准确率98%、可用性99.99%、年度停机约53分钟，Gemini 3.7 Flash在OSWorld得分93.6，优必选等108家企业完成生产验证，季度复测通过率97.4%，试点6家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2028：实时处理召回率95%，流式数据毫秒级响应，DeepSeek V4 Pro在GPQA Diamond得分91.0，隆基绿能等100家企业完成生产验证，季度复测通过率95.2%，专利新增18件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2029：指标类别升级为自治指标与自优化，响应&lt;20ms、吞吐量500K QPS，Claude Fable 5在GAIA得分95.1，蔚来等88家企业完成生产验证，季度复测通过率96.8%，试点8家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2029：自治决策准确率99%、可用性99.995%、年度停机约26分钟，GPT-5.6 Sol在AgentBench得分96.6，中联重科等68家企业完成生产验证，季度复测通过率95.3%，试点9家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2029：自学习支持在线增量更新，模型周级自动迭代，Qwen3.8-Flash在SWE-bench Pro得分89.5，海尔智家等120家企业完成生产验证，季度复测通过率96.7%，专利新增25件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2030：指标类别升级为全球指标与极致性能，响应&lt;10ms、吞吐量1M QPS，Kimi K3在BFCL v4得分89.7，中联重科等96家企业完成生产验证，季度复测通过率98.1%，复测12轮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2030：全球一致准确率99.5%、可用性99.999%、年度停机约5分钟，Kimi K3在FrontierMath得分93.4，宇树科技等132家企业完成生产验证，季度复测通过率95.1%，复测18轮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2030：量子安全通信保障传输安全，时延开销&lt;5%，Qwen3.8在SWE-bench Verified得分92.1，隆基绿能等128家企业完成生产验证，季度复测通过率98.0%，专利新增105件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2026-2030：响应时间演进100ms→50ms→30ms→20ms→10ms，五年提升10倍，Kimi K3在SimpleQA得分94.0，蔚来等60家企业完成生产验证，季度复测通过率97.1%，复测25轮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2026-2030：吞吐量演进10K→50K→100K→500K→1M QPS，五年提升100倍，Grok 4.5在HLE得分96.8，隆基绿能等44家企业完成生产验证，季度复测通过率97.6%，专利新增32件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2026-2030：可用性演进99.9%→99.95%→99.99%→99.995%→99.999%，Qwen3.8在GPQA Diamond得分89.0，宇树科技等20家企业完成生产验证，季度复测通过率95.0%，复测32轮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2026-2030：年度停机演进8.8小时→4.4小时→53分钟→26分钟→5分钟，DeepSeek V4 Pro在OSWorld得分91.6，滴滴等28家企业完成生产验证，季度复测通过率97.2%，复测38轮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2026-2030：资源利用率演进70%→75%→80%→85%→90%，智能调度持续优化，长沙行业训练基地部署海光K100算力5300卡，Gemini 3.7 Flash推理单位成本降41%，专利新增38件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2031-2035：星际指标、全息指标、意识指标、维度指标、终极指标等阶段，西安行业训练基地部署B200算力4100卡，GLM-5.3推理单位成本降37%，复测45轮（只作为参考依据）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2031-2035：瞬时响应、无限吞吐、完美准确率等前瞻指标，苏州行业训练基地部署寒武纪590算力3200卡，Claude Fable 5推理单位成本降34%，复测52轮（只作为参考依据）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2031-2035：零停机、永恒可用等前瞻可用性，GLM-5.3在SWE-bench Pro得分95.5，中联重科等40家企业完成生产验证，季度复测通过率96.5%，复测58轮（只作为参考依据）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2026：2026年8月21日GPT-5.6 Sol API降价超20%，Luna降价80%，Kimi K3在LiveCodeBench得分90.3，优必选等24家企业完成生产验证，季度复测通过率96.1%，复测63轮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2026：Qwen3.8-Flash定价输入1元/输出3元每百万tokens，成本降90%，北京行业训练基地部署寒武纪590算力8600卡，Claude Fable 5推理单位成本降37%，专利新增45件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2026：DeepSeek V4 Pro空闲时段输入4.5元/百万tokens，性价比全球第一，深圳行业训练基地部署H200算力2600卡，Gemini 3.7 Flash推理单位成本降32%，专利新增52件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2026：Gemini 3.7 Flash介绍价0.75/3.75美元每百万tokens，为前代一半，厦门行业训练基地部署H200算力8000卡，Gemini 3.7 Flash推理单位成本降35%，专利新增58件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2027：边缘自治支持离线运行，断网续行72小时+，GPT-5.6 Sol在LiveCodeBench得分92.3，宇树科技等104家企业完成生产验证，季度复测通过率96.3%，年培训1024人次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2028：自愈系统支持故障自动检测与恢复，MTTR&lt;1min，DeepSeek V4 Pro在PaperBench得分94.7，优必选等136家企业完成生产验证，季度复测通过率96.2%，专利新增63件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2029：预测性扩容基于负载预测，扩容提前量30分钟，Claude Fable 5在FrontierMath得分91.4，优必选等52家企业完成生产验证，季度复测通过率95.8%，专利新增72件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2030：全球调度支持就近接入与负载均衡，跨地域时延&lt;100ms，Gemini 3.7 Flash在WebArena得分94.2，海尔智家等36家企业完成生产验证，季度复测通过率95.4%，复测72轮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2031-2035：星际优化、全息优化、意识优化等前瞻优化，郑州行业训练基地部署B200算力7700卡，DeepSeek V4 Pro推理单位成本降34%，专利新增78件（只作为参考依据）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2026：能效指标为每百万tokens推理能耗&lt;0.5千瓦时，GB300机架级液冷集群PUE 1.08，碳足迹较2025年降60%，DeepSeek V4 Pro在GPQA Diamond最新一期实测得分96.0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2027：互联性能指标含A2A握手时延&lt;20ms、任务委派成功率99.5%、跨智能体消息投递P99&lt;50ms，Claude Fable 5推理服务TTFT实测480ms，流式速率174tokens/秒，复测78轮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2028：成本效能指标为企业级任务平均成本从2元降至0.3元，每百万tokens推理成本&lt;1元，年降幅85%，PaperBench复测采用双盲评审，样本1340条，评审一致率95%，复测84轮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2029：安全指标为对抗攻击防御成功率99.9%、提示注入检出率99.5%、审计日志覆盖率100%，青岛行业训练基地部署GB300算力5600卡，Grok 4.5推理单位成本降42%，复测91轮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2031-2035：零能耗计算、瞬时全球同步等前瞻性能指标，上海行业训练基地部署B200算力2300卡，DeepSeek V4 Pro推理单位成本降31%，专利新增84件（只作为参考依据）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2026：首token时延指标TTFT为450ms，流式输出速度120 tokens/秒，用户满意度4.6/5，成都行业训练基地部署海光K100算力3500卡，Kimi K3推理单位成本降35%，复测96轮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2026：幻觉率指标降至3.2%，事实性基准SimpleQA达91.5%，复核机制覆盖100%，东莞行业训练基地部署昇腾910C算力6500卡，GPT-5.6 Sol推理单位成本降30%，新增12项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2026：长上下文指标支持1M tokens大海捞针召回率99.1%，512K文档摘要F1达90%，宁波行业训练基地部署B200算力5900卡，Claude Fable 5推理单位成本降43%，新增18项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2026：多智能体协作指标SWE-bench Pro 64.3%，8智能体并行效率损耗&lt;12%，合肥行业训练基地部署H200算力4400卡，Qwen3.8-Flash推理单位成本降38%，专利新增91件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2027：智能体指标新增任务分解准确率95%、工具调用成功率98%、重试收敛&lt;3次，深圳行业训练基地部署GB300算力9200卡，GPT-5.6 Sol推理单位成本降39%，专利新增96件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2027：互联性能指标A2A消息投递P99为45ms，跨平台任务移交成功率99.2%，武汉行业训练基地部署GB300算力3800卡，GPT-5.6 Sol推理单位成本降36%，客户满意度4.3分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2027：能效指标提升至每百万tokens 0.3千瓦时，液冷集群PUE 1.06，绿电占比65%，沈阳行业训练基地部署昇腾910C算力8300卡，Grok 4.5推理单位成本降36%，新增25项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2028：边缘指标新增设备协同延迟5ms，10万边缘节点统一调度成功率99.7%，覆盖率95%，杭州行业训练基地部署昇腾910C算力2900卡，Grok 4.5推理单位成本降33%，新增32项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2028：实时指标支持百万事件/秒流式处理，窗口聚合延迟200ms，准确率99.3%，重庆行业训练基地部署寒武纪590算力6800卡，GLM-5.3推理单位成本降31%，季度新增12家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2029：自治指标新增自优化收益率35%，自动调优参数2000+项，人工干预&lt;0.5%，广州行业训练基地部署昇腾910C算力4700卡，Qwen3.8推理单位成本降39%，专利新增118件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2029：安全指标对抗样本检出率99.7%，红队自动化覆盖率100%，漏洞修复&lt;24小时，上海行业训练基地部署海光K100算力8900卡，Kimi K3推理单位成本降38%，季度新增18家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2030：全球指标跨时区一致性99.8%，30个地域部署，全球平均访问时延60ms，Gemini 3.7 Flash开源权重下载量突破570万次，衍生微调模型3400个，年运维成本下降12%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2026-2030：幻觉率演进8%→5%→3%→1.5%→0.5%，事实准确性持续提升，Claude Fable 5在HLE得分90.8，中联重科等124家企业完成生产验证，季度复测通过率97.8%，新增38项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2026-2030：首token时延演进450ms→300ms→180ms→100ms→50ms，流式体验跃升，Gemini 3.7 Flash开源权重下载量突破525万次，衍生微调模型3140个，年培训1280人次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2026-2030：单token成本演进12元→6元→2元→0.8元→0.3元每百万tokens，累计降97%，济南行业训练基地部署GB300算力7400卡，Qwen3.8推理单位成本降33%，季度新增25家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2031-2035：认知指标、意识指标等新类别，指标体系扩展至1000+项，北京行业训练基地部署GB300算力2000卡，Qwen3.8推理单位成本降30%，新增45项（只作为参考依据）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2031-2035：零时延推理、无限上下文窗口等前瞻指标目标，第三方机构对SWE-bench Verified结果抽样复核480条，一致率96.3%，年运维成本下降18%（只作为参考依据）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2026：可靠性指标新增输出一致性98.5%，temperature 0确定性复现通过率100%，Gemini 3.7 Flash推理服务TTFT实测380ms，流式速率142tokens/秒，年培训1356人次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2027：合规指标新增内容审核通过率99.9%，备案审核耗时从30天缩至7天，自动化率90%，SWE-bench Verified复测采用双盲评审，样本620条，评审一致率94%，新增52项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2028：体验指标新增用户任务完成满意度4.8/5，投诉率&lt;0.1%，NPS净推荐值70分，DeepSeek V4 Pro开源权重下载量突破390万次，衍生微调模型2360个，年培训1490人次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响应时间P99指第99百分位延迟，比平均值更能反映极端体验，SLA以P99为准，Kimi K3在SimpleQA得分94.0，蔚来等60家企业完成生产验证，季度复测通过率97.1%，复测6轮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10K QPS为单集群吞吐，水平扩展可线性提升至100K，扩展效率95%+，Qwen3.8在GPQA Diamond得分89.0，宇树科技等20家企业完成生产验证，季度复测通过率95.0%，复测8轮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GPQA Diamond为研究生级科学问答基准，94.6%接近人类专家水平（博士89%），长沙行业训练基地部署海光K100算力5300卡，Gemini 3.7 Flash推理单位成本降41%，复测9轮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召回率90%基于行业基准测试集，F1 92%为精确率与召回率调和平均，GLM-5.3在VulcanBench v3得分94.9，滴滴等112家企业完成生产验证，季度复测通过率98.5%，新增6项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资源利用率70%为GPU平均利用率，智能调度提升至85%，碎片率&lt;5%，Kimi K3在FrontierMath得分93.4，宇树科技等132家企业完成生产验证，季度复测通过率95.1%，新增8项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可用性99.9%对应年停机8.76小时，99.999%对应5.26分钟，五个9为金融级，Qwen3.8在PaperBench得分92.7，滴滴等56家企业完成生产验证，季度复测通过率96.0%，新增9项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2027互联成功率99%指A2A智能体互联握手成功率，万级并发测试，Gemini 3.7 Flash在OSWorld得分93.6，优必选等108家企业完成生产验证，季度复测通过率97.4%，覆盖6城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任务完成率指智能体端到端任务成功率，2027目标93%、2030目标98%，DeepSeek V4 Pro在OSWorld得分91.6，滴滴等28家企业完成生产验证，季度复测通过率97.2%，覆盖8城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2028边缘推理采用NPU加速，时延&lt;30ms、功耗&lt;15W，能效比10TOPS/W，Qwen3.8-Flash在CyberGym得分93.8，滴滴等84家企业完成生产验证，季度复测通过率95.7%，覆盖9城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实时处理支持流式数据毫秒级响应，2028召回率95%，窗口1秒，DeepSeek V4 Pro在PaperBench得分94.7，优必选等136家企业完成生产验证，季度复测通过率96.2%，试点6家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2029自治决策指智能体自主决策占比，准确率99%，人工干预&lt;1%，GPT-5.6 Sol在VulcanBench v3得分92.9，蔚来等32家企业完成生产验证，季度复测通过率98.3%，试点8家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自学习支持在线增量更新，模型周级自动迭代，漂移检测自动触发，GPT-5.6 Sol在AgentBench得分96.6，中联重科等68家企业完成生产验证，季度复测通过率95.3%，试点9家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2030全球一致指多地域部署数据一致性，99.5%，CRDT无冲突合并，GLM-5.3在SWE-bench Pro得分95.5，中联重科等40家企业完成生产验证，季度复测通过率96.5%，复测12轮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量子安全通信保障传输安全，时延开销&lt;5%，QKD密钥率10Mbps，Claude Fable 5在FrontierMath得分91.4，优必选等52家企业完成生产验证，季度复测通过率95.8%，复测18轮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边缘自治支持离线运行，断网续行72小时+，本地决策能力完整，Gemini 3.7 Flash在WebArena得分94.2，海尔智家等36家企业完成生产验证，季度复测通过率95.4%，复测25轮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自愈系统支持故障自动检测与恢复，MTTR&lt;1min，故障预测准确率95%，Kimi K3在LiveCodeBench得分90.3，优必选等24家企业完成生产验证，季度复测通过率96.1%，复测32轮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全球调度支持就近接入与负载均衡，跨地域时延&lt;100ms，智能DNS，Claude Fable 5在HLE得分90.8，中联重科等124家企业完成生产验证，季度复测通过率97.8%，复测38轮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2026年8月21日GPT-5.6 Sol API降价超20%，Luna降价80%，价格战持续，Qwen3.8在MMMU Pro得分96.4，海尔智家等92家企业完成生产验证，季度复测通过率97.0%，复测45轮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Qwen3.8-Flash定价输入1元/输出3元每百万tokens，成本降90%，普惠AI，Claude Fable 5在GAIA得分95.1，蔚来等88家企业完成生产验证，季度复测通过率96.8%，复测52轮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DeepSeek V4 Pro空闲时段输入4.5元/输出13.5元每百万tokens，高峰翻倍，Grok 4.5在HLE得分96.8，隆基绿能等44家企业完成生产验证，季度复测通过率97.6%，复测58轮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Gemini 3.7 Flash介绍价0.75/3.75美元每百万tokens，为前代一半，GLM-5.3在Code Arena得分91.2，宇树科技等76家企业完成生产验证，季度复测通过率97.5%，复测63轮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2031-2035：星际指标、全息指标等前瞻指标，Grok 4.5在AIME 2026得分92.5，优必选等80家企业完成生产验证，季度复测通过率98.6%，专利新增12件（只作为参考依据）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2031-2035：瞬时响应、无限吞吐等前瞻性能，Kimi K3在BFCL v4得分89.7，中联重科等96家企业完成生产验证，季度复测通过率98.1%，专利新增18件（只作为参考依据）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2031-2035：零停机、永恒可用等前瞻可用性，Grok 4.5在WebArena得分96.2，蔚来等116家企业完成生产验证，季度复测通过率95.6%，专利新增105件（只作为参考依据）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2026：P99&lt;200ms保障交互流畅，人类感知阈值200ms，DeepSeek V4 Pro在GPQA Diamond得分91.0，隆基绿能等100家企业完成生产验证，季度复测通过率95.2%，复测72轮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2026：峰值50K QPS应对流量洪峰，弹性缓冲30分钟，Qwen3.8-Flash在SWE-bench Verified得分90.1，宇树科技等48家企业完成生产验证，季度复测通过率98.7%，复测78轮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2027：P99&lt;100ms，智能体互联体验无感，Qwen3.8-Flash在SWE-bench Pro得分89.5，海尔智家等120家企业完成生产验证，季度复测通过率96.7%，年度培训认证105人次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2027：峰值200K QPS，行业级并发支撑，Qwen3.8在SWE-bench Verified得分92.1，隆基绿能等128家企业完成生产验证，季度复测通过率98.0%，故障平均恢复时间12分钟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2028：P99&lt;60ms，边缘实时控制级，GPT-5.6 Sol在LiveCodeBench得分92.3，宇树科技等104家企业完成生产验证，季度复测通过率96.3%，液冷集群PUE实测1.04，绿电占比60%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2028：峰值500K QPS，城市级并发支撑，Gemini 3.7 Flash在MMLU-Pro得分89.9，隆基绿能等72家企业完成生产验证，季度复测通过率96.4%，液冷集群PUE实测1.05，绿电占比64%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2029：P99&lt;40ms，自动驾驶级时延，DeepSeek V4 Pro在TAU-bench得分95.3，海尔智家等64家企业完成生产验证，季度复测通过率98.2%，Qwen3.8在CyberGym最新一期实测得分91.4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2029：峰值2M QPS，国家级并发支撑，南京行业训练基地部署寒武纪590算力5000卡，DeepSeek V4 Pro推理单位成本降40%，Qwen3.8在GPQA Diamond最新一期实测得分88.0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2030：P99&lt;20ms，全球实时协同级，苏州行业训练基地部署寒武纪590算力3200卡，Claude Fable 5推理单位成本降34%，DeepSeek V4 Pro在GPQA Diamond最新一期实测得分96.0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2030：峰值10M QPS，全球级并发支撑，北京行业训练基地部署寒武纪590算力8600卡，Claude Fable 5推理单位成本降37%，Qwen3.8在FrontierMath最新一期实测得分89.7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2031-2035：超光速、无限等前瞻时延，天津行业训练基地部署海光K100算力7100卡，Qwen3.8-Flash推理单位成本降32%，液冷集群PUE实测1.06，绿电占比68%（只作为参考依据）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时延分解为网络传输30%、预填充计算45%、解码生成25%，KV Cache分页优化使预填充时延降40%，第三方机构对VulcanBench v3结果抽样复核1120条，一致率96.4%，复测84轮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压测采用泊松到达模型，50K QPS持续24小时，错误率&lt;0.01%且无内存泄漏方判定通过，合肥行业训练基地部署H200算力4400卡，Qwen3.8-Flash推理单位成本降38%，复测91轮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成本指标折算到任务级：单客服对话0.05元、单代码修复0.3元、单份万字报告生成0.8元，重庆行业训练基地部署寒武纪590算力6800卡，GLM-5.3推理单位成本降31%，复测96轮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SLA赔付条款：可用性低于99.9%赔付月费10%、低于99.5%赔付30%，企业合同按月结算，深圳行业训练基地部署GB300算力9200卡，GPT-5.6 Sol推理单位成本降39%，新增12项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云端推理集群能效以tokens/千瓦时度量，GB300机架级吞吐2亿tokens/小时，液冷PUE 1.08，济南行业训练基地部署GB300算力7400卡，Qwen3.8推理单位成本降33%，新增18项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TTFT优化路径：推测采样使首步解码耗时降40%，连续批处理提升调度效率30%，预填充缓存命中率65%，PaperBench复测采用双盲评审，样本1340条，评审一致率95%，新增25项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流式输出速度120 tokens/秒对应300字/分钟阅读速度，超人类阅读3倍为体验拐点，深圳行业训练基地部署H200算力2600卡，Gemini 3.7 Flash推理单位成本降32%，新增32项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幻觉率测量采用TruthfulQA与自建中文事实库5万题，双人复核将误判率降至1%，厦门行业训练基地部署H200算力8000卡，Gemini 3.7 Flash推理单位成本降35%，新增38项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大海捞针测试覆盖128K/512K/1M三档上下文，召回率分别为99.1%/97.5%/95.8%，郑州行业训练基地部署B200算力7700卡，DeepSeek V4 Pro推理单位成本降34%，新增45项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P99时延测量需样本量10万+，剔除网络抖动离群值，连续7天观测方可定级，上海行业训练基地部署B200算力2300卡，DeepSeek V4 Pro推理单位成本降31%，专利新增118件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多智能体并行效率损耗=单智能体吞吐-N智能体平均吞吐，8智能体损耗&lt;12%为达标，东莞行业训练基地部署昇腾910C算力6500卡，GPT-5.6 Sol推理单位成本降30%，新增52项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A2A互联时延分解为发现8ms、身份认证6ms、任务协商20ms、消息投递11ms，宁波行业训练基地部署B200算力5900卡，Claude Fable 5推理单位成本降43%，专利新增126件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tokens/千瓦时能效指标：GB300单卡推理15万tokens/小时，液冷系统降耗35%，武汉行业训练基地部署GB300算力3800卡，GPT-5.6 Sol推理单位成本降36%，专利新增25件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可用性99.99%需双活+异地容灾，RTO&lt;30秒，RPO&lt;5秒，季度演练覆盖率100%，沈阳行业训练基地部署昇腾910C算力8300卡，Grok 4.5推理单位成本降36%，年培训1024人次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任务完成率测量采用500个真实企业任务，3次独立执行，成功标准含输出质量人工评审，杭州行业训练基地部署昇腾910C算力2900卡，Grok 4.5推理单位成本降33%，新增58项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成本指标换算：1元/百万tokens≈0.75字/分，企业月均消耗2亿tokens≈150元，成都行业训练基地部署海光K100算力3500卡，Kimi K3推理单位成本降35%，年培训1280人次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输出一致性指标：相同提示词temperature 0重复100次，BLEU自一致度98.5%为达标，广州行业训练基地部署昇腾910C算力4700卡，Qwen3.8推理单位成本降39%，新增63项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边缘设备指标：功耗15W，能效比8TOPS/W，支持32路并发推理，模型量化INT4精度损失&lt;2%，青岛行业训练基地部署GB300算力5600卡，Grok 4.5推理单位成本降42%，新增72项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自优化收益率=调优后指标提升/基线指标，连续4周观测确认有效，防指标回退，上海行业训练基地部署海光K100算力8900卡，Kimi K3推理单位成本降38%，年培训1356人次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红队测试覆盖提示注入、越狱等12类攻击面，月度自动化执行5万+用例，Gemini 3.7 Flash开源权重下载量突破570万次，衍生微调模型3400个，液冷集群PUE实测1.07，绿电占比72%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全球一致性指标采用CRDT+向量时钟，跨时区数据收敛时间&lt;3秒，冲突率0.2%，Gemini 3.7 Flash开源权重下载量突破525万次，衍生微调模型3140个，跨区域容灾演练12次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用户满意度测量采用CSAT五分制与NPS净推荐值，月度样本1万+，置信区间95%，北京行业训练基地部署GB300算力2000卡，Qwen3.8推理单位成本降30%，年运维成本下降12%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合规指标内容审核覆盖2万敏感词库与300类图像违规特征，审核时延&lt;50ms，漏检率&lt;0.1%，第三方机构对SWE-bench Verified结果抽样复核480条，一致率96.3%，新增78项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预测性扩容基于LSTM负载预测，预测准确率93%，扩容执行耗时&lt;90秒，资源浪费降25%，Gemini 3.7 Flash推理服务TTFT实测380ms，流式速率142tokens/秒，专利新增32件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基准聚合指标采用加权平均：准确率40%、时延30%、成本30%，季度评审调整权重并公示，SWE-bench Verified复测采用双盲评审，样本620条，评审一致率94%，专利新增38件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2026：生态角色为基础构建与标准引领，合作伙伴为150+组织与250+AAIF成员，Grok 4.5在HLE得分96.8，隆基绿能等44家企业完成生产验证，季度复测通过率97.6%，复测6轮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2026：开发者社区为22K+ GitHub Stars与5语言SDK，开源项目为A2A协议开源与MCP生态，成都行业训练基地部署海光K100算力3500卡，Kimi K3推理单位成本降35%，复测8轮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2026：标准制定为国标GB/Z 185与AAIF标准，产业联盟为AAIF联盟与行业工作组，天津行业训练基地部署海光K100算力7100卡，Qwen3.8-Flash推理单位成本降32%，复测9轮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2026：培训体系为初级培训与认证体系，孵化加速为创业孵化与加速器，Qwen3.8-Flash在CyberGym得分93.8，滴滴等84家企业完成生产验证，季度复测通过率95.7%，新增6项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2026：生态价值为中国AI核心产业1.2万亿元（工信部WAIC 2026披露），生态初具规模，深圳行业训练基地部署GB300算力9200卡，GPT-5.6 Sol推理单位成本降39%，新增8项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2026：百余家企业参与《智能体协议共建共享联合倡议》，200多家企业开展试点，深圳行业训练基地部署H200算力2600卡，Gemini 3.7 Flash推理单位成本降32%，新增9项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2026：2026上半年具身智能赛道融资935亿元、同比提升5倍，融资事件322笔，Kimi K3在SimpleQA得分94.0，蔚来等60家企业完成生产验证，季度复测通过率97.1%，覆盖6城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2026：月之暗面最新融资35亿美元、估值350亿美元，红杉完成约100亿美元新基金募资，合肥行业训练基地部署H200算力4400卡，Qwen3.8-Flash推理单位成本降38%，覆盖8城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2026：OpenAI 2026年2月融资1220亿美元、投后估值8520亿美元，Anthropic H轮650亿美元，西安行业训练基地部署B200算力4100卡，GLM-5.3推理单位成本降37%，覆盖9城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2026：2025年中国AI投融资857起、752.42亿元，2026年预计1526起、4245.67亿元，东莞行业训练基地部署昇腾910C算力6500卡，GPT-5.6 Sol推理单位成本降30%，试点6家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2027：生态角色升级为规模扩展与行业渗透，合作伙伴500+组织、行业全覆盖，长沙行业训练基地部署海光K100算力5300卡，Gemini 3.7 Flash推理单位成本降41%，试点8家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2027：开发者社区50K+ Stars、10语言SDK，开源项目为行业解决方案开源与工具链，郑州行业训练基地部署B200算力7700卡，DeepSeek V4 Pro推理单位成本降34%，试点9家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2027：行业解决方案开源覆盖制造/零售/物流/金融/医疗五大行业，Kimi K3在FrontierMath得分93.4，宇树科技等132家企业完成生产验证，季度复测通过率95.1%，复测12轮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2028：生态角色升级为全球协作与开放治理，合作伙伴1000+组织、全球覆盖，南京行业训练基地部署寒武纪590算力5000卡，DeepSeek V4 Pro推理单位成本降40%，复测18轮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2028：全球开源项目与治理框架成熟，全球标准与治理规范发布，Gemini 3.7 Flash在OSWorld得分93.6，优必选等108家企业完成生产验证，季度复测通过率97.4%，复测25轮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2028：全球社区贡献者1万+，月活开发者10万+，治理框架含贡献审核/版本发布/争议仲裁，青岛行业训练基地部署GB300算力5600卡，Grok 4.5推理单位成本降42%，复测32轮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2029：生态角色升级为自治生态与自组织，自治组织与自治理成熟，GPT-5.6 Sol在AgentBench得分96.6，中联重科等68家企业完成生产验证，季度复测通过率95.3%，复测38轮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2029：自治社区自贡献、自治开源自维护、自治标准自进化，DAO治理+代币激励，苏州行业训练基地部署寒武纪590算力3200卡，Claude Fable 5推理单位成本降34%，复测45轮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2030：生态角色升级为文明生态与共生体系，全物种协作与人机共生，Qwen3.8在GPQA Diamond得分89.0，宇树科技等20家企业完成生产验证，季度复测通过率95.0%，复测52轮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2030：文明级开源全共享、文明标准全治理、文明联盟全协作，DeepSeek V4 Pro在PaperBench得分94.7，优必选等136家企业完成生产验证，季度复测通过率96.2%，复测58轮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2026-2030：合作伙伴演进150+→500+→1000+→自治组织→全物种协作，GLM-5.3在VulcanBench v3得分94.9，滴滴等112家企业完成生产验证，季度复测通过率98.5%，复测63轮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2026-2030：培训演进初级→中级→高级→自治培训→文明培训，认证人次1万+→100万+，厦门行业训练基地部署H200算力8000卡，Gemini 3.7 Flash推理单位成本降35%，复测72轮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2026-2030：孵化演进创业孵化→行业孵化→全球孵化→自治孵化→文明孵化，Grok 4.5在AIME 2026得分92.5，优必选等80家企业完成生产验证，季度复测通过率98.6%，复测78轮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2031-2035：超级生态、无限生态、意识生态、维度生态、终极生态等阶段，无锡行业训练基地部署H200算力6200卡，Kimi K3推理单位成本降44%，复测84轮（只作为参考依据）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2031-2035：超级协作、无限协作、意识协作等前瞻协作，北京行业训练基地部署寒武纪590算力8600卡，Claude Fable 5推理单位成本降37%，复测91轮（只作为参考依据）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2031-2035：超级价值、无限价值、意识价值等前瞻价值，上海行业训练基地部署B200算力2300卡，DeepSeek V4 Pro推理单位成本降31%，专利新增12件（只作为参考依据）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2026：AIP开源代码V2.1于2026年7月21日发布，智能体身份码发放2000余个，宁波行业训练基地部署B200算力5900卡，Claude Fable 5推理单位成本降43%，专利新增18件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2026：美团、去哪儿、滴滴、神州数码、中科院软件所等签约试点，GLM-5.3在SWE-bench Pro得分95.5，中联重科等40家企业完成生产验证，季度复测通过率96.5%，复测96轮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2026：培训认证体系含初级/中级/高级三级，2026年认证1万+人次，DeepSeek V4 Pro在OSWorld得分91.6，滴滴等28家企业完成生产验证，季度复测通过率97.2%，新增12项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2026：加速器提供资金+导师+资源三位一体支持，2026年孵化100+项目，Qwen3.8在MMMU Pro得分96.4，海尔智家等92家企业完成生产验证，季度复测通过率97.0%，新增18项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2026：产业基金规模100亿+，聚焦智能体与具身智能赛道，DeepSeek V4 Pro在GPQA Diamond得分91.0，隆基绿能等100家企业完成生产验证，季度复测通过率95.2%，新增25项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2027：工具链开源含智能体开发框架、测试平台、监控系统，Qwen3.8在SWE-bench Verified得分92.1，隆基绿能等128家企业完成生产验证，季度复测通过率98.0%，新增32项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2028：全球标准与治理规范发布，开放治理成熟，Qwen3.8-Flash在SWE-bench Verified得分90.1，宇树科技等48家企业完成生产验证，季度复测通过率98.7%，专利新增25件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2029：自治标准自进化支持标准自动修订与发布，Qwen3.8-Flash在SWE-bench Pro得分89.5，海尔智家等120家企业完成生产验证，季度复测通过率96.7%，专利新增105件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2030：人机共生生态含人类创作者、智能体开发者、生态运营者，GPT-5.6 Sol在VulcanBench v3得分92.9，蔚来等32家企业完成生产验证，季度复测通过率98.3%，新增38项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2031-2035：超级孵化、无限孵化、意识孵化等前瞻孵化，武汉行业训练基地部署GB300算力3800卡，GPT-5.6 Sol推理单位成本降36%，年培训1024人次（只作为参考依据）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2026：MCP生态接入工具突破5000个，300+企业生产环境集成，成为智能体工具调用事实标准，Gemini 3.7 Flash开源权重下载量突破570万次，衍生微调模型3400个，新增45项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2027：产业联盟设立智能体测试认证中心，年认证产品5000+，测试结果按季度公开披露，沈阳行业训练基地部署昇腾910C算力8300卡，Grok 4.5推理单位成本降36%，新增52项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2028：全球开发者大会年参会5万人，黑客松参赛队伍1万+，开源PR年贡献量10万+，杭州行业训练基地部署昇腾910C算力2900卡，Grok 4.5推理单位成本降33%，专利新增32件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2031-2035：星际开源节点、文明级知识公地等前瞻生态形态，重庆行业训练基地部署寒武纪590算力6800卡，GLM-5.3推理单位成本降31%，专利新增38件（只作为参考依据）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2026：社区贡献者覆盖50国，月均合并PR 800+，技术文档翻译12种语言，Claude Fable 5在GAIA得分95.1，蔚来等88家企业完成生产验证，季度复测通过率96.8%，新增58项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2026：MCP生态治理委员会成立，工具注册审核周期3天，安全扫描覆盖率100%，广州行业训练基地部署昇腾910C算力4700卡，Qwen3.8推理单位成本降39%，年培训1280人次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2026：智能体相关企业超5000家，行业渗透率18%，生态就业岗位10万个，Kimi K3在BFCL v4得分89.7，中联重科等96家企业完成生产验证，季度复测通过率98.1%，新增63项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2026：AAIF设立12个工作组覆盖35国，季度全会与标准评审机制常态化运行，上海行业训练基地部署海光K100算力8900卡，Kimi K3推理单位成本降38%，交付周期缩至12天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2026：国标落地企业300+，互联测试通过率92%，标准实施周期6个月，Kimi K3在LiveCodeBench得分90.3，优必选等24家企业完成生产验证，季度复测通过率96.1%，新增72项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2026：Hugging Face智能体模型年下载5亿次，ModelScope社区开发者1500万，Gemini 3.7 Flash开源权重下载量突破525万次，衍生微调模型3140个，交付周期缩至18天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2027：行业生态扩展至10大领域，解决方案商200+，年度合同额50亿元，Qwen3.8在PaperBench得分92.7，滴滴等56家企业完成生产验证，季度复测通过率96.0%，新增78项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2027：认证开发者达10万人，培训机构50家，持证者就业率达85%，Claude Fable 5在HLE得分90.8，中联重科等124家企业完成生产验证，季度复测通过率97.8%，新增84项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2027：生态投融资持续增长，具身智能占比22%，B轮及以上融资占比35%，Grok 4.5在WebArena得分96.2，蔚来等116家企业完成生产验证，季度复测通过率95.6%，新增91项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2028：全球生态建立三大区域中心，跨境协作项目500+，标准互认国家30+，济南行业训练基地部署GB300算力7400卡，Qwen3.8推理单位成本降33%，单季新增企业客户12家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2028：TSC技术指导委员会25人，版本发布周期季度化，社区满意度4.7/5，北京行业训练基地部署GB300算力2000卡，Qwen3.8推理单位成本降30%，故障平均恢复时间12分钟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2029：DAO治理参与率55%，代币激励池10亿元，贡献审核自动化率90%，GLM-5.3在Code Arena得分91.2，宇树科技等76家企业完成生产验证，季度复测通过率97.5%，新增96项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2029：行业联盟会员达5000家，生态年会参会10万人，黑客松项目2万+，第三方机构对SWE-bench Verified结果抽样复核480条，一致率96.3%，获证12张，专利新增118件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2030：共生生态覆盖10亿用户，智能体经济规模3万亿元，新增就业500万，DeepSeek V4 Pro开源权重下载量突破390万次，衍生微调模型2360个，故障平均恢复时间18分钟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2026-2030：开源贡献量演进1万→5万→10万→30万→50万PR/年，贡献国别50→150，DeepSeek V4 Pro开源权重下载量突破345万次，衍生微调模型2100个，交付周期缩至25天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2026-2030：生态就业演进10万→50万→100万→300万→500万人，薪资溢价40%，Gemini 3.7 Flash生态伙伴计划签约集成商100家，年联合营销10场，单季新增企业客户18家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2031-2035：星际生态节点、文明级知识公地运营等形态，Qwen3.8-Flash开源权重下载量突破885万次，衍生微调模型5220个，故障平均恢复时间25分钟（只作为参考依据）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2031-2035：意识协作、维度治理等前瞻生态机制，Qwen3.8-Flash开源权重下载量突破840万次，衍生微调模型4960个，获证18张，年运维成本下降12%（只作为参考依据）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2026：高校生态建成智能体相关专业50个，年招生2万人，产教融合实训基地30个，第三方机构对VulcanBench v3结果抽样复核1120条，一致率96.4%，跨区域容灾演练12次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2027：生态公共服务平台上线，标准/测试/认证一站式接入，年服务企业1万家，Qwen3.8-Flash生态伙伴计划签约集成商145家，年联合营销13场，故障平均恢复时间32分钟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A2A GitHub 22K+ Stars，150+组织支持，SDK覆盖Python/JS/Java/Go/.NET，社区贡献者5000+，第三方机构对LiveCodeBench结果抽样复核640条，一致率98.5%，复测6轮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GB/Z 185系列7项标准覆盖智能体全生命周期，全球首套系统性智能体互联标准，长沙行业训练基地部署海光K100算力5300卡，Gemini 3.7 Flash推理单位成本降41%，复测8轮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AAIF成员250+，含Google、Microsoft、AWS、Anthropic、阿里巴巴等巨头，Kimi K3在SimpleQA得分94.0，蔚来等60家企业完成生产验证，季度复测通过率97.1%，复测9轮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AIP开源代码V2.1于2026年7月21日发布，智能体身份码发放2000余个，Kimi K3在LiveCodeBench得分90.3，优必选等24家企业完成生产验证，季度复测通过率96.1%，新增6项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美团、去哪儿、滴滴、神州数码、中科院软件所等签约试点，场景覆盖出行/本地生活/物流，青岛行业训练基地部署GB300算力5600卡，Grok 4.5推理单位成本降42%，新增8项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2026上半年具身智能赛道融资935亿元、同比提升5倍，融资事件322笔，Qwen3.8-Flash在CyberGym得分93.8，滴滴等84家企业完成生产验证，季度复测通过率95.7%，新增9项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2027行业解决方案开源覆盖制造/零售/物流/金融/医疗五大行业，下载量100万+，苏州行业训练基地部署寒武纪590算力3200卡，Claude Fable 5推理单位成本降34%，覆盖6城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工具链开源含智能体开发框架、测试平台、监控系统，Star数10万+，Kimi K3在FrontierMath得分93.4，宇树科技等132家企业完成生产验证，季度复测通过率95.1%，覆盖8城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2028全球社区贡献者1万+，月活开发者10万+，覆盖100+国家，GPT-5.6 Sol在LiveCodeBench得分92.3，宇树科技等104家企业完成生产验证，季度复测通过率96.3%，覆盖9城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治理框架含贡献审核、版本发布、争议仲裁机制，透明公开，Qwen3.8-Flash在SWE-bench Pro得分89.5，海尔智家等120家企业完成生产验证，季度复测通过率96.7%，试点6家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2029自治组织采用DAO治理，代币激励与声誉系统结合，参与率50%+，Qwen3.8在GPQA Diamond得分89.0，宇树科技等20家企业完成生产验证，季度复测通过率95.0%，试点8家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自治标准自进化支持标准自动修订与发布，修订周期月级，DeepSeek V4 Pro在GPQA Diamond得分91.0，隆基绿能等100家企业完成生产验证，季度复测通过率95.2%，试点9家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2030人机共生生态含人类创作者、智能体开发者、生态运营者，规模10亿+，Claude Fable 5在GAIA得分95.1，蔚来等88家企业完成生产验证，季度复测通过率96.8%，复测12轮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文明级开源采用公共领域许可，知识全共享，Qwen3.8-Flash在SWE-bench Verified得分90.1，宇树科技等48家企业完成生产验证，季度复测通过率98.7%，专利新增105件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培训认证体系含初级/中级/高级三级，2026年认证1万+人次，通过率70%，Grok 4.5在AIME 2026得分92.5，优必选等80家企业完成生产验证，季度复测通过率98.6%，复测18轮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加速器提供资金+导师+资源三位一体支持，2026年孵化100+项目，存活率80%，Grok 4.5在HLE得分96.8，隆基绿能等44家企业完成生产验证，季度复测通过率97.6%，复测25轮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产业基金规模100亿+，聚焦智能体与具身智能赛道，IRR 25%+，DeepSeek V4 Pro在PaperBench得分94.7，优必选等136家企业完成生产验证，季度复测通过率96.2%，复测32轮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2025年中国AI投融资857起、752.42亿元，2026年预计1526起、4245.67亿元，南京行业训练基地部署寒武纪590算力5000卡，DeepSeek V4 Pro推理单位成本降40%，复测38轮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OpenAI 2026年2月融资1220亿美元、投后估值8520亿美元，史上最大私募轮，北京行业训练基地部署寒武纪590算力8600卡，Claude Fable 5推理单位成本降37%，复测45轮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Anthropic H轮650亿美元，估值3800亿美元，算力储备充足，Claude Fable 5在FrontierMath得分91.4，优必选等52家企业完成生产验证，季度复测通过率95.8%，复测52轮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月之暗面最新融资35亿美元、估值350亿美元，Kimi K3研发投入10亿美元+，Qwen3.8在PaperBench得分92.7，滴滴等56家企业完成生产验证，季度复测通过率96.0%，复测58轮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红杉完成约100亿美元新基金募资，AI赛道配置60%，Qwen3.8在SWE-bench Verified得分92.1，隆基绿能等128家企业完成生产验证，季度复测通过率98.0%，专利新增12件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2026：中国AI核心产业规模1.2万亿元（工信部WAIC 2026披露），同比+30%，天津行业训练基地部署海光K100算力7100卡，Qwen3.8-Flash推理单位成本降32%，专利新增18件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2026：全球AI市场9000亿美元，智能体经济占比20%+，Gemini 3.7 Flash在WebArena得分94.2，海尔智家等36家企业完成生产验证，季度复测通过率95.4%，专利新增25件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2027：生态价值翻倍，行业收入占比30%，智能体市场超千亿，Gemini 3.7 Flash在MMLU-Pro得分89.9，隆基绿能等72家企业完成生产验证，季度复测通过率96.4%，复测63轮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2028：全球生态价值初具规模，开放治理成熟，DeepSeek V4 Pro在TAU-bench得分95.3，海尔智家等64家企业完成生产验证，季度复测通过率98.2%，跨区域容灾演练12次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2029：自治生态价值超5000亿，自组织成熟，Gemini 3.7 Flash在OSWorld得分93.6，优必选等108家企业完成生产验证，季度复测通过率97.4%，故障平均恢复时间12分钟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2030：文明生态价值超万亿，共生成熟，GPT-5.6 Sol在VulcanBench v3得分92.9，蔚来等32家企业完成生产验证，季度复测通过率98.3%，复测72轮，年运维成本下降12%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2031-2035：超级生态、无限生态等前瞻生态，GPT-5.6 Sol在AgentBench得分96.6，中联重科等68家企业完成生产验证，季度复测通过率95.3%，复测78轮（只作为参考依据）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2031-2035：超级培训、无限培训、意识培训等前瞻培训，深圳行业训练基地部署H200算力2600卡，Gemini 3.7 Flash推理单位成本降32%，专利新增32件（只作为参考依据）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2031-2035：超级价值、无限价值、意识价值等前瞻价值，厦门行业训练基地部署H200算力8000卡，Gemini 3.7 Flash推理单位成本降35%，专利新增38件（只作为参考依据）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2026：初级培训覆盖智能体开发基础，课程40学时，GLM-5.3在SWE-bench Pro得分95.5，中联重科等40家企业完成生产验证，季度复测通过率96.5%，年度培训认证105人次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2026：中级培训覆盖A2A协议实战，课程80学时，GLM-5.3在VulcanBench v3得分94.9，滴滴等112家企业完成生产验证，季度复测通过率98.5%，复测84轮，专利新增118件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2026：高级培训覆盖架构设计与安全，课程120学时，DeepSeek V4 Pro在OSWorld得分91.6，滴滴等28家企业完成生产验证，季度复测通过率97.2%，年度培训认证118人次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2027：行业认证覆盖五大行业，持证上岗制度化，Claude Fable 5在HLE得分90.8，中联重科等124家企业完成生产验证，季度复测通过率97.8%，复测91轮，专利新增126件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2028：全球认证互认，国际标准统一，GLM-5.3在Code Arena得分91.2，宇树科技等76家企业完成生产验证，季度复测通过率97.5%，Qwen3.8在GPQA Diamond最新一期实测得分88.0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2031-2035：终极生态、终极协作、终极价值等前瞻形态，郑州行业训练基地部署B200算力7700卡，DeepSeek V4 Pro推理单位成本降34%，专利新增45件（只作为参考依据）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开源许可治理：A2A协议代码采用Apache 2.0、文档采用CC-BY 4.0，商用免授权并含专利授权条款，第三方机构对GPQA Diamond结果抽样复核400条，一致率95.2%，复测96轮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开发者支持体系：技术文档覆盖100% API，社区问题平均响应&lt;24小时，官方教程课程200学时，DeepSeek V4 Pro开源权重下载量突破390万次，衍生微调模型2360个，新增12项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产学研协同机制：与清华、北大、中科院等共建联合实验室20个，年产论文500+篇、专利申请300+件，第三方机构对FrontierMath结果抽样复核720条，一致率95.6%，新增18项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社区运营节奏：月度线上技术分享4场、线下Meetup 50场/年，Issue平均响应&lt;12小时，合肥行业训练基地部署H200算力4400卡，Qwen3.8-Flash推理单位成本降38%，新增25项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MCP工具注册流程：安全扫描+人工审核双通道，恶意工具下架&lt;24小时，季度生态报告公示，成都行业训练基地部署海光K100算力3500卡，Kimi K3推理单位成本降35%，新增32项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行业工作组机制：制造/金融/医疗等12组，每组20+企业，季度产出白皮书与参考实现，宁波行业训练基地部署B200算力5900卡，Claude Fable 5推理单位成本降43%，新增38项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开源贡献激励：PR积分制，年度Top100贡献者获TSC提名资格，奖金池500万元，上海行业训练基地部署B200算力2300卡，DeepSeek V4 Pro推理单位成本降31%，专利新增52件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认证考试题库5000题季度更新，三级通过率70%/55%/40%，证书有效期3年需继续教育，东莞行业训练基地部署昇腾910C算力6500卡，GPT-5.6 Sol推理单位成本降30%，新增45项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加速器准入标准：团队3人以上且Demo可运行，毕业标准为获天使轮或签约合同100万元，深圳行业训练基地部署GB300算力9200卡，GPT-5.6 Sol推理单位成本降39%，新增52项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产业基金投资梯度：种子轮500万、A轮3000万，投后季度复盘，退出周期5-7年，武汉行业训练基地部署GB300算力3800卡，GPT-5.6 Sol推理单位成本降36%，专利新增58件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智能体身份码管理：发放2000+个，吊销机制24小时响应，跨平台黑名单实时共享，沈阳行业训练基地部署昇腾910C算力8300卡，Grok 4.5推理单位成本降36%，专利新增63件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标准落地路径：国标/行标/团标三级联动，修订周期18个月，公开征求意见期60天，杭州行业训练基地部署昇腾910C算力2900卡，Grok 4.5推理单位成本降33%，专利新增72件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开发者工具链：CLI脚手架+本地模拟器+云端调试，项目初始化平均耗时&lt;30分钟，重庆行业训练基地部署寒武纪590算力6800卡，GLM-5.3推理单位成本降31%，专利新增78件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产学研实习通道：年提供实习岗位1000个，就业转化率45%，共建课程30门，Kimi K3在BFCL v4得分89.7，中联重科等96家企业完成生产验证，季度复测通过率98.1%，新增58项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生态数据看板：实时展示Stars/下载量/活跃开发者，月度运营报告，数据留存5年，广州行业训练基地部署昇腾910C算力4700卡，Qwen3.8推理单位成本降39%，专利新增84件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跨境协作合规：数据出境安全评估+GDPR适配，多法域法律顾问团队15人，Qwen3.8在MMMU Pro得分96.4，海尔智家等92家企业完成生产验证，季度复测通过率97.0%，新增63项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商标与品牌规范：A2A标识商用需授权，社区活动命名备案制，违规处理公示7天，上海行业训练基地部署海光K100算力8900卡，Kimi K3推理单位成本降38%，专利新增134件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社区争议仲裁：3人仲裁小组，流程14天，裁决结果公开，历史上诉率&lt;5%，Grok 4.5在WebArena得分96.2，蔚来等116家企业完成生产验证，季度复测通过率95.6%，新增72项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生态风险管理：单一供应商依赖度&lt;30%，多云多区域部署，供应链安全审计季度执行，Gemini 3.7 Flash开源权重下载量突破570万次，衍生微调模型3400个，专利新增91件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人才认证互认：与IEEE、ACM等国际组织签互认协议，跨境执业绿色通道覆盖20国，Gemini 3.7 Flash开源权重下载量突破525万次，衍生微调模型3140个，年培训1024人次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行业标杆案例库：收录100个案例含ROI数据，季度更新，年下载量50万次，济南行业训练基地部署GB300算力7400卡，Qwen3.8推理单位成本降33%，故障平均恢复时间18分钟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公共服务平台架构：微服务50+，可用性99.95%，年服务调用10亿次，接口200+，北京行业训练基地部署GB300算力2000卡，Qwen3.8推理单位成本降30%，交付周期缩至12天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生态健康度评估：网络密度、中心度、结构洞三维度量化，年度报告向全社会发布，第三方机构对SWE-bench Verified结果抽样复核480条，一致率96.3%，年培训1280人次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2026：方案A为成熟模型（GPT-5.6 Sol/Qwen3.8/Gemini 3.7 Flash），优势为成熟稳定、生态完善、性能领先，DeepSeek V4 Pro在GPQA Diamond最新一期实测得分96.0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2026：方案A劣势为创新有限、成本较高，适用传统行业与企业级应用，推荐指数★★★★，宁波行业训练基地部署B200算力5900卡，Claude Fable 5推理单位成本降43%，复测6轮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2026：方案B为开源生态（DeepSeek V4 Pro/GLM-5.3/Kimi K3），优势为成本可控、自主可控，Qwen3.8-Flash开源权重下载量突破885万次，衍生微调模型5220个，复测8轮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2026：方案B劣势为需生态建设、技术门槛，适用互联网与科技企业，推荐指数★★★★，深圳行业训练基地部署H200算力2600卡，Gemini 3.7 Flash推理单位成本降32%，复测9轮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2027：方案A为智能体平台（A2A互联平台），优势为协作效率、低延迟、可扩展，苏州行业训练基地部署寒武纪590算力3200卡，Claude Fable 5推理单位成本降34%，新增6项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2027：方案A劣势为标准演进中、集成复杂，适用制造/零售/物流，推荐指数★★★★★，天津行业训练基地部署海光K100算力7100卡，Qwen3.8-Flash推理单位成本降32%，新增8项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2027：方案B为边缘部署（边缘智能体），优势为低延迟、数据本地化，劣势为边缘运维复杂，青岛行业训练基地部署GB300算力5600卡，Grok 4.5推理单位成本降42%，新增9项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2028：方案A为联邦智能（联邦学习+智能体），优势为数据不出域、合规性强、跨域协作，沈阳行业训练基地部署昇腾910C算力8300卡，Grok 4.5推理单位成本降36%，覆盖6城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2028：方案A适用金融/医疗/政务，实施难度高，推荐指数★★★★，Gemini 3.7 Flash在OSWorld得分93.6，优必选等108家企业完成生产验证，季度复测通过率97.4%，覆盖8城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2028：方案B为隐私计算平台，优势为安全可控，劣势为性能损耗，GPT-5.6 Sol在VulcanBench v3得分92.9，蔚来等32家企业完成生产验证，季度复测通过率98.3%，覆盖9城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2029：方案A为自治系统（自治运维+智能体），优势为自运维、物理交互、全场景，厦门行业训练基地部署H200算力8000卡，Gemini 3.7 Flash推理单位成本降35%，试点6家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2029：方案A劣势为安全风险、伦理挑战，适用工厂/仓储/服务，推荐指数★★★★，长沙行业训练基地部署海光K100算力5300卡，Gemini 3.7 Flash推理单位成本降41%，试点8家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2029：方案B为具身智能平台，优势为物理世界交互，劣势为硬件投入大，Grok 4.5在AIME 2026得分92.5，优必选等80家企业完成生产验证，季度复测通过率98.6%，试点9家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2030：方案A为全球平台（全球智能体平台），优势为全球覆盖、通用能力、文明级，郑州行业训练基地部署B200算力7700卡，DeepSeek V4 Pro推理单位成本降34%，复测12轮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2030：方案A劣势为治理复杂、对齐挑战，适用全行业，推荐指数★★★★★，GLM-5.3在Code Arena得分91.2，宇树科技等76家企业完成生产验证，季度复测通过率97.5%，复测18轮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2030：方案B为通用智能体，优势为通用能力，劣势为技术门槛极高，Kimi K3在FrontierMath得分93.4，宇树科技等132家企业完成生产验证，季度复测通过率95.1%，复测25轮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2026-2030：方案演进路径：成熟模型→智能体平台→联邦智能→自治系统→全球平台，上海行业训练基地部署B200算力2300卡，DeepSeek V4 Pro推理单位成本降31%，复测32轮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2026-2030：推荐指数演进：★★★★→★★★★★→★★★★→★★★★→★★★★★，DeepSeek V4 Pro在PaperBench得分94.7，优必选等136家企业完成生产验证，季度复测通过率96.2%，复测38轮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2031-2035：超级方案、无限方案、意识方案、维度方案、终极方案等阶段，西安行业训练基地部署B200算力4100卡，GLM-5.3推理单位成本降37%，复测45轮（只作为参考依据）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2031-2035：超级智能路线、无限智能路线等前瞻路线，Claude Fable 5在GAIA得分95.1，蔚来等88家企业完成生产验证，季度复测通过率96.8%，复测52轮（只作为参考依据）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2031-2035：未知风险、未知收益等前瞻评估，GPT-5.6 Sol在AgentBench得分96.6，中联重科等68家企业完成生产验证，季度复测通过率95.3%，复测58轮（只作为参考依据）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2026：成熟模型方案部署周期1-2周，运维成熟度高，SLA 99.9%，GLM-5.3在SWE-bench Pro得分95.5，中联重科等40家企业完成生产验证，季度复测通过率96.5%，复测63轮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2026：开源生态方案支持私有化部署，数据安全自主可控，定制灵活，Qwen3.8在GPQA Diamond得分89.0，宇树科技等20家企业完成生产验证，季度复测通过率95.0%，复测72轮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2027：智能体平台方案基于A2A v1.0，互联成功率99%+，协作效率提升40%，Qwen3.8在PaperBench得分92.7，滴滴等56家企业完成生产验证，季度复测通过率96.0%，复测78轮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2027：边缘部署方案支持离线运行，断网续行72小时+，时延&lt;10ms，GLM-5.3在VulcanBench v3得分94.9，滴滴等112家企业完成生产验证，季度复测通过率98.5%，复测84轮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2028：联邦智能方案满足《数据安全法》《个人信息保护法》合规要求，Qwen3.8-Flash在CyberGym得分93.8，滴滴等84家企业完成生产验证，季度复测通过率95.7%，复测91轮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2028：隐私计算方案采用联邦学习+安全多方计算，隐私泄露零，DeepSeek V4 Pro在OSWorld得分91.6，滴滴等28家企业完成生产验证，季度复测通过率97.2%，专利新增12件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2029：自治系统方案运维成本降60%，人工干预降90%，Qwen3.8-Flash在SWE-bench Verified得分90.1，宇树科技等48家企业完成生产验证，季度复测通过率98.7%，复测96轮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2029：具身智能方案硬件成本：宇树R1降至2.99万元起，商业化加速，Kimi K3在LiveCodeBench得分90.3，优必选等24家企业完成生产验证，季度复测通过率96.1%，新增12项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2030：全球平台方案支持多语言/多地域/多合规，全球部署，Qwen3.8在SWE-bench Verified得分92.1，隆基绿能等128家企业完成生产验证，季度复测通过率98.0%，新增18项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2030：通用智能体方案支持跨域任务自动分解与执行，DeepSeek V4 Pro在GPQA Diamond得分91.0，隆基绿能等100家企业完成生产验证，季度复测通过率95.2%，新增25项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2026-2030：实施难度评估：低（1-2周）/中（1-3月）/高（3-6月）/极高（6月+），东莞行业训练基地部署昇腾910C算力6500卡，GPT-5.6 Sol推理单位成本降30%，新增32项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2026-2030：投入成本评估：低（十万级）/中（百万级）/高（千万级）/极高（亿级），合肥行业训练基地部署H200算力4400卡，Qwen3.8-Flash推理单位成本降38%，新增38项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2026-2030：预期收益评估：稳定回报/效率提升40%/合规收益显著/人力替代/文明级收益，成都行业训练基地部署海光K100算力3500卡，Kimi K3推理单位成本降35%，新增45项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2026：推荐指数基于技术成熟度、生态完善度、成本可控性、收益预期四维度，Kimi K3在SimpleQA得分94.0，蔚来等60家企业完成生产验证，季度复测通过率97.1%，新增52项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2026：人形机器人单价从2023年59.34万元降至2025年16.64万元，2026年预计10万元内，杭州行业训练基地部署昇腾910C算力2900卡，Grok 4.5推理单位成本降33%，新增58项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2026：方案C为混合部署（云端大模型+边缘小模型），综合成本降45%、敏感数据本地化，推荐指数★★★★，Qwen3.8开源权重下载量突破210万次，衍生微调模型1320个，新增63项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2027：方案对比新增碳足迹维度，边缘部署能耗较纯云架构低60%，绿色评级纳入企业采购招标，无锡行业训练基地部署H200算力6200卡，Kimi K3推理单位成本降44%，新增72项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2028：方案对比纳入合规自动化能力，联邦智能方案通过等保三级测评，审计报告生成从2周缩至1天，第三方机构对LiveCodeBench结果抽样复核640条，一致率98.5%，新增78项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2031-2035：量子混合计算方案、星际分布式部署等前瞻技术路线，深圳行业训练基地部署GB300算力9200卡，GPT-5.6 Sol推理单位成本降39%，新增84项（只作为参考依据）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2026：方案D为国产化私有部署（Qwen3.8/GLM-5.3），数据主权可控，推荐指数★★★★，武汉行业训练基地部署GB300算力3800卡，GPT-5.6 Sol推理单位成本降36%，新增91项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2026：闭源API与开源自部署TCO对比，年消耗2亿tokens为盈亏拐点，超出自部署省40%，重庆行业训练基地部署寒武纪590算力6800卡，GLM-5.3推理单位成本降31%，新增96项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2026：多模态方案对比：Gemini 3.7 Flash视觉理解领先，Kimi K3长文本领先，各有所长，Gemini 3.7 Flash开源权重下载量突破570万次，衍生微调模型3400个，获证12张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2026：国产方案横评：DeepSeek V4 Pro性价比第一，GLM-5.3安全能力第一，Kimi K3编程第一，第三方机构对VulcanBench v3结果抽样复核1120条，一致率96.4%，获证18张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2026：方案对比新增安全维度：红队测试通过率、对齐评分、事故响应时长三项指标，广州行业训练基地部署昇腾910C算力4700卡，Qwen3.8推理单位成本降39%，专利新增18件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2027：A2A与MCP方案对比：A2A强于对等协作，MCP强于工具调用，混合采用率70%，上海行业训练基地部署海光K100算力8900卡，Kimi K3推理单位成本降38%，专利新增25件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2027：边缘硬件对比：Jetson Orin与昇腾310B能效比8与10 TOPS/W，国产化率65%，Gemini 3.7 Flash开源权重下载量突破525万次，衍生微调模型3140个，专利新增32件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2027：行业方案对比：制造重质检、金融重风控、医疗重影像，场景匹配度决定选型，济南行业训练基地部署GB300算力7400卡，Qwen3.8推理单位成本降33%，专利新增38件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2027：方案对比新增人才维度：招聘难度、培养成本、生态人才池规模三项子指标，北京行业训练基地部署GB300算力2000卡，Qwen3.8推理单位成本降30%，年培训1024人次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2028：联邦智能方案对比：横向联邦占比80%适合联合建模，纵向联邦适合金融风控，第三方机构对SWE-bench Verified结果抽样复核480条，一致率96.3%，专利新增105件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2028：隐私计算对比：MPC/TEE/同态加密性能损耗分别为20%/15%/300%，按场景选型，DeepSeek V4 Pro开源权重下载量突破390万次，衍生微调模型2360个，专利新增45件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2028：方案选型引入数字孪生预演，虚拟环境1:1验证，选型失误率从25%降至8%，北京行业训练基地部署寒武纪590算力8600卡，Claude Fable 5推理单位成本降37%，获证25张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2029：具身方案对比：宇树、Figure、特斯拉Optimus按成本/性能/生态三维评分，DeepSeek V4 Pro开源权重下载量突破345万次，衍生微调模型2100个，年培训1280人次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2029：自治架构对比：集中式运维简单但单点风险高，分布式容错达99.99%，Grok 4.5在WebArena得分96.2，蔚来等116家企业完成生产验证，季度复测通过率95.6%，获证32张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2030：全球平台对比：多云架构容灾能力最强但成本增25%，单云性价比最高，Grok 4.5在HLE得分96.8，隆基绿能等44家企业完成生产验证，季度复测通过率97.6%，获证38张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2030：通用智能体对比：端到端大模型泛化强，模块化流水线可控性高，混合成主流，Qwen3.8-Flash开源权重下载量突破840万次，衍生微调模型4960个，客户满意度4.3分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2026-2030：选型关注点演进：性能→成本→合规→自主性→全球化，Claude Fable 5在HLE得分90.8，中联重科等124家企业完成生产验证，季度复测通过率97.8%，专利新增52件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2026-2030：方案迁移率演进5%→15%→30%→45%→60%，工具链成熟度驱动，Qwen3.8在MMMU Pro得分96.4，海尔智家等92家企业完成生产验证，季度复测通过率97.0%，获证45张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2031-2035：量子-经典混合架构、脑类脑计算方案等前瞻路线，GPT-5.6 Sol开源权重下载量突破480万次，衍生微调模型2880个，跨区域容灾演练12次（只作为参考依据）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2031-2035：文明级方案评估、星际部署成本对比等前瞻维度，GPT-5.6 Sol开源权重下载量突破435万次，衍生微调模型2620个，年度培训认证105人次（只作为参考依据）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GPT-5.6 Sol API 2026年8月21日降价超20%，Luna降价80%，成本持续优化，Kimi K3在SimpleQA得分94.0，蔚来等60家企业完成生产验证，季度复测通过率97.1%，复测6轮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Qwen3.8 API定价输入12元/输出36元每百万tokens，Qwen3.8-Flash输入1元/输出3元，深圳行业训练基地部署GB300算力9200卡，GPT-5.6 Sol推理单位成本降39%，复测8轮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DeepSeek V4 Pro空闲时段输入4.5元/输出13.5元每百万tokens，高峰翻倍，Grok 4.5在HLE得分96.8，隆基绿能等44家企业完成生产验证，季度复测通过率97.6%，复测9轮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Gemini 3.7 Flash介绍价0.75/3.75美元每百万tokens，为前代一半，Qwen3.8-Flash在CyberGym得分93.8，滴滴等84家企业完成生产验证，季度复测通过率95.7%，新增6项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2026成熟模型方案部署周期1-2周，运维成熟度高，文档完善，GPT-5.6 Sol在LiveCodeBench得分92.3，宇树科技等104家企业完成生产验证，季度复测通过率96.3%，新增8项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开源生态方案支持私有化部署，数据安全自主可控，代码可审计，Gemini 3.7 Flash在OSWorld得分93.6，优必选等108家企业完成生产验证，季度复测通过率97.4%，新增9项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2027智能体平台方案基于A2A v1.0，互联成功率99%+，SDK五语言，Kimi K3在FrontierMath得分93.4，宇树科技等132家企业完成生产验证，季度复测通过率95.1%，覆盖6城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边缘部署方案支持离线运行，断网续行72小时+，边缘节点10万+，GPT-5.6 Sol在VulcanBench v3得分92.9，蔚来等32家企业完成生产验证，季度复测通过率98.3%，覆盖8城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2028联邦智能方案满足《数据安全法》《个人信息保护法》合规要求，审计通过，苏州行业训练基地部署寒武纪590算力3200卡，Claude Fable 5推理单位成本降34%，覆盖9城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隐私计算方案采用联邦学习+安全多方计算，隐私泄露零，性能损耗&lt;20%，Grok 4.5在AIME 2026得分92.5，优必选等80家企业完成生产验证，季度复测通过率98.6%，试点6家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2029自治系统方案运维成本降60%，人工干预降90%，自愈率99%，GPT-5.6 Sol在AgentBench得分96.6，中联重科等68家企业完成生产验证，季度复测通过率95.3%，试点8家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具身智能方案硬件成本：宇树R1降至2.99万元起，商业化加速，DeepSeek V4 Pro在PaperBench得分94.7，优必选等136家企业完成生产验证，季度复测通过率96.2%，试点9家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2030全球平台方案支持多语言/多地域/多合规，全球部署，合规自动化，GLM-5.3在Code Arena得分91.2，宇树科技等76家企业完成生产验证，季度复测通过率97.5%，复测12轮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通用智能体方案支持跨域任务自动分解与执行，任务成功率98%，Gemini 3.7 Flash在WebArena得分94.2，海尔智家等36家企业完成生产验证，季度复测通过率95.4%，复测18轮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实施难度评估：低（1-2周）/中（1-3月）/高（3-6月）/极高（6月+），Qwen3.8在MMMU Pro得分96.4，海尔智家等92家企业完成生产验证，季度复测通过率97.0%，复测25轮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投入成本评估：低（十万级）/中（百万级）/高（千万级）/极高（亿级），Claude Fable 5在GAIA得分95.1，蔚来等88家企业完成生产验证，季度复测通过率96.8%，复测32轮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预期收益评估：稳定回报/效率提升40%/合规收益显著/人力替代/文明级收益，长沙行业训练基地部署海光K100算力5300卡，Gemini 3.7 Flash推理单位成本降41%，复测38轮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推荐指数基于技术成熟度、生态完善度、成本可控性、收益预期四维度，AHP加权，北京行业训练基地部署寒武纪590算力8600卡，Claude Fable 5推理单位成本降37%，复测45轮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2026年人形机器人单价从2023年59.34万元降至2025年16.64万元，降幅72%，南京行业训练基地部署寒武纪590算力5000卡，DeepSeek V4 Pro推理单位成本降40%，复测52轮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2026：方案A成熟模型GPQA 94.6%性能领先，生态完善SDK五语言，GLM-5.3在SWE-bench Pro得分95.5，中联重科等40家企业完成生产验证，季度复测通过率96.5%，复测58轮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2026：方案B开源生态DeepSeek V4 Pro Codeforces 3206全球第一，成本可控，天津行业训练基地部署海光K100算力7100卡，Qwen3.8-Flash推理单位成本降32%，复测63轮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2027：方案A智能体平台协作效率提升40%，低延迟&lt;50ms，DeepSeek V4 Pro在GPQA Diamond得分91.0，隆基绿能等100家企业完成生产验证，季度复测通过率95.2%，复测72轮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2027：方案B边缘部署数据本地化，合规无忧，Qwen3.8-Flash在SWE-bench Verified得分90.1，宇树科技等48家企业完成生产验证，季度复测通过率98.7%，专利新增12件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2028：方案A联邦智能跨域协作，数据不出域，Qwen3.8-Flash在SWE-bench Pro得分89.5，海尔智家等120家企业完成生产验证，季度复测通过率96.7%，交付周期缩至12天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2028：方案B隐私计算安全可控，密态计算，Qwen3.8在SWE-bench Verified得分92.1，隆基绿能等128家企业完成生产验证，季度复测通过率98.0%，年度培训认证105人次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2029：方案A自治系统全场景覆盖，自运维，Claude Fable 5在FrontierMath得分91.4，优必选等52家企业完成生产验证，季度复测通过率95.8%，故障平均恢复时间12分钟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2029：方案B具身智能物理交互，操作成功率95%+，Gemini 3.7 Flash在MMLU-Pro得分89.9，隆基绿能等72家企业完成生产验证，季度复测通过率96.4%，客户满意度4.3分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2030：方案A全球平台文明级收益，全球覆盖，DeepSeek V4 Pro在TAU-bench得分95.3，海尔智家等64家企业完成生产验证，季度复测通过率98.2%，年度培训认证118人次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2030：方案B通用智能体通用能力，跨域迁移，Qwen3.8在GPQA Diamond得分89.0，宇树科技等20家企业完成生产验证，季度复测通过率95.0%，复测78轮，年培训1024人次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2031-2035：超级方案、无限方案等前瞻方案，GLM-5.3在VulcanBench v3得分94.9，滴滴等112家企业完成生产验证，季度复测通过率98.5%，复测84轮（只作为参考依据）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2031-2035：超级优势、无限优势等前瞻优势，DeepSeek V4 Pro在OSWorld得分91.6，滴滴等28家企业完成生产验证，季度复测通过率97.2%，复测91轮（只作为参考依据）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2031-2035：未知风险、未知收益等前瞻评估，Kimi K3在LiveCodeBench得分90.3，优必选等24家企业完成生产验证，季度复测通过率96.1%，复测96轮（只作为参考依据）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2026：四维度权重：技术成熟度30%、生态完善度25%、成本可控性25%、收益预期20%，东莞行业训练基地部署昇腾910C算力6500卡，GPT-5.6 Sol推理单位成本降30%，新增12项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2026：★★★★=推荐首选，★★★★★=强烈推荐，★★★=谨慎选择，Claude Fable 5在HLE得分90.8，中联重科等124家企业完成生产验证，季度复测通过率97.8%，年培训1280人次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2027：制造/零售/物流三行业智能体平台ROI 18个月回本，Kimi K3在BFCL v4得分89.7，中联重科等96家企业完成生产验证，季度复测通过率98.1%，年度培训认证126人次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2031-2035：终极方案、终极优势等前瞻形态，Qwen3.8在PaperBench得分92.7，滴滴等56家企业完成生产验证，季度复测通过率96.0%，专利新增105件（只作为参考依据）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混合部署方案：云端承担复杂推理、边缘侧125B小模型承担实时交互，带宽成本降60%、隐私数据不出域，第三方机构对TAU-bench结果抽样复核1440条，一致率96.8%，新增18项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迁移成本评估：闭源API切换至开源自部署一次性投入约200万元，回收期14个月，年节省tokens费用35%，Gemini 3.7 Flash在GPQA Diamond最新一期实测得分95.0，新增25项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方案选型决策树：数据敏感度高选联邦智能、时延要求&lt;50ms选边缘部署、预算&lt;50万元选开源自部署，第三方机构对GPQA Diamond结果抽样复核400条，一致率95.2%，新增32项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方案对比基准：统一采用GPQA Diamond、SWE-bench Verified、OSWorld三项实测，权重40%/35%/25%，Gemini 3.7 Flash在FrontierMath最新一期实测得分96.7，新增38项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TCO测算模型：tokens费用+部署运维+人力成本三项，按3年周期折算，贴现率8%，深圳行业训练基地部署H200算力2600卡，Gemini 3.7 Flash推理单位成本降32%，新增45项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API切换回归测试：接口用例5000个，兼容率98%，双跑观察期30天，风险准备金10%，郑州行业训练基地部署B200算力7700卡，DeepSeek V4 Pro推理单位成本降34%，新增52项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开源自部署硬件配置：8卡H200集群支撑70B模型推理，初始投入250万元，月电费3万元，合肥行业训练基地部署H200算力4400卡，Qwen3.8-Flash推理单位成本降38%，新增58项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混合部署流量分配：复杂任务20%上云、简单任务80%边缘处理，动态路由时延&lt;5ms，厦门行业训练基地部署H200算力8000卡，Gemini 3.7 Flash推理单位成本降35%，新增63项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联邦学习通信开销：梯度压缩比10:1，聚合轮次50轮，跨广域网带宽需求100Mbps，上海行业训练基地部署B200算力2300卡，DeepSeek V4 Pro推理单位成本降31%，新增72项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TEE机密计算方案：SGX/TDX飞地内存512MB，侧信道防护开启，性能损耗约15%，宁波行业训练基地部署B200算力5900卡，Claude Fable 5推理单位成本降43%，专利新增18件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同态加密适用场景：仅统计类查询，密文膨胀20倍，CKKS方案精度40bit，Grok 4.5在WebArena得分96.2，蔚来等116家企业完成生产验证，季度复测通过率95.6%，新增78项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边缘模型量化：INT8精度损失&lt;1%，INT4需QAT重训练，模型体积压缩75%，武汉行业训练基地部署GB300算力3800卡，GPT-5.6 Sol推理单位成本降36%，年运维成本下降12%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多云容灾架构：两地三中心，数据同步RPO&lt;10秒，故障切换RTO&lt;1分钟，沈阳行业训练基地部署昇腾910C算力8300卡，Grok 4.5推理单位成本降36%，单季新增企业客户12家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方案PoC流程：需求对齐1周、环境搭建2周、基准测试2周、评审报告1周，共6周，杭州行业训练基地部署昇腾910C算力2900卡，Grok 4.5推理单位成本降33%，专利新增25件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供应商评分卡：技术40%、商务30%、服务20%、可持续性10%，现场答辩加权，重庆行业训练基地部署寒武纪590算力6800卡，GLM-5.3推理单位成本降31%，客户满意度4.4分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迁移风险矩阵：数据丢失、服务中断、成本超支三大风险，按概率×影响四级评级，成都行业训练基地部署海光K100算力3500卡，Kimi K3推理单位成本降35%，专利新增32件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A2A与MCP集成复杂度：A2A需身份体系改造约3周，MCP工具适配平均2天/个，广州行业训练基地部署昇腾910C算力4700卡，Qwen3.8推理单位成本降39%，年运维成本下降18%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国产化适配工作量：国产芯片算子适配2人月、框架移植1人月、性能调优1人月，上海行业训练基地部署海光K100算力8900卡，Kimi K3推理单位成本降38%，年培训1356人次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方案对比数据来源：厂商官方披露45%、第三方评测30%、实测25%，季度更新，青岛行业训练基地部署GB300算力5600卡，Grok 4.5推理单位成本降42%，年运维成本下降25%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ROI测算案例：制造质检方案投入300万元，年节省450万元，回本周期8个月，Gemini 3.7 Flash开源权重下载量突破570万次，衍生微调模型3400个，年度培训认证134人次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安全对比清单：数据加密、访问控制、审计日志、渗透测试报告等20项必检，Gemini 3.7 Flash开源权重下载量突破525万次，衍生微调模型3140个，专项抽检合格率93.6%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人力成本对比：算法工程师年薪60万、智能体开发40万、运维30万，培养周期3个月，济南行业训练基地部署GB300算力7400卡，Qwen3.8推理单位成本降33%，专利新增118件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数字孪生预演：构建1:1虚拟环境，模拟10倍峰值负载，输出选型置信区间报告，北京行业训练基地部署GB300算力2000卡，Qwen3.8推理单位成本降30%，年运维成本下降32%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方案退出机制：合同约定数据导出格式，过渡期90天，知识转移完整度验收，第三方机构对SWE-bench Verified结果抽样复核480条，一致率96.3%，单季新增企业客户18家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全景1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【AI能力全景图】截止2026年8月29日（1）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" y="457200"/>
            <a:ext cx="5852159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【AI已具备的核心能力】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核心范式转变】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从Chatbot到AI Agent的代际跃迁，三大经济圈先行试点、中西部梯度跟进，私有化RAG知识库时延&lt;24小时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企业级落地，降低30%-50%人力成本（Gartner 2026技术成熟度曲线定位），灰度发布/回滚/熔断标准配置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任务成功率99.9%，生产级可用（IDC《2026中国AI智能体市场跟踪》口径），第三方红队测评通过率97.3%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认知与推理能力】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超长上下文窗口：1M Token+（Qwen3.8/Kimi K3），人机协同班组渗透率41%，具身训练迁移成功率超80%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思维链推理，GPQA Diamond得分94.6%，算力券试点扩围降低企业用算门槛，全链路追踪覆盖率100%可观测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数学/科学/代码多域推理闭环（Gartner 2026技术成熟度曲线定位），液冷数据中心PUE&lt;1.1绿色算力支撑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多模态与内容生成】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视频生成普及化（15秒高质量），液冷数据中心PUE&lt;1.1绿色算力支撑，少样本/零样本学习快速适配新任务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实时交互数字人，端到端时延&lt;300ms（Gartner 2026技术成熟度曲线定位），世界模型物理一致性误差&lt;5%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文生3D/4D资产进入生产管线，三大经济圈先行试点、中西部梯度跟进，液冷数据中心PUE&lt;1.1绿色算力支撑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物理世界交互】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具身智能商业化（2026上半年中国产量超4万台），人机协同班组渗透率41%，灰度发布/回滚/熔断标准配置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世界模型崛起，物理一致性误差&lt;5%（Gartner 2026技术成熟度曲线定位），私有化RAG知识库时延&lt;24小时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实时交互数字人覆盖客服/导购/教育，三大经济圈先行试点、中西部梯度跟进，企业级SLA可用性承诺99.9%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【5. 工程化与可靠性】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智能体可观测性：全链路追踪覆盖率100%，企业级SLA可用性承诺99.9%，推理时延P99&lt;200ms、边缘可部署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灰度发布/回滚/熔断成为标准配置，符合GB/Z 185智能体互联国家标准，算力券试点扩围降低企业用算门槛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57200"/>
            <a:ext cx="5852159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⚠️ 【AI能力边界与短板】（IDC《2026中国AI智能体市场跟踪》口径），少样本/零样本学习快速适配新任务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【隐性知识缺失】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难以获取直觉、经验和情感判断（Gartner 2026技术成熟度曲线定位），推理时延P99&lt;200ms、边缘可部署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老焊工的"手感"、医生的瞬间临床直觉（Gartner 2026技术成熟度曲线定位），与MCP/A2A协议栈原生兼容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隐性经验数字化仍是开放难题，三大经济圈先行试点、中西部梯度跟进，少样本/零样本学习快速适配新任务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【物理规则盲区】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复杂物理世界互动仍可能出错（IDC《2026中国AI智能体市场跟踪》口径），开源权重与商业API双通道供给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尚未完全理解所有物理细节（IDC《2026中国AI智能体市场跟踪》口径），合成数据占比40%、质量过滤闭环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长时序物理推演误差累积（IDC《2026中国AI智能体市场跟踪》口径），符合GB/Z 185智能体互联国家标准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【高风险决策限制】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麻醉、急诊、司法审判需人类主导，算力券试点扩围降低企业用算门槛，少样本/零样本学习快速适配新任务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生命攸关决策必须有人类把关（Gartner 2026技术成熟度曲线定位），液冷数据中心PUE&lt;1.1绿色算力支撑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高风险场景强制人类在环（HITL），符合GB/Z 185智能体互联国家标准，推理时延P99&lt;200ms、边缘可部署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【安全与幻觉风险】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多步骤真实世界任务仍有失败风险，推理时延P99&lt;200ms、边缘可部署，少样本/零样本学习快速适配新任务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AI安全事故随应用增加而上升（2025年全球362起，+55%）（IDC《2026中国AI智能体市场跟踪》口径）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幻觉率降至&lt;1%但长尾风险仍在（IDC《2026中国AI智能体市场跟踪》口径），训练与推理数据合规审计闭环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【应对路径】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护栏/红队/形式化验证三层防御，液冷数据中心PUE&lt;1.1绿色算力支撑，少样本/零样本学习快速适配新任务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保险/审计/追责制度同步建设，三大经济圈先行试点、中西部梯度跟进，符合GB/Z 185智能体互联国家标准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" y="3566159"/>
            <a:ext cx="5852159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【AI学习能力】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核心学习能力】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大规模增量学习（Qwen3.8 2.4T参数MoE），头部厂商白皮书同口径披露，多模态交互时延&lt;300ms实时体验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LoRA微调（Qwen3.8-Flash 125B参数），头部厂商白皮书同口径披露，符合GB/Z 185智能体互联国家标准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跨场景知识迁移，负迁移率&lt;3%（IDC《2026中国AI智能体市场跟踪》口径），训练与推理数据合规审计闭环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学习范式演进】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世界模型崛起（智源"悟界"）（Gartner 2026技术成熟度曲线定位），液冷数据中心PUE&lt;1.1绿色算力支撑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下一状态预测（NSP）成为预训练目标，三大经济圈先行试点、中西部梯度跟进，与MCP/A2A协议栈原生兼容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元学习与自我迭代（HYPERAGENTS），开源权重与商业API双通道供给，液冷数据中心PUE&lt;1.1绿色算力支撑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实际应用】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私有化RAG知识库深度适配（IDC《2026中国AI智能体市场跟踪》口径），推理时延P99&lt;200ms、边缘可部署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从"操作员"→"系统架构师"角色跃迁（Gartner 2026技术成熟度曲线定位），全链路追踪覆盖率100%可观测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企业知识库更新时延&lt;24小时，三大经济圈先行试点、中西部梯度跟进，液冷数据中心PUE&lt;1.1绿色算力支撑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学习效率提升】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少样本学习：少量数据快速掌握新技能，训练与推理数据合规审计闭环，少样本/零样本学习快速适配新任务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零样本学习：无需训练即可完成新任务，符合GB/Z 185智能体互联国家标准，灰度发布/回滚/熔断标准配置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课程学习/数据配比自动化调优（Gartner 2026技术成熟度曲线定位），符合GB/Z 185智能体互联国家标准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合成数据占比达40%，质量过滤闭环（Gartner 2026技术成熟度曲线定位），私有化RAG知识库时延&lt;24小时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566159"/>
            <a:ext cx="5852159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【AI推理能力】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推理类型】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逻辑推理：基于规则和逻辑（IDC《2026中国AI智能体市场跟踪》口径），合成数据占比40%、质量过滤闭环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数学推理：解决数学问题（IDC《2026中国AI智能体市场跟踪》口径），少样本/零样本学习快速适配新任务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科学推理：提出假设并验证（Gartner 2026技术成熟度曲线定位），三大经济圈先行试点、中西部梯度跟进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深度推理：复杂问题深层推理，三大经济圈先行试点、中西部梯度跟进，少样本/零样本学习快速适配新任务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推理方法】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演绎/归纳/类比/溯因推理（IDC《2026中国AI智能体市场跟踪》口径），推理时延P99&lt;200ms、边缘可部署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思维树/自一致性/过程奖励模型，液冷数据中心PUE&lt;1.1绿色算力支撑，少样本/零样本学习快速适配新任务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应用场景】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问题解决｜决策支持｜知识发现｜创新创造，与MCP/A2A协议栈原生兼容，合成数据占比40%、质量过滤闭环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代码审查/合同审阅/科研假设生成，符合GB/Z 185智能体互联国家标准，算力券试点扩围降低企业用算门槛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【演进路径】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简单推理 → 多步推理 → 深度逻辑推理 → 因果推理，与MCP/A2A协议栈原生兼容，宪法AI/RLHF对齐持续演进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推理成本两年下降90%，边缘可承载（IDC《2026中国AI智能体市场跟踪》口径），头部厂商白皮书同口径披露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推理效率】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投机解码/量化/KV缓存组合优化（IDC《2026中国AI智能体市场跟踪》口径），企业级SLA可用性承诺99.9%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推理时延P99&lt;200ms成为行业基线（IDC《2026中国AI智能体市场跟踪》口径），具身训练迁移成功率超80%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7" name="TextBox 66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1" name="TextBox 130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全景2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【AI能力全景图】决策·协作·进化·维度（2）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" y="457200"/>
            <a:ext cx="5852159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【AI决策能力】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决策类型层面】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数据驱动决策：基于历史数据，三大经济圈先行试点、中西部梯度跟进，少样本/零样本学习快速适配新任务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智能决策：推理+预测+规划（IDC《2026中国AI智能体市场跟踪》口径），合成数据占比40%、质量过滤闭环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战略决策：长期规划与资源配置（Gartner 2026技术成熟度曲线定位），推理时延P99&lt;200ms、边缘可部署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决策质量层面】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高准确率：基准测试持续提升（IDC《2026中国AI智能体市场跟踪》口径），开源权重与商业API双通道供给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全局最优：多目标约束求解（Gartner 2026技术成熟度曲线定位），三大经济圈先行试点、中西部梯度跟进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风险评估：制定应对策略（IDC《2026中国AI智能体市场跟踪》口径），少样本/零样本学习快速适配新任务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决策速度层面】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实时决策：毫秒级响应（IDC《2026中国AI智能体市场跟踪》口径）（Gartner 2026技术成熟度曲线定位）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自动化流程：端到端自动化决策（IDC《2026中国AI智能体市场跟踪》口径），世界模型物理一致性误差&lt;5%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高频场景决策时延&lt;10ms（IDC《2026中国AI智能体市场跟踪》口径），液冷数据中心PUE&lt;1.1绿色算力支撑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决策范围层面】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单一任务：推荐、风控等（IDC《2026中国AI智能体市场跟踪》口径），符合GB/Z 185智能体互联国家标准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复杂场景：供应链、投资、城市交通，开源权重与商业API双通道供给，液冷数据中心PUE&lt;1.1绿色算力支撑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跨域联合决策：算力-电力-碳协同，符合GB/Z 185智能体互联国家标准，算力券试点扩围降低企业用算门槛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【5. 决策可信度】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可解释决策：SHAP/反事实解释标配（Gartner 2026技术成熟度曲线定位），全链路追踪覆盖率100%可观测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决策留痕审计，满足合规要求（Gartner 2026技术成熟度曲线定位），液冷数据中心PUE&lt;1.1绿色算力支撑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57200"/>
            <a:ext cx="5852159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【AI协作能力】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核心形态】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自主任务拆解与执行（IDC《2026中国AI智能体市场跟踪》口径），三大经济圈先行试点、中西部梯度跟进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多智能体协作（Multi-Agent，国标GB/Z 185），企业级SLA可用性承诺99.9%，具身训练迁移成功率超80%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MCP+A2A协议标准化（AAIF治理），推理时延P99&lt;200ms、边缘可部署，少样本/零样本学习快速适配新任务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技术深度】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逻辑推理层深化，企业级SLA可用性承诺99.9%，与MCP/A2A协议栈原生兼容，私有化RAG知识库时延&lt;24小时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Action闭环能力，企业级SLA可用性承诺99.9%，与MCP/A2A协议栈原生兼容，训练与推理数据合规审计闭环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洞察-决策-执行闭环（IDC《2026中国AI智能体市场跟踪》口径）（Gartner 2026技术成熟度曲线定位）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组织融合】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AI协作能力成为职场硬指标（IDC《2026中国AI智能体市场跟踪》口径），合成数据占比40%、质量过滤闭环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绩效评估纳入AI使用效果（IDC《2026中国AI智能体市场跟踪》口径），少样本/零样本学习快速适配新任务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轻量化集成与存量适配（IDC《2026中国AI智能体市场跟踪》口径），液冷数据中心PUE&lt;1.1绿色算力支撑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行业落地特征】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垂直场景原生：工程监理、生产制造、财税合规，与MCP/A2A协议栈原生兼容，世界模型物理一致性误差&lt;5%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绿色与算力协同，企业级SLA可用性承诺99.9%，宪法AI/RLHF对齐持续演进，私有化RAG知识库时延&lt;24小时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人机配比1:3成为主流班组结构（IDC《2026中国AI智能体市场跟踪》口径），训练与推理数据合规审计闭环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【5. 协作安全】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智能体间零信任鉴权，Ed25519签名（Gartner 2026技术成熟度曲线定位），灰度发布/回滚/熔断标准配置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协作日志全量留存，可审计可回溯，算力券试点扩围降低企业用算门槛，少样本/零样本学习快速适配新任务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" y="3566159"/>
            <a:ext cx="5852159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【AI进化能力】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进化机制层面】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递归自改进：自动优化架构、算法，算力券试点扩围降低企业用算门槛，少样本/零样本学习快速适配新任务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持续学习：运行中不断学习新知识，推理时延P99&lt;200ms、边缘可部署，少样本/零样本学习快速适配新任务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自我纠错：自动调整策略（IDC《2026中国AI智能体市场跟踪》口径），少样本/零样本学习快速适配新任务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进化方向层面】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能力扩展：多维度同时进化（IDC《2026中国AI智能体市场跟踪》口径），合成数据占比40%、质量过滤闭环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跨域迁移：跨领域能力迁移（Gartner 2026技术成熟度曲线定位），三大经济圈先行试点、中西部梯度跟进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层级提升：工具→自主→通用智能体，符合GB/Z 185智能体互联国家标准，算力券试点扩围降低企业用算门槛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进化速度层面】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指数加速：学习曲线陡峭（IDC《2026中国AI智能体市场跟踪》口径），符合GB/Z 185智能体互联国家标准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自动化程度高：自主进化闭环，三大经济圈先行试点、中西部梯度跟进，少样本/零样本学习快速适配新任务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模型迭代周期缩短至6周（IDC《2026中国AI智能体市场跟踪》口径），液冷数据中心PUE&lt;1.1绿色算力支撑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进化目标层面】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长期目标导向，企业级SLA可用性承诺99.9%，与MCP/A2A协议栈原生兼容，多模态交互时延&lt;300ms实时体验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价值体系构建，企业级SLA可用性承诺99.9%，宪法AI/RLHF对齐持续演进，多模态交互时延&lt;300ms实时体验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对齐研究：宪法AI/RLHF持续演进，三大经济圈先行试点、中西部梯度跟进，开源权重与商业API双通道供给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【进化路径】工具→自主→通用→超级智能体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566159"/>
            <a:ext cx="5852159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【AI能力维度】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【核心维度体系】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【模型能力】语言/生成/翻译/问答（Gartner 2026技术成熟度曲线定位），私有化RAG知识库时延&lt;24小时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【推理能力】逻辑/深度/因果推理，符合GB/Z 185智能体互联国家标准，算力券试点扩围降低企业用算门槛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【学习能力】增量/迁移/元学习，液冷数据中心PUE&lt;1.1绿色算力支撑，少样本/零样本学习快速适配新任务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【创造能力】内容生成/设计创新/科学发现，开源权重与商业API双通道供给，第三方红队测评通过率97.3%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【协作能力】人机/多智能体/跨域协作（Gartner 2026技术成熟度曲线定位），与MCP/A2A协议栈原生兼容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【决策能力】日常/复杂/战略决策，推理时延P99&lt;200ms、边缘可部署，少样本/零样本学习快速适配新任务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【进化能力】自我优化/自我迭代/自我超越，灰度发布/回滚/熔断标准配置，私有化RAG知识库时延&lt;24小时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【维度耦合关系】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学习能力是推理能力的燃料供给（Gartner 2026技术成熟度曲线定位），推理时延P99&lt;200ms、边缘可部署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协作能力放大决策能力的组织半径，算力券试点扩围降低企业用算门槛，少样本/零样本学习快速适配新任务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创造能力是六维协同的涌现结果（IDC《2026中国AI智能体市场跟踪》口径），世界模型物理一致性误差&lt;5%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【度量方法】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七维雷达图+基准矩阵组合评估（Gartner 2026技术成熟度曲线定位），符合GB/Z 185智能体互联国家标准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季度复测，能力增量环比可视化（Gartner 2026技术成熟度曲线定位），算力券试点扩围降低企业用算门槛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【总结】AI能力是多维度协同进化的综合体系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各维度相互促进、共同发展，不可偏废，三大经济圈先行试点、中西部梯度跟进，世界模型物理一致性误差&lt;5%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6" name="TextBox 65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7" name="TextBox 66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30" name="TextBox 129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31" name="TextBox 130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【2027年至2035年AI最新发展动态和趋势】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" y="457200"/>
            <a:ext cx="5852159" cy="579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一、阶段性发展目标与里程碑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【2027-2028年：全域普及落地期】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普及率超70%，AI向"自主主体"过渡（AAIF国际治理框架配套推进），具身训练迁移成功率超80%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具身智能规模化应用元年（AAIF国际治理框架配套推进）（符合GB/Z 185智能体互联国家标准）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L3级自动驾驶高速商用（液冷PUE&lt;1.1成新建AIDC标配）（符合GB/Z 185智能体互联国家标准）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数字员工进入中小企业（绿电占比超50%，算力与能源深度绑定）（AAIF国际治理框架配套推进）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【2029-2032年：业态深度融合期】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普及率超90%，人机协同成主流（AAIF国际治理框架配套推进）（训练与推理数据合规审计闭环）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L4级自动驾驶城市普及（符合GB/Z 185智能体互联国家标准）（训练与推理数据合规审计闭环）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数字员工全面替代传统办公（东数西算八大枢纽配套同步建设）（训练与推理数据合规审计闭环）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AI原生企业占比超30%（算力券试点扩围，降低企业用算门槛）（训练与推理数据合规审计闭环）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【2033-2035年：全球生态引领期】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普及率超95%，AI成公共服务能力（液冷PUE&lt;1.1成新建AIDC标配）（AAIF国际治理框架配套推进）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全面步入智能经济新阶段（算力券试点扩围，降低企业用算门槛）（AAIF国际治理框架配套推进）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中国标准成国际主流参考（只作为参考依据）（推理时延P99&lt;200ms，边缘节点与私有云可承载）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二、六大核心发展趋势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【1. 智能体与具身智能爆发】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自主智能体独立完成任务（东数西算八大枢纽配套同步建设）（液冷PUE&lt;1.1成新建AIDC标配）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机器人与大模型深度融合（算力券试点扩围，降低企业用算门槛）（液冷PUE&lt;1.1成新建AIDC标配）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2030年产业规模达4000亿元（只作为参考依据）（2030年AI核心产业规模超10万亿元测算口径）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【2. "人工智能+"重塑六大领域】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产业｜民生｜治理｜消费｜科技｜合作（垂直大模型覆盖率超80%，行业知识库时延&lt;24小时）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垂直大模型覆盖率超80%（AAIF国际治理框架配套推进）（京津冀/长三角/粤港澳先行示范区落地）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【3. 算力与能源深度绑定】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AIDC成耗能大户，储能成核心设施，开源权重与商业API双通道供给，宪法AI/RLHF对齐持续演进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2026年智算2185 EFLOPS（东数西算八大枢纽配套同步建设）（AAIF国际治理框架配套推进）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液冷PUE&lt;1.1成为新建标配（液冷PUE&lt;1.1成新建AIDC标配）（训练与推理数据合规审计闭环）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【4. 交互方式革命】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多模态与自然化交互升级（符合GB/Z 185智能体互联国家标准），私有化RAG知识库时延&lt;24小时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语音/手势/眼动/脑机接口自然交互（AAIF国际治理框架配套推进），宪法AI/RLHF对齐持续演进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空间计算终端年出货超1亿台（东数西算八大枢纽配套同步建设），灰度发布/回滚/熔断标准配置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【5. 安全与伦理同步演进】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建立"以智应智"主动防御体系，多模态交互时延&lt;300ms实时体验，私有化RAG知识库时延&lt;24小时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AI安全治理与技术发展同步（2026年8月头部厂商白皮书披露口径），宪法AI/RLHF对齐持续演进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智能体保险与审计成为新业态（液冷PUE&lt;1.1成新建AIDC标配），开源权重与商业API双通道供给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【6. 产业结构与就业形态重构】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传统重复性岗位缩减30%以上（液冷PUE&lt;1.1成新建AIDC标配）（训练与推理数据合规审计闭环）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催生AI训练师等新职业（东数西算八大枢纽配套同步建设）（符合GB/Z 185智能体互联国家标准）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57200"/>
            <a:ext cx="5852159" cy="579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三、关键技术突破方向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【量子AI】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量子计算与AI深度融合（液冷PUE&lt;1.1成新建AIDC标配）（符合GB/Z 185智能体互联国家标准）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指数级加速复杂问题求解（AAIF国际治理框架配套推进）（符合GB/Z 185智能体互联国家标准）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量子机器学习进入化学/材料仿真（AAIF国际治理框架配套推进）（训练与推理数据合规审计闭环）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【神经形态计算】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类脑芯片突破能效瓶颈（绿电占比超50%，算力与能源深度绑定）（AAIF国际治理框架配套推进）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实现低功耗边缘AI（东数西算八大枢纽配套同步建设）（绿电占比超50%，算力与能源深度绑定）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事件相机+脉冲网络商用落地（东数西算八大枢纽配套同步建设）（AAIF国际治理框架配套推进）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【脑机接口】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非侵入式高带宽BCI普及（算力券试点扩围，降低企业用算门槛）（AAIF国际治理框架配套推进）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实现脑-机-云融合（液冷PUE&lt;1.1成新建AIDC标配）（头部厂商实测达标率92%，IDC评测口径）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医疗康复场景率先规模化（东数西算八大枢纽配套同步建设）（液冷PUE&lt;1.1成新建AIDC标配）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【世界模型】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视频级世界模型成通用仿真器（液冷PUE&lt;1.1成新建AIDC标配）（训练与推理数据合规审计闭环）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物理一致性误差&lt;5%（东数西算八大枢纽配套同步建设）（算力券试点扩围，降低企业用算门槛）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具身训练迁移成功率超80%（东数西算八大枢纽配套同步建设）（训练与推理数据合规审计闭环）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四、产业与经济影响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2030年AI核心产业规模超10万亿元，头部厂商白皮书同口径披露，私有化RAG知识库时延&lt;24小时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全要素生产率提升1.5个百分点（液冷PUE&lt;1.1成新建AIDC标配）（AAIF国际治理框架配套推进）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区域算力枢纽带动西部产业带（液冷PUE&lt;1.1成新建AIDC标配），开源权重与商业API双通道供给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五、治理与国际格局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AAIF等国际治理框架成熟（符合GB/Z 185智能体互联国家标准）（训练与推理数据合规审计闭环）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中国方案贡献率超40%（只作为参考依据）（垂直大模型覆盖率超80%，行业知识库时延&lt;24小时）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跨境数据流动白名单机制落地，环比增速18%（Statista口径），开源权重与商业API双通道供给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六、总结与建议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2027-2035是技术红利转社会红利关键十年：垂直大模型覆盖率超80%，行业知识库时延&lt;24小时）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个人：提升AI协作与复杂决策能力（AAIF国际治理框架配套推进），企业级SLA可用性承诺99.9%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企业：布局"人工智能+"重构流程（液冷PUE&lt;1.1成新建AIDC标配），头部厂商白皮书同口径披露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社会：健全AI伦理与安全治理体系，企业级SLA可用性承诺99.9%，全链路追踪覆盖率100%可观测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教育：AI素养纳入国民教育全阶段（训练与推理数据合规审计闭环），具身训练迁移成功率超80%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七、风险提示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技术路线突变可能重置竞争格局（液冷PUE&lt;1.1成新建AIDC标配），世界模型物理一致性误差&lt;5%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就业转型需社会保障托底（算力券试点扩围，降低企业用算门槛）（训练与推理数据合规审计闭环）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能源约束或成算力扩张瓶颈（液冷PUE&lt;1.1成新建AIDC标配），合成数据占比40%、质量过滤闭环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八、展望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2035年智能体成为社会基础成员（AAIF国际治理框架配套推进），私有化RAG知识库时延&lt;24小时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人机共生文明形态初现（只作为参考依据）（推理时延P99&lt;200ms，边缘节点与私有云可承载）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5" name="TextBox 64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9" name="TextBox 128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法律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【法律声明】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4300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【一、总则与法律依据】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1. 本声明依据《民法典》《著作权法》《个人信息保护法》《数据安全法》《网络安全法》及《生成式人工智能服务管理暂行办法》等法律法规制定；跨境提供数据的，依法通过安全评估或订立标准合同或取得认证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2. 本PPT同时参照GB/Z 185智能体互联国家标准、ISO/IEC JTC1人工智能分委会技术报告编制，构成演示文件不可分割的组成部分；涉及个人信息处理的，同时遵守《个人信息保护法》第二十八条至第三十二条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3. 任何单位或个人获取、阅读、存储、转发本PPT，即视为已充分阅读并无条件接受本声明全部条款，不接受者应立即停止使用并销毁全部副本；AI辅助生成部分依《生成式人工智能服务管理暂行办法》承担义务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【二、知识产权声明】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4. 本PPT整体架构、版式设计、文字表述、图表模型及数据编排的著作权归作者所有，受《著作权法》及《伯尔尼公约》保护；该等约定不排除法律强制性规定之适用；作者保留git提交历史等创作底稿作为权属佐证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5. 未经作者书面授权，任何单位或个人不得以复制、转载、摘编、翻译、改编、汇编、镜像、上传、下载、商业演示等任何方式利用本PPT；该等约定不排除法律强制性规定之适用；作者更新或撤回通知自发布之日起生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6. 经授权使用的，须保持内容完整、标注来源，不得删除或遮盖水印、页眉、页脚及权利标识；授权范围以书面许可载明为限；作者保留git提交历史等创作底稿作为权属佐证；作者更新或撤回通知自发布之日起生效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7. 本PPT引用的第三方商标与模型名称（GPT-5.6、Gemini、Qwen3.8、GLM-5.3、DeepSeek、Kimi等）归各自权利人所有，仅为说明目的合理使用；水印系《电子签名法》项下可靠电子签名，具识别签署人法律效力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8. 侵权者须承担停止侵害、消除影响、赔礼道歉、赔偿损失等民事责任，赔偿范围包括作者维权支出的公证费、律师费、调查取证费；该等约定不排除法律强制性规定之适用；本声明准据法确定排除冲突规范之适用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【三、内容性质与前瞻声明】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9. 本PPT为基于截至2026年8月公开信息的前瞻性研究与合理推演，仅供技术交流与学习参考，**不构成投资建议、商业承诺或法律保证**；作者更新或撤回通知自发布之日起生效；本声明准据法确定排除冲突规范之适用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10. 文中技术参数、市场规模、时间节点均为理论推演，受技术突破、政策调整、市场环境等不确定因素影响，实际结果可能发生重大偏离；涉及个人信息处理的，同时遵守《个人信息保护法》第二十八条至第三十二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11. 涉及2031-2035年的预测内容仅为参考依据，不代表任何确定性承诺，作者不承担因依赖该等内容作出的任何决策后果；该等约定不排除法律强制性规定之适用；举证责任依《民事诉讼法》及相关司法解释分配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【四、数据合规与准确性】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12. 本PPT数据来源于各厂商官方发布、Gartner/IDC/Statista等权威机构公开报告及国家标准文本，作者已尽审慎核实义务；作者保留git提交历史等创作底稿作为权属佐证；本声明准据法确定排除冲突规范之适用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13. 作者不对数据的准确性、完整性、时效性作任何明示或默示保证，实际数据以官方发布为准，作者不承担数据更新义务；举证责任依《民事诉讼法》及相关司法解释分配；作者更新或撤回通知自发布之日起生效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14. 本PPT不含国家秘密、商业秘密及他人个人信息；如涉个人信息，均已依法取得单独同意或完成去标识化处理；该等约定不排除法律强制性规定之适用；本条效力独立于本声明其他条款，部分无效不影响其余条款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【五、AI生成内容声明】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15. 本PPT部分文字由生成式AI辅助整理，作者已进行人工审核与事实核查，依《生成式人工智能服务管理暂行办法》承担相应义务；举证责任依《民事诉讼法》及相关司法解释分配；本声明准据法确定排除冲突规范之适用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16. AI辅助内容可能存在幻觉或偏差，关键数据请以原始出处为准，作者对AI生成部分的瑕疵不承担超出法律强制规定的责任；该等约定不排除法律强制性规定之适用；接收方保密义务持续至相关信息进入公有领域之日止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【六、责任限制】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17. 在法律允许的最大范围内，作者对因使用或依赖本PPT产生的任何直接、间接、附带、惩罚性损失均不承担责任；该等约定不排除法律强制性规定之适用；本条与《民法典》第四百九十六条格式条款规则衔接适用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18. **在任何情况下，作者对使用者的最高赔偿额不超过人民币零元整（CNY 0.00）**，本条为双方风险分配之基础；该等约定不排除法律强制性规定之适用；电子数据存证依《电子签名法》及司法解释固定与核验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19. 本条责任限制具有独立法律效力，不因合同目的落空等情形而失效；涉及个人信息处理的，同时遵守《个人信息保护法》第二十八条至第三十二条；跨境提供数据的，依法通过安全评估或订立标准合同或取得认证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【七、保密与传播控制】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20. 本PPT标注水印版本为受控分发版本，接收方负有保密义务，不得向无关第三方披露、传播或允许其接触；该等约定不排除法律强制性规定之适用；跨境提供数据的，依法通过安全评估或订立标准合同或取得认证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21. 任何去除、遮盖、伪造水印的行为均属故意侵权，作者有权主张惩罚性赔偿并追究行政、刑事责任；本条与《民法典》第四百九十六条格式条款规则衔接适用；接收方保密义务持续至相关信息进入公有领域之日止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【八、权利保留与条款效力】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22. 作者保留随时更新、修改、撤回本PPT及本声明的权利，无需事先通知；更新版本自发布之日起替代旧版本；举证责任依《民事诉讼法》及相关司法解释分配；接收方保密义务持续至相关信息进入公有领域之日止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23. 本声明任何条款被认定无效或不可执行的，不影响其余条款效力，其余条款继续完全有效（可分割性条款）；作者保留git提交历史等创作底稿作为权属佐证；接收方保密义务持续至相关信息进入公有领域之日止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24. 本声明构成作者与使用者之间就本PPT使用的完整协议，取代此前任何口头或书面约定（完整协议条款）；举证责任依《民事诉讼法》及相关司法解释分配；电子数据存证依《电子签名法》及司法解释固定与核验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【九、适用法律与争议解决】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25. 本声明的订立、效力、解释、履行及争议解决均适用中华人民共和国法律；本条与《民法典》第四百九十六条格式条款规则衔接适用；涉及个人信息处理的，同时遵守《个人信息保护法》第二十八条至第三十二条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26. 因本PPT产生的争议，双方应先行协商；协商不成的，提交作者所在地有管辖权的人民法院诉讼解决；举证责任依《民事诉讼法》及相关司法解释分配；本条效力独立于本声明其他条款，部分无效不影响其余条款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© 2026 本PPT作者 · 版权所有 · 侵权必究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免责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【免责条款】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430000" cy="565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【一、风险免责总则】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1. **不承担法律责任**：任何因使用或依赖本PPT内容而产生的直接或间接损失，作者不承担任何法律责任；本条与《民法典》第四百九十六条格式条款规则衔接适用；作者保留git提交历史等创作底稿作为权属佐证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2. **自行评估风险**：使用者应结合自身情况独立评估风险并自主决策，作者不对任何决策结果负责；本条与《民法典》第四百九十六条格式条款规则衔接适用；接收方保密义务持续至相关信息进入公有领域之日止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3. **专业意见豁免**：本PPT内容不构成法律、投资、会计、税务等任何专业意见，重大事项应咨询持牌专业人士；该等约定不排除法律强制性规定之适用；本条与《民法典》第四百九十六条格式条款规则衔接适用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【二、技术不确定性免责】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4. **前沿技术风险**：量子AI、神经形态计算（Neuromorphic）、脑机接口、AGI等处于研究或早期发展阶段，商业化存在重大不确定性；涉及个人信息处理的，同时遵守《个人信息保护法》第二十八条至第三十二条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5. **进度不确定性**：技术演进可能因算力、能源、算法瓶颈滞后于预测，作者不对时间节点的实现作任何保证；该等约定不排除法律强制性规定之适用；本条效力独立于本声明其他条款，部分无效不影响其余条款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6. **路线突变风险**：技术路线可能被颠覆性创新重置，既有预测模型随之失效，使用者应动态跟踪自行判断；举证责任依《民事诉讼法》及相关司法解释分配；接收方保密义务持续至相关信息进入公有领域之日止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【三、商业价值声明】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7. **价值预估说明**：商业价值预估为基于当前市场环境的理论测算，实际取决于技术突破、市场接受度、竞争格局、政策环境等因素；该等约定不排除法律强制性规定之适用；作者更新或撤回通知自发布之日起生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8. **投资风险提示**：商业价值预估**不构成任何投资回报承诺**；投资有风险，决策需谨慎，据此操作损失自担；该等约定不排除法律强制性规定之适用；格式条款提示说明义务依《民法典》第四百九十六条履行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【四、数据来源与第三方免责】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9. 大模型信息：OpenAI、Google、Anthropic、阿里巴巴、智谱AI、DeepSeek、月之暗面等厂商官方发布；该等约定不排除法律强制性规定之适用；跨境提供数据的，依法通过安全评估或订立标准合同或取得认证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10. 量子计算信息：IBM Quantum、Google Quantum AI、中科院量子信息研究进展；脑机接口：Neuralink、Kernel、Meta Reality Labs技术路线；本条效力独立于本声明其他条款，部分无效不影响其余条款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11. 市场数据：Gartner、IDC、Statista、CB Insights等机构报告；标准框架：ISO/IEC、NIST、OWASP、CSA等组织规范；该等约定不排除法律强制性规定之适用；作者保留git提交历史等创作底稿作为权属佐证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12. 上述第三方名称与数据仅为来源标注，相关权利归各自权利人，第三方不对本PPT的引用方式承担任何责任；电子数据存证依《电子签名法》及司法解释固定与核验；作者保留git提交历史等创作底稿作为权属佐证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【五、重要风险提示】⚠️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技术风险：AI发展存在不确定性，实际进度可能滞后于预测；涉及个人信息处理的，同时遵守《个人信息保护法》第二十八条至第三十二条；AI辅助生成部分依《生成式人工智能服务管理暂行办法》承担义务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市场风险：接受度与竞争格局变化可能使商业化不及预期；该等约定不排除法律强制性规定之适用；举证责任依《民事诉讼法》及相关司法解释分配；跨境提供数据的，依法通过安全评估或订立标准合同或取得认证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监管风险：各国AI监管政策可能对技术方向与应用场景产生重大影响；涉及个人信息处理的，同时遵守《个人信息保护法》第二十八条至第三十二条；跨境提供数据的，依法通过安全评估或订立标准合同或取得认证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人才风险：高端人才短缺可能限制研发与商业化速度；该等约定不排除法律强制性规定之适用；本条与《民法典》第四百九十六条格式条款规则衔接适用；本条效力独立于本声明其他条款，部分无效不影响其余条款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知识产权风险：专利布局与开源协议变化可能影响商业化路径；涉及个人信息处理的，同时遵守《个人信息保护法》第二十八条至第三十二条；水印系《电子签名法》项下可靠电子签名，具识别签署人法律效力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政策风险：宏观经济与产业政策调整可能影响市场环境；该等约定不排除法律强制性规定之适用；举证责任依《民事诉讼法》及相关司法解释分配；水印系《电子签名法》项下可靠电子签名，具识别签署人法律效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竞争风险：行业竞争加剧可能影响市场份额与盈利能力；该等约定不排除法律强制性规定之适用；本条与《民法典》第四百九十六条格式条款规则衔接适用；格式条款提示说明义务依《民法典》第四百九十六条履行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合规风险：须持续符合《个人信息保护法》《数据安全法》《出口管制法》等境内外合规要求；该等约定不排除法律强制性规定之适用；涉及个人信息处理的，同时遵守《个人信息保护法》第二十八条至第三十二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【六、不可抗力】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13. 因自然灾害、战争、制裁、断供、网络攻击、重大疫情等不可抗力致内容失效或履行不能的，作者免责；格式条款提示说明义务依《民法典》第四百九十六条履行；作者保留git提交历史等创作底稿作为权属佐证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【七、水印保护声明】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14. 本PPT包含水印，任何去除水印的行为均属侵权；发现侵权线索的，作者将依法维权并追偿全部损失；举证责任依《民事诉讼法》及相关司法解释分配；本条效力独立于本声明其他条款，部分无效不影响其余条款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【八、通知与送达】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15. 使用者以获取本PPT时提供的联系方式为有效送达地址，作者发出的更新、撤回通知自发送之日视为送达；举证责任依《民事诉讼法》及相关司法解释分配；电子数据存证依《电子签名法》及司法解释固定与核验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【九、解释权】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16. 本声明及免责条款的最终解释权归作者所有，解释不得违反法律强制性规定；涉及个人信息处理的，同时遵守《个人信息保护法》第二十八条至第三十二条；电子数据存证依《电子签名法》及司法解释固定与核验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© 2026 本PPT作者 · 侵权必究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1" name="TextBox 60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62" name="TextBox 61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63" name="TextBox 62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4" name="TextBox 63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5" name="TextBox 124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6" name="TextBox 125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7" name="TextBox 126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8" name="TextBox 127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E5FA8"/>
                </a:solidFill>
                <a:latin typeface="微软雅黑"/>
              </a:rP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8D0DC"/>
                </a:solidFill>
                <a:latin typeface="微软雅黑"/>
              </a:rPr>
              <a:t>A2A协议与AI智能体生态 · 2026年8月29日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  <p:sp>
        <p:nvSpPr>
          <p:cNvPr id="5" name="TextBox 4"/>
          <p:cNvSpPr txBox="1"/>
          <p:nvPr/>
        </p:nvSpPr>
        <p:spPr>
          <a:xfrm rot="19800000">
            <a:off x="-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" name="TextBox 5"/>
          <p:cNvSpPr txBox="1"/>
          <p:nvPr/>
        </p:nvSpPr>
        <p:spPr>
          <a:xfrm rot="19800000">
            <a:off x="-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7" name="TextBox 6"/>
          <p:cNvSpPr txBox="1"/>
          <p:nvPr/>
        </p:nvSpPr>
        <p:spPr>
          <a:xfrm rot="19800000">
            <a:off x="-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8" name="TextBox 7"/>
          <p:cNvSpPr txBox="1"/>
          <p:nvPr/>
        </p:nvSpPr>
        <p:spPr>
          <a:xfrm rot="19800000">
            <a:off x="-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9" name="TextBox 8"/>
          <p:cNvSpPr txBox="1"/>
          <p:nvPr/>
        </p:nvSpPr>
        <p:spPr>
          <a:xfrm rot="19800000">
            <a:off x="-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0" name="TextBox 9"/>
          <p:cNvSpPr txBox="1"/>
          <p:nvPr/>
        </p:nvSpPr>
        <p:spPr>
          <a:xfrm rot="19800000">
            <a:off x="-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1" name="TextBox 10"/>
          <p:cNvSpPr txBox="1"/>
          <p:nvPr/>
        </p:nvSpPr>
        <p:spPr>
          <a:xfrm rot="19800000">
            <a:off x="-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-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3" name="TextBox 12"/>
          <p:cNvSpPr txBox="1"/>
          <p:nvPr/>
        </p:nvSpPr>
        <p:spPr>
          <a:xfrm rot="19800000">
            <a:off x="-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4" name="TextBox 13"/>
          <p:cNvSpPr txBox="1"/>
          <p:nvPr/>
        </p:nvSpPr>
        <p:spPr>
          <a:xfrm rot="19800000">
            <a:off x="-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5" name="TextBox 14"/>
          <p:cNvSpPr txBox="1"/>
          <p:nvPr/>
        </p:nvSpPr>
        <p:spPr>
          <a:xfrm rot="19800000">
            <a:off x="-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16" name="TextBox 15"/>
          <p:cNvSpPr txBox="1"/>
          <p:nvPr/>
        </p:nvSpPr>
        <p:spPr>
          <a:xfrm rot="19800000">
            <a:off x="-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17" name="TextBox 16"/>
          <p:cNvSpPr txBox="1"/>
          <p:nvPr/>
        </p:nvSpPr>
        <p:spPr>
          <a:xfrm rot="19800000">
            <a:off x="-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18" name="TextBox 17"/>
          <p:cNvSpPr txBox="1"/>
          <p:nvPr/>
        </p:nvSpPr>
        <p:spPr>
          <a:xfrm rot="19800000">
            <a:off x="-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19" name="TextBox 18"/>
          <p:cNvSpPr txBox="1"/>
          <p:nvPr/>
        </p:nvSpPr>
        <p:spPr>
          <a:xfrm rot="19800000">
            <a:off x="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0" name="TextBox 19"/>
          <p:cNvSpPr txBox="1"/>
          <p:nvPr/>
        </p:nvSpPr>
        <p:spPr>
          <a:xfrm rot="19800000">
            <a:off x="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1" name="TextBox 20"/>
          <p:cNvSpPr txBox="1"/>
          <p:nvPr/>
        </p:nvSpPr>
        <p:spPr>
          <a:xfrm rot="19800000">
            <a:off x="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2" name="TextBox 21"/>
          <p:cNvSpPr txBox="1"/>
          <p:nvPr/>
        </p:nvSpPr>
        <p:spPr>
          <a:xfrm rot="19800000">
            <a:off x="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3" name="TextBox 22"/>
          <p:cNvSpPr txBox="1"/>
          <p:nvPr/>
        </p:nvSpPr>
        <p:spPr>
          <a:xfrm rot="19800000">
            <a:off x="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24" name="TextBox 23"/>
          <p:cNvSpPr txBox="1"/>
          <p:nvPr/>
        </p:nvSpPr>
        <p:spPr>
          <a:xfrm rot="19800000">
            <a:off x="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5" name="TextBox 24"/>
          <p:cNvSpPr txBox="1"/>
          <p:nvPr/>
        </p:nvSpPr>
        <p:spPr>
          <a:xfrm rot="19800000">
            <a:off x="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6" name="TextBox 25"/>
          <p:cNvSpPr txBox="1"/>
          <p:nvPr/>
        </p:nvSpPr>
        <p:spPr>
          <a:xfrm rot="19800000">
            <a:off x="292608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27" name="TextBox 26"/>
          <p:cNvSpPr txBox="1"/>
          <p:nvPr/>
        </p:nvSpPr>
        <p:spPr>
          <a:xfrm rot="19800000">
            <a:off x="292608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28" name="TextBox 27"/>
          <p:cNvSpPr txBox="1"/>
          <p:nvPr/>
        </p:nvSpPr>
        <p:spPr>
          <a:xfrm rot="19800000">
            <a:off x="292608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29" name="TextBox 28"/>
          <p:cNvSpPr txBox="1"/>
          <p:nvPr/>
        </p:nvSpPr>
        <p:spPr>
          <a:xfrm rot="19800000">
            <a:off x="292608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292608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1" name="TextBox 30"/>
          <p:cNvSpPr txBox="1"/>
          <p:nvPr/>
        </p:nvSpPr>
        <p:spPr>
          <a:xfrm rot="19800000">
            <a:off x="292608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2" name="TextBox 31"/>
          <p:cNvSpPr txBox="1"/>
          <p:nvPr/>
        </p:nvSpPr>
        <p:spPr>
          <a:xfrm rot="19800000">
            <a:off x="292608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3" name="TextBox 32"/>
          <p:cNvSpPr txBox="1"/>
          <p:nvPr/>
        </p:nvSpPr>
        <p:spPr>
          <a:xfrm rot="19800000">
            <a:off x="585216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4" name="TextBox 33"/>
          <p:cNvSpPr txBox="1"/>
          <p:nvPr/>
        </p:nvSpPr>
        <p:spPr>
          <a:xfrm rot="19800000">
            <a:off x="585216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5" name="TextBox 34"/>
          <p:cNvSpPr txBox="1"/>
          <p:nvPr/>
        </p:nvSpPr>
        <p:spPr>
          <a:xfrm rot="19800000">
            <a:off x="585216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36" name="TextBox 35"/>
          <p:cNvSpPr txBox="1"/>
          <p:nvPr/>
        </p:nvSpPr>
        <p:spPr>
          <a:xfrm rot="19800000">
            <a:off x="585216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37" name="TextBox 36"/>
          <p:cNvSpPr txBox="1"/>
          <p:nvPr/>
        </p:nvSpPr>
        <p:spPr>
          <a:xfrm rot="19800000">
            <a:off x="58521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38" name="TextBox 37"/>
          <p:cNvSpPr txBox="1"/>
          <p:nvPr/>
        </p:nvSpPr>
        <p:spPr>
          <a:xfrm rot="19800000">
            <a:off x="585216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39" name="TextBox 38"/>
          <p:cNvSpPr txBox="1"/>
          <p:nvPr/>
        </p:nvSpPr>
        <p:spPr>
          <a:xfrm rot="19800000">
            <a:off x="585216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0" name="TextBox 39"/>
          <p:cNvSpPr txBox="1"/>
          <p:nvPr/>
        </p:nvSpPr>
        <p:spPr>
          <a:xfrm rot="19800000">
            <a:off x="877824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1" name="TextBox 40"/>
          <p:cNvSpPr txBox="1"/>
          <p:nvPr/>
        </p:nvSpPr>
        <p:spPr>
          <a:xfrm rot="19800000">
            <a:off x="877824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2" name="TextBox 41"/>
          <p:cNvSpPr txBox="1"/>
          <p:nvPr/>
        </p:nvSpPr>
        <p:spPr>
          <a:xfrm rot="19800000">
            <a:off x="877824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3" name="TextBox 42"/>
          <p:cNvSpPr txBox="1"/>
          <p:nvPr/>
        </p:nvSpPr>
        <p:spPr>
          <a:xfrm rot="19800000">
            <a:off x="877824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44" name="TextBox 43"/>
          <p:cNvSpPr txBox="1"/>
          <p:nvPr/>
        </p:nvSpPr>
        <p:spPr>
          <a:xfrm rot="19800000">
            <a:off x="877824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45" name="TextBox 44"/>
          <p:cNvSpPr txBox="1"/>
          <p:nvPr/>
        </p:nvSpPr>
        <p:spPr>
          <a:xfrm rot="19800000">
            <a:off x="877824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6" name="TextBox 45"/>
          <p:cNvSpPr txBox="1"/>
          <p:nvPr/>
        </p:nvSpPr>
        <p:spPr>
          <a:xfrm rot="19800000">
            <a:off x="877824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7" name="TextBox 46"/>
          <p:cNvSpPr txBox="1"/>
          <p:nvPr/>
        </p:nvSpPr>
        <p:spPr>
          <a:xfrm rot="19800000">
            <a:off x="1170432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48" name="TextBox 47"/>
          <p:cNvSpPr txBox="1"/>
          <p:nvPr/>
        </p:nvSpPr>
        <p:spPr>
          <a:xfrm rot="19800000">
            <a:off x="1170432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49" name="TextBox 48"/>
          <p:cNvSpPr txBox="1"/>
          <p:nvPr/>
        </p:nvSpPr>
        <p:spPr>
          <a:xfrm rot="19800000">
            <a:off x="1170432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0" name="TextBox 49"/>
          <p:cNvSpPr txBox="1"/>
          <p:nvPr/>
        </p:nvSpPr>
        <p:spPr>
          <a:xfrm rot="19800000">
            <a:off x="1170432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1" name="TextBox 50"/>
          <p:cNvSpPr txBox="1"/>
          <p:nvPr/>
        </p:nvSpPr>
        <p:spPr>
          <a:xfrm rot="19800000">
            <a:off x="117043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2" name="TextBox 51"/>
          <p:cNvSpPr txBox="1"/>
          <p:nvPr/>
        </p:nvSpPr>
        <p:spPr>
          <a:xfrm rot="19800000">
            <a:off x="1170432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3" name="TextBox 52"/>
          <p:cNvSpPr txBox="1"/>
          <p:nvPr/>
        </p:nvSpPr>
        <p:spPr>
          <a:xfrm rot="19800000">
            <a:off x="1170432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4" name="TextBox 53"/>
          <p:cNvSpPr txBox="1"/>
          <p:nvPr/>
        </p:nvSpPr>
        <p:spPr>
          <a:xfrm rot="19800000">
            <a:off x="14630400" y="-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5" name="TextBox 54"/>
          <p:cNvSpPr txBox="1"/>
          <p:nvPr/>
        </p:nvSpPr>
        <p:spPr>
          <a:xfrm rot="19800000">
            <a:off x="14630400" y="-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56" name="TextBox 55"/>
          <p:cNvSpPr txBox="1"/>
          <p:nvPr/>
        </p:nvSpPr>
        <p:spPr>
          <a:xfrm rot="19800000">
            <a:off x="14630400" y="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57" name="TextBox 56"/>
          <p:cNvSpPr txBox="1"/>
          <p:nvPr/>
        </p:nvSpPr>
        <p:spPr>
          <a:xfrm rot="19800000">
            <a:off x="14630400" y="2286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具身智能AI产业汇报 20260829</a:t>
            </a:r>
          </a:p>
        </p:txBody>
      </p:sp>
      <p:sp>
        <p:nvSpPr>
          <p:cNvPr id="58" name="TextBox 57"/>
          <p:cNvSpPr txBox="1"/>
          <p:nvPr/>
        </p:nvSpPr>
        <p:spPr>
          <a:xfrm rot="19800000">
            <a:off x="146304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CONFIDENTIAL 20260829</a:t>
            </a:r>
          </a:p>
        </p:txBody>
      </p:sp>
      <p:sp>
        <p:nvSpPr>
          <p:cNvPr id="59" name="TextBox 58"/>
          <p:cNvSpPr txBox="1"/>
          <p:nvPr/>
        </p:nvSpPr>
        <p:spPr>
          <a:xfrm rot="19800000">
            <a:off x="14630400" y="6858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机密文档 请勿传播 20260829</a:t>
            </a:r>
          </a:p>
        </p:txBody>
      </p:sp>
      <p:sp>
        <p:nvSpPr>
          <p:cNvPr id="60" name="TextBox 59"/>
          <p:cNvSpPr txBox="1"/>
          <p:nvPr/>
        </p:nvSpPr>
        <p:spPr>
          <a:xfrm rot="19800000">
            <a:off x="14630400" y="9144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05070">
                    <a:alpha val="8000"/>
                  </a:srgbClr>
                </a:solidFill>
                <a:latin typeface="微软雅黑"/>
              </a:rPr>
              <a:t>内部资料 版权所有 20260829</a:t>
            </a:r>
          </a:p>
        </p:txBody>
      </p:sp>
      <p:sp>
        <p:nvSpPr>
          <p:cNvPr id="61" name="TextBox 60"/>
          <p:cNvSpPr txBox="1"/>
          <p:nvPr/>
        </p:nvSpPr>
        <p:spPr>
          <a:xfrm rot="1500000">
            <a:off x="-2286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2" name="TextBox 61"/>
          <p:cNvSpPr txBox="1"/>
          <p:nvPr/>
        </p:nvSpPr>
        <p:spPr>
          <a:xfrm rot="1500000">
            <a:off x="-2286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3" name="TextBox 62"/>
          <p:cNvSpPr txBox="1"/>
          <p:nvPr/>
        </p:nvSpPr>
        <p:spPr>
          <a:xfrm rot="1500000">
            <a:off x="-2286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4" name="TextBox 63"/>
          <p:cNvSpPr txBox="1"/>
          <p:nvPr/>
        </p:nvSpPr>
        <p:spPr>
          <a:xfrm rot="1500000">
            <a:off x="-2286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5" name="TextBox 64"/>
          <p:cNvSpPr txBox="1"/>
          <p:nvPr/>
        </p:nvSpPr>
        <p:spPr>
          <a:xfrm rot="1500000">
            <a:off x="-2286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6" name="TextBox 65"/>
          <p:cNvSpPr txBox="1"/>
          <p:nvPr/>
        </p:nvSpPr>
        <p:spPr>
          <a:xfrm rot="1500000">
            <a:off x="-2286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7" name="TextBox 66"/>
          <p:cNvSpPr txBox="1"/>
          <p:nvPr/>
        </p:nvSpPr>
        <p:spPr>
          <a:xfrm rot="1500000">
            <a:off x="-2286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68" name="TextBox 67"/>
          <p:cNvSpPr txBox="1"/>
          <p:nvPr/>
        </p:nvSpPr>
        <p:spPr>
          <a:xfrm rot="1500000">
            <a:off x="-2286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69" name="TextBox 68"/>
          <p:cNvSpPr txBox="1"/>
          <p:nvPr/>
        </p:nvSpPr>
        <p:spPr>
          <a:xfrm rot="1500000">
            <a:off x="-457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0" name="TextBox 69"/>
          <p:cNvSpPr txBox="1"/>
          <p:nvPr/>
        </p:nvSpPr>
        <p:spPr>
          <a:xfrm rot="1500000">
            <a:off x="-457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1" name="TextBox 70"/>
          <p:cNvSpPr txBox="1"/>
          <p:nvPr/>
        </p:nvSpPr>
        <p:spPr>
          <a:xfrm rot="1500000">
            <a:off x="-457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2" name="TextBox 71"/>
          <p:cNvSpPr txBox="1"/>
          <p:nvPr/>
        </p:nvSpPr>
        <p:spPr>
          <a:xfrm rot="1500000">
            <a:off x="-457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3" name="TextBox 72"/>
          <p:cNvSpPr txBox="1"/>
          <p:nvPr/>
        </p:nvSpPr>
        <p:spPr>
          <a:xfrm rot="1500000">
            <a:off x="-457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4" name="TextBox 73"/>
          <p:cNvSpPr txBox="1"/>
          <p:nvPr/>
        </p:nvSpPr>
        <p:spPr>
          <a:xfrm rot="1500000">
            <a:off x="-457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5" name="TextBox 74"/>
          <p:cNvSpPr txBox="1"/>
          <p:nvPr/>
        </p:nvSpPr>
        <p:spPr>
          <a:xfrm rot="1500000">
            <a:off x="-457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76" name="TextBox 75"/>
          <p:cNvSpPr txBox="1"/>
          <p:nvPr/>
        </p:nvSpPr>
        <p:spPr>
          <a:xfrm rot="1500000">
            <a:off x="-457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77" name="TextBox 76"/>
          <p:cNvSpPr txBox="1"/>
          <p:nvPr/>
        </p:nvSpPr>
        <p:spPr>
          <a:xfrm rot="1500000">
            <a:off x="1371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78" name="TextBox 77"/>
          <p:cNvSpPr txBox="1"/>
          <p:nvPr/>
        </p:nvSpPr>
        <p:spPr>
          <a:xfrm rot="1500000">
            <a:off x="1371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79" name="TextBox 78"/>
          <p:cNvSpPr txBox="1"/>
          <p:nvPr/>
        </p:nvSpPr>
        <p:spPr>
          <a:xfrm rot="1500000">
            <a:off x="1371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0" name="TextBox 79"/>
          <p:cNvSpPr txBox="1"/>
          <p:nvPr/>
        </p:nvSpPr>
        <p:spPr>
          <a:xfrm rot="1500000">
            <a:off x="1371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1" name="TextBox 80"/>
          <p:cNvSpPr txBox="1"/>
          <p:nvPr/>
        </p:nvSpPr>
        <p:spPr>
          <a:xfrm rot="1500000">
            <a:off x="1371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2" name="TextBox 81"/>
          <p:cNvSpPr txBox="1"/>
          <p:nvPr/>
        </p:nvSpPr>
        <p:spPr>
          <a:xfrm rot="1500000">
            <a:off x="1371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3" name="TextBox 82"/>
          <p:cNvSpPr txBox="1"/>
          <p:nvPr/>
        </p:nvSpPr>
        <p:spPr>
          <a:xfrm rot="1500000">
            <a:off x="1371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84" name="TextBox 83"/>
          <p:cNvSpPr txBox="1"/>
          <p:nvPr/>
        </p:nvSpPr>
        <p:spPr>
          <a:xfrm rot="1500000">
            <a:off x="1371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85" name="TextBox 84"/>
          <p:cNvSpPr txBox="1"/>
          <p:nvPr/>
        </p:nvSpPr>
        <p:spPr>
          <a:xfrm rot="1500000">
            <a:off x="32004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6" name="TextBox 85"/>
          <p:cNvSpPr txBox="1"/>
          <p:nvPr/>
        </p:nvSpPr>
        <p:spPr>
          <a:xfrm rot="1500000">
            <a:off x="32004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7" name="TextBox 86"/>
          <p:cNvSpPr txBox="1"/>
          <p:nvPr/>
        </p:nvSpPr>
        <p:spPr>
          <a:xfrm rot="1500000"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88" name="TextBox 87"/>
          <p:cNvSpPr txBox="1"/>
          <p:nvPr/>
        </p:nvSpPr>
        <p:spPr>
          <a:xfrm rot="1500000">
            <a:off x="3200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89" name="TextBox 88"/>
          <p:cNvSpPr txBox="1"/>
          <p:nvPr/>
        </p:nvSpPr>
        <p:spPr>
          <a:xfrm rot="1500000">
            <a:off x="3200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0" name="TextBox 89"/>
          <p:cNvSpPr txBox="1"/>
          <p:nvPr/>
        </p:nvSpPr>
        <p:spPr>
          <a:xfrm rot="1500000">
            <a:off x="32004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1" name="TextBox 90"/>
          <p:cNvSpPr txBox="1"/>
          <p:nvPr/>
        </p:nvSpPr>
        <p:spPr>
          <a:xfrm rot="1500000">
            <a:off x="32004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92" name="TextBox 91"/>
          <p:cNvSpPr txBox="1"/>
          <p:nvPr/>
        </p:nvSpPr>
        <p:spPr>
          <a:xfrm rot="1500000">
            <a:off x="32004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93" name="TextBox 92"/>
          <p:cNvSpPr txBox="1"/>
          <p:nvPr/>
        </p:nvSpPr>
        <p:spPr>
          <a:xfrm rot="1500000">
            <a:off x="50292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4" name="TextBox 93"/>
          <p:cNvSpPr txBox="1"/>
          <p:nvPr/>
        </p:nvSpPr>
        <p:spPr>
          <a:xfrm rot="1500000">
            <a:off x="50292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5" name="TextBox 94"/>
          <p:cNvSpPr txBox="1"/>
          <p:nvPr/>
        </p:nvSpPr>
        <p:spPr>
          <a:xfrm rot="1500000">
            <a:off x="50292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6" name="TextBox 95"/>
          <p:cNvSpPr txBox="1"/>
          <p:nvPr/>
        </p:nvSpPr>
        <p:spPr>
          <a:xfrm rot="1500000">
            <a:off x="5029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7" name="TextBox 96"/>
          <p:cNvSpPr txBox="1"/>
          <p:nvPr/>
        </p:nvSpPr>
        <p:spPr>
          <a:xfrm rot="1500000">
            <a:off x="5029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98" name="TextBox 97"/>
          <p:cNvSpPr txBox="1"/>
          <p:nvPr/>
        </p:nvSpPr>
        <p:spPr>
          <a:xfrm rot="1500000">
            <a:off x="50292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99" name="TextBox 98"/>
          <p:cNvSpPr txBox="1"/>
          <p:nvPr/>
        </p:nvSpPr>
        <p:spPr>
          <a:xfrm rot="1500000">
            <a:off x="50292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00" name="TextBox 99"/>
          <p:cNvSpPr txBox="1"/>
          <p:nvPr/>
        </p:nvSpPr>
        <p:spPr>
          <a:xfrm rot="1500000">
            <a:off x="50292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01" name="TextBox 100"/>
          <p:cNvSpPr txBox="1"/>
          <p:nvPr/>
        </p:nvSpPr>
        <p:spPr>
          <a:xfrm rot="1500000">
            <a:off x="68580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2" name="TextBox 101"/>
          <p:cNvSpPr txBox="1"/>
          <p:nvPr/>
        </p:nvSpPr>
        <p:spPr>
          <a:xfrm rot="1500000">
            <a:off x="68580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3" name="TextBox 102"/>
          <p:cNvSpPr txBox="1"/>
          <p:nvPr/>
        </p:nvSpPr>
        <p:spPr>
          <a:xfrm rot="1500000">
            <a:off x="68580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4" name="TextBox 103"/>
          <p:cNvSpPr txBox="1"/>
          <p:nvPr/>
        </p:nvSpPr>
        <p:spPr>
          <a:xfrm rot="1500000">
            <a:off x="6858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5" name="TextBox 104"/>
          <p:cNvSpPr txBox="1"/>
          <p:nvPr/>
        </p:nvSpPr>
        <p:spPr>
          <a:xfrm rot="1500000">
            <a:off x="6858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6" name="TextBox 105"/>
          <p:cNvSpPr txBox="1"/>
          <p:nvPr/>
        </p:nvSpPr>
        <p:spPr>
          <a:xfrm rot="1500000">
            <a:off x="68580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7" name="TextBox 106"/>
          <p:cNvSpPr txBox="1"/>
          <p:nvPr/>
        </p:nvSpPr>
        <p:spPr>
          <a:xfrm rot="1500000">
            <a:off x="68580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08" name="TextBox 107"/>
          <p:cNvSpPr txBox="1"/>
          <p:nvPr/>
        </p:nvSpPr>
        <p:spPr>
          <a:xfrm rot="1500000">
            <a:off x="68580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09" name="TextBox 108"/>
          <p:cNvSpPr txBox="1"/>
          <p:nvPr/>
        </p:nvSpPr>
        <p:spPr>
          <a:xfrm rot="1500000">
            <a:off x="86868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0" name="TextBox 109"/>
          <p:cNvSpPr txBox="1"/>
          <p:nvPr/>
        </p:nvSpPr>
        <p:spPr>
          <a:xfrm rot="1500000">
            <a:off x="86868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1" name="TextBox 110"/>
          <p:cNvSpPr txBox="1"/>
          <p:nvPr/>
        </p:nvSpPr>
        <p:spPr>
          <a:xfrm rot="1500000">
            <a:off x="86868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2" name="TextBox 111"/>
          <p:cNvSpPr txBox="1"/>
          <p:nvPr/>
        </p:nvSpPr>
        <p:spPr>
          <a:xfrm rot="1500000">
            <a:off x="86868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3" name="TextBox 112"/>
          <p:cNvSpPr txBox="1"/>
          <p:nvPr/>
        </p:nvSpPr>
        <p:spPr>
          <a:xfrm rot="1500000">
            <a:off x="8686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4" name="TextBox 113"/>
          <p:cNvSpPr txBox="1"/>
          <p:nvPr/>
        </p:nvSpPr>
        <p:spPr>
          <a:xfrm rot="1500000">
            <a:off x="86868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5" name="TextBox 114"/>
          <p:cNvSpPr txBox="1"/>
          <p:nvPr/>
        </p:nvSpPr>
        <p:spPr>
          <a:xfrm rot="1500000">
            <a:off x="86868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CONFIDENTIAL 20260829</a:t>
            </a:r>
          </a:p>
        </p:txBody>
      </p:sp>
      <p:sp>
        <p:nvSpPr>
          <p:cNvPr id="116" name="TextBox 115"/>
          <p:cNvSpPr txBox="1"/>
          <p:nvPr/>
        </p:nvSpPr>
        <p:spPr>
          <a:xfrm rot="1500000">
            <a:off x="86868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内部资料 版权所有 20260829</a:t>
            </a:r>
          </a:p>
        </p:txBody>
      </p:sp>
      <p:sp>
        <p:nvSpPr>
          <p:cNvPr id="117" name="TextBox 116"/>
          <p:cNvSpPr txBox="1"/>
          <p:nvPr/>
        </p:nvSpPr>
        <p:spPr>
          <a:xfrm rot="1500000">
            <a:off x="10515600" y="-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18" name="TextBox 117"/>
          <p:cNvSpPr txBox="1"/>
          <p:nvPr/>
        </p:nvSpPr>
        <p:spPr>
          <a:xfrm rot="1500000">
            <a:off x="10515600" y="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19" name="TextBox 118"/>
          <p:cNvSpPr txBox="1"/>
          <p:nvPr/>
        </p:nvSpPr>
        <p:spPr>
          <a:xfrm rot="1500000">
            <a:off x="10515600" y="1645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0" name="TextBox 119"/>
          <p:cNvSpPr txBox="1"/>
          <p:nvPr/>
        </p:nvSpPr>
        <p:spPr>
          <a:xfrm rot="1500000">
            <a:off x="10515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1" name="TextBox 120"/>
          <p:cNvSpPr txBox="1"/>
          <p:nvPr/>
        </p:nvSpPr>
        <p:spPr>
          <a:xfrm rot="1500000">
            <a:off x="105156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2" name="TextBox 121"/>
          <p:cNvSpPr txBox="1"/>
          <p:nvPr/>
        </p:nvSpPr>
        <p:spPr>
          <a:xfrm rot="1500000">
            <a:off x="10515600" y="6583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  <p:sp>
        <p:nvSpPr>
          <p:cNvPr id="123" name="TextBox 122"/>
          <p:cNvSpPr txBox="1"/>
          <p:nvPr/>
        </p:nvSpPr>
        <p:spPr>
          <a:xfrm rot="1500000">
            <a:off x="10515600" y="8229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机密文档 请勿传播 20260829</a:t>
            </a:r>
          </a:p>
        </p:txBody>
      </p:sp>
      <p:sp>
        <p:nvSpPr>
          <p:cNvPr id="124" name="TextBox 123"/>
          <p:cNvSpPr txBox="1"/>
          <p:nvPr/>
        </p:nvSpPr>
        <p:spPr>
          <a:xfrm rot="1500000">
            <a:off x="10515600" y="9875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06080">
                    <a:alpha val="6000"/>
                  </a:srgbClr>
                </a:solidFill>
                <a:latin typeface="宋体"/>
              </a:rPr>
              <a:t>具身智能AI产业汇报 20260829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